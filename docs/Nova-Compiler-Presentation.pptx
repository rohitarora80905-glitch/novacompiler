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233"/>
                </a:solidFill>
                <a:latin typeface="Calibri"/>
              </a:defRPr>
            </a:pPr>
            <a:r>
              <a:rPr sz="1200" b="0" i="0" u="none" strike="noStrike">
                <a:solidFill>
                  <a:srgbClr val="0F2233"/>
                </a:solidFill>
                <a:latin typeface="Calibri"/>
              </a:rPr>
              <a:t>Table size for the Nova grammar</a:t>
            </a:r>
          </a:p>
        </c:rich>
      </c:tx>
      <c:layout/>
      <c:overlay val="0"/>
    </c:title>
    <c:autoTitleDeleted val="0"/>
    <c:plotArea>
      <c:layout/>
      <c:barChart>
        <c:barDir val="col"/>
        <c:grouping val="clustered"/>
        <c:varyColors val="0"/>
        <c:ser>
          <c:idx val="0"/>
          <c:order val="0"/>
          <c:tx>
            <c:strRef>
              <c:f>Sheet1!$B$1</c:f>
              <c:strCache>
                <c:ptCount val="1"/>
                <c:pt idx="0">
                  <c:v>States in the parse table</c:v>
                </c:pt>
              </c:strCache>
            </c:strRef>
          </c:tx>
          <c:spPr>
            <a:solidFill>
              <a:srgbClr val="C4622D"/>
            </a:solidFill>
            <a:effectLst/>
          </c:spPr>
          <c:invertIfNegative val="0"/>
          <c:dLbls>
            <c:numFmt formatCode="#,##0" sourceLinked="0"/>
            <c:txPr>
              <a:bodyPr/>
              <a:lstStyle/>
              <a:p>
                <a:pPr>
                  <a:defRPr b="0" i="0" strike="noStrike" sz="1200" u="none">
                    <a:solidFill>
                      <a:srgbClr val="0F22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4622D"/>
              </a:solidFill>
              <a:effectLst/>
            </c:spPr>
          </c:dPt>
          <c:dPt>
            <c:idx val="1"/>
            <c:invertIfNegative val="0"/>
            <c:bubble3D val="0"/>
            <c:spPr>
              <a:solidFill>
                <a:srgbClr val="8A98A2"/>
              </a:solidFill>
              <a:effectLst/>
            </c:spPr>
          </c:dPt>
          <c:dPt>
            <c:idx val="2"/>
            <c:invertIfNegative val="0"/>
            <c:bubble3D val="0"/>
            <c:spPr>
              <a:solidFill>
                <a:srgbClr val="0E7C66"/>
              </a:solidFill>
              <a:effectLst/>
            </c:spPr>
          </c:dPt>
          <c:cat>
            <c:multiLvlStrRef>
              <c:f>Sheet1!$A$2:$A$4</c:f>
              <c:multiLvlStrCache>
                <c:ptCount val="3"/>
                <c:lvl>
                  <c:pt idx="0">
                    <c:v>SLR</c:v>
                  </c:pt>
                  <c:pt idx="1">
                    <c:v>CLR</c:v>
                  </c:pt>
                  <c:pt idx="2">
                    <c:v>LALR</c:v>
                  </c:pt>
                </c:lvl>
              </c:multiLvlStrCache>
            </c:multiLvlStrRef>
          </c:cat>
          <c:val>
            <c:numRef>
              <c:f>Sheet1!$B$2:$B$4</c:f>
              <c:numCache>
                <c:formatCode>General</c:formatCode>
                <c:ptCount val="3"/>
                <c:pt idx="0">
                  <c:v>116</c:v>
                </c:pt>
                <c:pt idx="1">
                  <c:v>478</c:v>
                </c:pt>
                <c:pt idx="2">
                  <c:v>116</c:v>
                </c:pt>
              </c:numCache>
            </c:numRef>
          </c:val>
        </c:ser>
        <c:dLbls>
          <c:numFmt formatCode="#,##0" sourceLinked="0"/>
          <c:txPr>
            <a:bodyPr/>
            <a:lstStyle/>
            <a:p>
              <a:pPr>
                <a:defRPr b="0" i="0" strike="noStrike" sz="1200" u="none">
                  <a:solidFill>
                    <a:srgbClr val="0F2233"/>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B7A"/>
                </a:solidFill>
                <a:latin typeface="Arial"/>
              </a:defRPr>
            </a:pPr>
            <a:endParaRPr lang="en-US"/>
          </a:p>
        </c:txPr>
        <c:crossAx val="2094734552"/>
        <c:crosses val="autoZero"/>
        <c:auto val="1"/>
        <c:lblAlgn val="ctr"/>
        <c:noMultiLvlLbl val="1"/>
      </c:catAx>
      <c:valAx>
        <c:axId val="2094734552"/>
        <c:scaling>
          <c:orientation val="minMax"/>
          <c:max val="560"/>
        </c:scaling>
        <c:delete val="0"/>
        <c:axPos val="l"/>
        <c:majorGridlines>
          <c:spPr>
            <a:ln w="12700" cap="flat">
              <a:solidFill>
                <a:srgbClr val="E2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one-sentence idea: a compiler is usually a black box - source goes in, a program comes out, and everything in between is invisible. Nova does the same job but keeps every intermediate form and shows it. Mention the three constraints we set ourselves: pure Python, no parser generator, nothing installed. Everything on the right of this slide is a real artefact the tool will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slide. The point to land: we did not build a viewer that draws a picture of a DFA; we built a compiler that runs on a DFA and then shows you the one it is actually running on. If the display and the behaviour could ever disagree, the display would be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row then bottom row, one sentence each - the detail comes in the next eight slides. The two things worth flagging now: phase 2 runs two independent parsers on the same grammar so they can check each other, and phase 8 is the one no textbook pipeline has - we verify our own output before we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program once, and say clearly: every slide after this one is about this exact program. The syntax is intentionally unlike C - a rule we set so we could not lean on anything familiar and had to write the grammar ourselves. If someone asks why 'end' instead of braces: it makes the grammar LALR-friendly and it makes error recovery much easier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to make loudly: Python's own regular-expression library is never imported. We parse the regular expressions ourselves, build the syntax tree, compute nullable / firstpos / lastpos / followpos, and construct the DFA directly by subset construction over positions - the method from Module 1, not a library call. If asked why 92 states for 41 patterns: the keywords share prefixes, so the automaton is far smaller than 41 separate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First, the comparison is the whole lesson of Module 2 made concrete - CLR blows up to 478 states and buys nothing on this grammar. Second, we did not choose between top-down and bottom-up; we implemented both, on one grammar, and use each to check the other. The parse animation in the viewer shows stack, symbols, remaining input and action for all 297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we understand conflicts rather than just avoid them. Demonstrate live if there is time: the viewer prints the state number, the lookahead, and a sentence in English explaining what the parser could not decide. Mention that our own grammar is left-recursive on purpose - left recursion gives natural left associativity, and it is precisely what a bottom-up parser handles and a top-down one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arrows and nothing else - that is the whole idea of an SDD. Inherited attributes are what the context tells the node (which scope you are in, how deep, what type is expected); synthesised attributes are what the node tells its parent (the type it produced). Our viewer logs every one of these events, so you can read the attribute flow production by production. The symbol table it builds is also what assigns each variable its slot in the activation record later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Backpatching is the neatest idea in Module 4 and it is easy to show: you cannot know where 'if' jumps to until you have read the body that follows it, so you emit the jump with a hole, remember the hole in a list, and fill it in when you arrive at the destination. makelist, merge and backpatch. Our compiler logs every single patch it performs, and a test asserts that no unpatched jump survives to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list - point at two entries. Loop-invariant code motion: the multiplication does not change between iterations, so it is computed once before the loop instead of five times inside it. Strength reduction: i times eight is replaced by adding eight each time round, because addition is cheaper than multiplication. The honest number here is the run-time one: 188 instructions executed becomes 148.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sentence that makes data flow click for an audience: these are four questions you must be able to answer before you are allowed to change any code, and each is answered by going round the flow graph until the answer stops changing. Note the symmetry on the slide - forward/backward crossed with union/intersection gives exactly these four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Next-use: before generating code for an instruction we work out, for every value, how far away the next instruction that reads it is - and when we run out of registers we evict the one needed furthest away. Activation records: the diagram on the right is what a function call actually pushes, and it is why recursion works at all. The viewer shows the register and address descriptors changing instruction by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SSA is the form every modern compiler uses internally - LLVM, GCC, the JVM's JIT. The reason is on this slide: once each name is written once, 'where did this value come from' has exactly one answer, and analyses that needed a whole data-flow pass become a single pointer lookup. Phi is not an instruction the machine runs; it is a note about which path you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7 slide and it is the one non-programmers enjoy most. The three loops differ by a couple of characters and have completely different answers. The compiler decides by asking one question: does any iteration read something a previous iteration wrote? If no, it is parallel. If yes but the operation is an associative accumulation, it is a reduction and can still be split. Otherwise it is genuinely sequential. This is the analysis behind auto-vectorisation in real compilers.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because it is the part no standard course project has. A verifier nobody ever defeats is indistinguishable from one that does nothing, so we wrote eight bytecode programs by hand that no honest compiler would ever emit - the kind of thing an attacker hands a virtual machine directly. Six are caught statically, before anything runs. The last two are perfectly type-safe and simply never stop, which nothing static can detect - those are caught by the sandbox at run time. That split is exactly how Java, WebAssembly and the Linux kernel's eBPF verifier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there are two layers is a genuine theoretical limit, not laziness: whether a program halts is undecidable, so no amount of static checking can prove termination. Static verification gets you everything that is decidable and costs nothing at run time; the sandbox catches the rest with a budget. If someone asks for the real-world parallel - this is exactly why a browser can run untrusted WebAssembly from a random website without asking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slide seriously, take this one. Anyone can write something that produces plausible-looking assembly. The question is how you would ever know it is right. Our answer: build two independent back-ends and make them agree, run everything with and without optimisation and make those agree, and assert the textbook results the phases are supposed to produce. The gcd bug is worth telling as a story - it is a classic mistake, it is subtle, and the test suite found it rather than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laptop, stop here and do it live - open the viewer, load 05_optimiser.nova, and click through four or five tabs. If not, this slide stands in for it. Mention the alternative: 'python -m nova report file.nova' writes the same content as a single HTML file you can e-mail, and everything is also available from the command line without any window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examiner rather than the class. Do not read it - say 'every row is a tab you can open' and move on. If asked about the lab list specifically: we did not write fourteen small disconnected programs, we wrote one compiler in which each of those fourteen things is a phase you can inspect, which is strictly more work and much closer to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italic line, then invite questions. Likely questions and short answers: Why Python? Because the phases had to be readable and the rule was no C anywhere. Why no PLY or ANTLR? Because building the LALR tables is the assignment, not an obstacle to it. What was hardest? The register allocator - two registers claimed to hold the same variable and a stale one got written back to memory; the two back-ends disagreeing is what found it. What is it good for? Learning, and marking - every claim on these slides is a number the tool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p:bgPr>
    </p:bg>
    <p:spTree>
      <p:nvGrpSpPr>
        <p:cNvPr id="1" name=""/>
        <p:cNvGrpSpPr/>
        <p:nvPr/>
      </p:nvGrpSpPr>
      <p:grpSpPr>
        <a:xfrm>
          <a:off x="0" y="0"/>
          <a:ext cx="0" cy="0"/>
          <a:chOff x="0" y="0"/>
          <a:chExt cx="0" cy="0"/>
        </a:xfrm>
      </p:grpSpPr>
      <p:sp>
        <p:nvSpPr>
          <p:cNvPr id="2" name="Shape 0"/>
          <p:cNvSpPr/>
          <p:nvPr/>
        </p:nvSpPr>
        <p:spPr>
          <a:xfrm>
            <a:off x="5166360" y="685800"/>
            <a:ext cx="3520440" cy="3749040"/>
          </a:xfrm>
          <a:prstGeom prst="roundRect">
            <a:avLst>
              <a:gd name="adj" fmla="val 2597"/>
            </a:avLst>
          </a:prstGeom>
          <a:solidFill>
            <a:srgbClr val="1B3648"/>
          </a:solidFill>
          <a:ln/>
        </p:spPr>
      </p:sp>
      <p:sp>
        <p:nvSpPr>
          <p:cNvPr id="3" name="Text 1"/>
          <p:cNvSpPr/>
          <p:nvPr/>
        </p:nvSpPr>
        <p:spPr>
          <a:xfrm>
            <a:off x="5349240" y="841248"/>
            <a:ext cx="3154680" cy="256032"/>
          </a:xfrm>
          <a:prstGeom prst="rect">
            <a:avLst/>
          </a:prstGeom>
          <a:noFill/>
          <a:ln/>
        </p:spPr>
        <p:txBody>
          <a:bodyPr wrap="square" lIns="0" tIns="0" rIns="0" bIns="0" rtlCol="0" anchor="ctr"/>
          <a:lstStyle/>
          <a:p>
            <a:pPr indent="0" marL="0">
              <a:buNone/>
            </a:pPr>
            <a:r>
              <a:rPr lang="en-US" sz="1000" b="1" spc="200" kern="0" dirty="0">
                <a:solidFill>
                  <a:srgbClr val="C4622D"/>
                </a:solidFill>
                <a:latin typeface="Calibri" pitchFamily="34" charset="0"/>
                <a:ea typeface="Calibri" pitchFamily="34" charset="-122"/>
                <a:cs typeface="Calibri" pitchFamily="34" charset="-120"/>
              </a:rPr>
              <a:t>GLASS BOX</a:t>
            </a:r>
            <a:endParaRPr lang="en-US" sz="1000" dirty="0"/>
          </a:p>
        </p:txBody>
      </p:sp>
      <p:sp>
        <p:nvSpPr>
          <p:cNvPr id="4" name="Shape 2"/>
          <p:cNvSpPr/>
          <p:nvPr/>
        </p:nvSpPr>
        <p:spPr>
          <a:xfrm>
            <a:off x="5394960" y="1316736"/>
            <a:ext cx="128016" cy="128016"/>
          </a:xfrm>
          <a:prstGeom prst="ellipse">
            <a:avLst/>
          </a:prstGeom>
          <a:solidFill>
            <a:srgbClr val="C4622D"/>
          </a:solidFill>
          <a:ln/>
        </p:spPr>
      </p:sp>
      <p:sp>
        <p:nvSpPr>
          <p:cNvPr id="5" name="Text 3"/>
          <p:cNvSpPr/>
          <p:nvPr/>
        </p:nvSpPr>
        <p:spPr>
          <a:xfrm>
            <a:off x="5669280" y="1234440"/>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source text</a:t>
            </a:r>
            <a:endParaRPr lang="en-US" sz="1200" dirty="0"/>
          </a:p>
        </p:txBody>
      </p:sp>
      <p:sp>
        <p:nvSpPr>
          <p:cNvPr id="6" name="Shape 4"/>
          <p:cNvSpPr/>
          <p:nvPr/>
        </p:nvSpPr>
        <p:spPr>
          <a:xfrm>
            <a:off x="5458968" y="1444752"/>
            <a:ext cx="0" cy="173736"/>
          </a:xfrm>
          <a:prstGeom prst="line">
            <a:avLst/>
          </a:prstGeom>
          <a:noFill/>
          <a:ln w="12700">
            <a:solidFill>
              <a:srgbClr val="3D5A6E"/>
            </a:solidFill>
            <a:prstDash val="solid"/>
          </a:ln>
        </p:spPr>
      </p:sp>
      <p:sp>
        <p:nvSpPr>
          <p:cNvPr id="7" name="Shape 5"/>
          <p:cNvSpPr/>
          <p:nvPr/>
        </p:nvSpPr>
        <p:spPr>
          <a:xfrm>
            <a:off x="5394960" y="1700784"/>
            <a:ext cx="128016" cy="128016"/>
          </a:xfrm>
          <a:prstGeom prst="ellipse">
            <a:avLst/>
          </a:prstGeom>
          <a:solidFill>
            <a:srgbClr val="C4622D"/>
          </a:solidFill>
          <a:ln/>
        </p:spPr>
      </p:sp>
      <p:sp>
        <p:nvSpPr>
          <p:cNvPr id="8" name="Text 6"/>
          <p:cNvSpPr/>
          <p:nvPr/>
        </p:nvSpPr>
        <p:spPr>
          <a:xfrm>
            <a:off x="5669280" y="1618488"/>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tokens  (DFA)</a:t>
            </a:r>
            <a:endParaRPr lang="en-US" sz="1200" dirty="0"/>
          </a:p>
        </p:txBody>
      </p:sp>
      <p:sp>
        <p:nvSpPr>
          <p:cNvPr id="9" name="Shape 7"/>
          <p:cNvSpPr/>
          <p:nvPr/>
        </p:nvSpPr>
        <p:spPr>
          <a:xfrm>
            <a:off x="5458968" y="1828800"/>
            <a:ext cx="0" cy="173736"/>
          </a:xfrm>
          <a:prstGeom prst="line">
            <a:avLst/>
          </a:prstGeom>
          <a:noFill/>
          <a:ln w="12700">
            <a:solidFill>
              <a:srgbClr val="3D5A6E"/>
            </a:solidFill>
            <a:prstDash val="solid"/>
          </a:ln>
        </p:spPr>
      </p:sp>
      <p:sp>
        <p:nvSpPr>
          <p:cNvPr id="10" name="Shape 8"/>
          <p:cNvSpPr/>
          <p:nvPr/>
        </p:nvSpPr>
        <p:spPr>
          <a:xfrm>
            <a:off x="5394960" y="2084832"/>
            <a:ext cx="128016" cy="128016"/>
          </a:xfrm>
          <a:prstGeom prst="ellipse">
            <a:avLst/>
          </a:prstGeom>
          <a:solidFill>
            <a:srgbClr val="C4622D"/>
          </a:solidFill>
          <a:ln/>
        </p:spPr>
      </p:sp>
      <p:sp>
        <p:nvSpPr>
          <p:cNvPr id="11" name="Text 9"/>
          <p:cNvSpPr/>
          <p:nvPr/>
        </p:nvSpPr>
        <p:spPr>
          <a:xfrm>
            <a:off x="5669280" y="2002536"/>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parse tree  (LALR)</a:t>
            </a:r>
            <a:endParaRPr lang="en-US" sz="1200" dirty="0"/>
          </a:p>
        </p:txBody>
      </p:sp>
      <p:sp>
        <p:nvSpPr>
          <p:cNvPr id="12" name="Shape 10"/>
          <p:cNvSpPr/>
          <p:nvPr/>
        </p:nvSpPr>
        <p:spPr>
          <a:xfrm>
            <a:off x="5458968" y="2212848"/>
            <a:ext cx="0" cy="173736"/>
          </a:xfrm>
          <a:prstGeom prst="line">
            <a:avLst/>
          </a:prstGeom>
          <a:noFill/>
          <a:ln w="12700">
            <a:solidFill>
              <a:srgbClr val="3D5A6E"/>
            </a:solidFill>
            <a:prstDash val="solid"/>
          </a:ln>
        </p:spPr>
      </p:sp>
      <p:sp>
        <p:nvSpPr>
          <p:cNvPr id="13" name="Shape 11"/>
          <p:cNvSpPr/>
          <p:nvPr/>
        </p:nvSpPr>
        <p:spPr>
          <a:xfrm>
            <a:off x="5394960" y="2468880"/>
            <a:ext cx="128016" cy="128016"/>
          </a:xfrm>
          <a:prstGeom prst="ellipse">
            <a:avLst/>
          </a:prstGeom>
          <a:solidFill>
            <a:srgbClr val="C4622D"/>
          </a:solidFill>
          <a:ln/>
        </p:spPr>
      </p:sp>
      <p:sp>
        <p:nvSpPr>
          <p:cNvPr id="14" name="Text 12"/>
          <p:cNvSpPr/>
          <p:nvPr/>
        </p:nvSpPr>
        <p:spPr>
          <a:xfrm>
            <a:off x="5669280" y="2386584"/>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annotated tree  (SDD)</a:t>
            </a:r>
            <a:endParaRPr lang="en-US" sz="1200" dirty="0"/>
          </a:p>
        </p:txBody>
      </p:sp>
      <p:sp>
        <p:nvSpPr>
          <p:cNvPr id="15" name="Shape 13"/>
          <p:cNvSpPr/>
          <p:nvPr/>
        </p:nvSpPr>
        <p:spPr>
          <a:xfrm>
            <a:off x="5458968" y="2596896"/>
            <a:ext cx="0" cy="173736"/>
          </a:xfrm>
          <a:prstGeom prst="line">
            <a:avLst/>
          </a:prstGeom>
          <a:noFill/>
          <a:ln w="12700">
            <a:solidFill>
              <a:srgbClr val="3D5A6E"/>
            </a:solidFill>
            <a:prstDash val="solid"/>
          </a:ln>
        </p:spPr>
      </p:sp>
      <p:sp>
        <p:nvSpPr>
          <p:cNvPr id="16" name="Shape 14"/>
          <p:cNvSpPr/>
          <p:nvPr/>
        </p:nvSpPr>
        <p:spPr>
          <a:xfrm>
            <a:off x="5394960" y="2852928"/>
            <a:ext cx="128016" cy="128016"/>
          </a:xfrm>
          <a:prstGeom prst="ellipse">
            <a:avLst/>
          </a:prstGeom>
          <a:solidFill>
            <a:srgbClr val="C4622D"/>
          </a:solidFill>
          <a:ln/>
        </p:spPr>
      </p:sp>
      <p:sp>
        <p:nvSpPr>
          <p:cNvPr id="17" name="Text 15"/>
          <p:cNvSpPr/>
          <p:nvPr/>
        </p:nvSpPr>
        <p:spPr>
          <a:xfrm>
            <a:off x="5669280" y="2770632"/>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three-address code</a:t>
            </a:r>
            <a:endParaRPr lang="en-US" sz="1200" dirty="0"/>
          </a:p>
        </p:txBody>
      </p:sp>
      <p:sp>
        <p:nvSpPr>
          <p:cNvPr id="18" name="Shape 16"/>
          <p:cNvSpPr/>
          <p:nvPr/>
        </p:nvSpPr>
        <p:spPr>
          <a:xfrm>
            <a:off x="5458968" y="2980944"/>
            <a:ext cx="0" cy="173736"/>
          </a:xfrm>
          <a:prstGeom prst="line">
            <a:avLst/>
          </a:prstGeom>
          <a:noFill/>
          <a:ln w="12700">
            <a:solidFill>
              <a:srgbClr val="3D5A6E"/>
            </a:solidFill>
            <a:prstDash val="solid"/>
          </a:ln>
        </p:spPr>
      </p:sp>
      <p:sp>
        <p:nvSpPr>
          <p:cNvPr id="19" name="Shape 17"/>
          <p:cNvSpPr/>
          <p:nvPr/>
        </p:nvSpPr>
        <p:spPr>
          <a:xfrm>
            <a:off x="5394960" y="3236976"/>
            <a:ext cx="128016" cy="128016"/>
          </a:xfrm>
          <a:prstGeom prst="ellipse">
            <a:avLst/>
          </a:prstGeom>
          <a:solidFill>
            <a:srgbClr val="C4622D"/>
          </a:solidFill>
          <a:ln/>
        </p:spPr>
      </p:sp>
      <p:sp>
        <p:nvSpPr>
          <p:cNvPr id="20" name="Text 18"/>
          <p:cNvSpPr/>
          <p:nvPr/>
        </p:nvSpPr>
        <p:spPr>
          <a:xfrm>
            <a:off x="5669280" y="3154680"/>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optimised flow graph</a:t>
            </a:r>
            <a:endParaRPr lang="en-US" sz="1200" dirty="0"/>
          </a:p>
        </p:txBody>
      </p:sp>
      <p:sp>
        <p:nvSpPr>
          <p:cNvPr id="21" name="Shape 19"/>
          <p:cNvSpPr/>
          <p:nvPr/>
        </p:nvSpPr>
        <p:spPr>
          <a:xfrm>
            <a:off x="5458968" y="3364992"/>
            <a:ext cx="0" cy="173736"/>
          </a:xfrm>
          <a:prstGeom prst="line">
            <a:avLst/>
          </a:prstGeom>
          <a:noFill/>
          <a:ln w="12700">
            <a:solidFill>
              <a:srgbClr val="3D5A6E"/>
            </a:solidFill>
            <a:prstDash val="solid"/>
          </a:ln>
        </p:spPr>
      </p:sp>
      <p:sp>
        <p:nvSpPr>
          <p:cNvPr id="22" name="Shape 20"/>
          <p:cNvSpPr/>
          <p:nvPr/>
        </p:nvSpPr>
        <p:spPr>
          <a:xfrm>
            <a:off x="5394960" y="3621024"/>
            <a:ext cx="128016" cy="128016"/>
          </a:xfrm>
          <a:prstGeom prst="ellipse">
            <a:avLst/>
          </a:prstGeom>
          <a:solidFill>
            <a:srgbClr val="C4622D"/>
          </a:solidFill>
          <a:ln/>
        </p:spPr>
      </p:sp>
      <p:sp>
        <p:nvSpPr>
          <p:cNvPr id="23" name="Text 21"/>
          <p:cNvSpPr/>
          <p:nvPr/>
        </p:nvSpPr>
        <p:spPr>
          <a:xfrm>
            <a:off x="5669280" y="3538728"/>
            <a:ext cx="2834640" cy="292608"/>
          </a:xfrm>
          <a:prstGeom prst="rect">
            <a:avLst/>
          </a:prstGeom>
          <a:noFill/>
          <a:ln/>
        </p:spPr>
        <p:txBody>
          <a:bodyPr wrap="square" lIns="0" tIns="0" rIns="0" bIns="0" rtlCol="0" anchor="ctr"/>
          <a:lstStyle/>
          <a:p>
            <a:pPr indent="0" marL="0">
              <a:buNone/>
            </a:pPr>
            <a:r>
              <a:rPr lang="en-US" sz="1200" dirty="0">
                <a:solidFill>
                  <a:srgbClr val="DCE7EE"/>
                </a:solidFill>
                <a:latin typeface="Courier New" pitchFamily="34" charset="0"/>
                <a:ea typeface="Courier New" pitchFamily="34" charset="-122"/>
                <a:cs typeface="Courier New" pitchFamily="34" charset="-120"/>
              </a:rPr>
              <a:t>target code  +  bytecode</a:t>
            </a:r>
            <a:endParaRPr lang="en-US" sz="1200" dirty="0"/>
          </a:p>
        </p:txBody>
      </p:sp>
      <p:sp>
        <p:nvSpPr>
          <p:cNvPr id="24" name="Shape 22"/>
          <p:cNvSpPr/>
          <p:nvPr/>
        </p:nvSpPr>
        <p:spPr>
          <a:xfrm>
            <a:off x="5458968" y="3749040"/>
            <a:ext cx="0" cy="173736"/>
          </a:xfrm>
          <a:prstGeom prst="line">
            <a:avLst/>
          </a:prstGeom>
          <a:noFill/>
          <a:ln w="12700">
            <a:solidFill>
              <a:srgbClr val="3D5A6E"/>
            </a:solidFill>
            <a:prstDash val="solid"/>
          </a:ln>
        </p:spPr>
      </p:sp>
      <p:sp>
        <p:nvSpPr>
          <p:cNvPr id="25" name="Shape 23"/>
          <p:cNvSpPr/>
          <p:nvPr/>
        </p:nvSpPr>
        <p:spPr>
          <a:xfrm>
            <a:off x="5394960" y="4005072"/>
            <a:ext cx="128016" cy="128016"/>
          </a:xfrm>
          <a:prstGeom prst="ellipse">
            <a:avLst/>
          </a:prstGeom>
          <a:solidFill>
            <a:srgbClr val="0E7C66"/>
          </a:solidFill>
          <a:ln/>
        </p:spPr>
      </p:sp>
      <p:sp>
        <p:nvSpPr>
          <p:cNvPr id="26" name="Text 24"/>
          <p:cNvSpPr/>
          <p:nvPr/>
        </p:nvSpPr>
        <p:spPr>
          <a:xfrm>
            <a:off x="5669280" y="3922776"/>
            <a:ext cx="2834640" cy="292608"/>
          </a:xfrm>
          <a:prstGeom prst="rect">
            <a:avLst/>
          </a:prstGeom>
          <a:noFill/>
          <a:ln/>
        </p:spPr>
        <p:txBody>
          <a:bodyPr wrap="square" lIns="0" tIns="0" rIns="0" bIns="0" rtlCol="0" anchor="ctr"/>
          <a:lstStyle/>
          <a:p>
            <a:pPr indent="0" marL="0">
              <a:buNone/>
            </a:pPr>
            <a:r>
              <a:rPr lang="en-US" sz="1200" dirty="0">
                <a:solidFill>
                  <a:srgbClr val="8FD8C4"/>
                </a:solidFill>
                <a:latin typeface="Courier New" pitchFamily="34" charset="0"/>
                <a:ea typeface="Courier New" pitchFamily="34" charset="-122"/>
                <a:cs typeface="Courier New" pitchFamily="34" charset="-120"/>
              </a:rPr>
              <a:t>verified  -&gt;  running</a:t>
            </a:r>
            <a:endParaRPr lang="en-US" sz="1200" dirty="0"/>
          </a:p>
        </p:txBody>
      </p:sp>
      <p:sp>
        <p:nvSpPr>
          <p:cNvPr id="27" name="Text 25"/>
          <p:cNvSpPr/>
          <p:nvPr/>
        </p:nvSpPr>
        <p:spPr>
          <a:xfrm>
            <a:off x="548640" y="1051560"/>
            <a:ext cx="45720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Nova</a:t>
            </a:r>
            <a:endParaRPr lang="en-US" sz="6000" dirty="0"/>
          </a:p>
        </p:txBody>
      </p:sp>
      <p:sp>
        <p:nvSpPr>
          <p:cNvPr id="28" name="Text 26"/>
          <p:cNvSpPr/>
          <p:nvPr/>
        </p:nvSpPr>
        <p:spPr>
          <a:xfrm>
            <a:off x="548640" y="1920240"/>
            <a:ext cx="4572000" cy="457200"/>
          </a:xfrm>
          <a:prstGeom prst="rect">
            <a:avLst/>
          </a:prstGeom>
          <a:noFill/>
          <a:ln/>
        </p:spPr>
        <p:txBody>
          <a:bodyPr wrap="square" lIns="0" tIns="0" rIns="0" bIns="0" rtlCol="0" anchor="ctr"/>
          <a:lstStyle/>
          <a:p>
            <a:pPr indent="0" marL="0">
              <a:buNone/>
            </a:pPr>
            <a:r>
              <a:rPr lang="en-US" sz="2400" dirty="0">
                <a:solidFill>
                  <a:srgbClr val="C4622D"/>
                </a:solidFill>
                <a:latin typeface="Cambria" pitchFamily="34" charset="0"/>
                <a:ea typeface="Cambria" pitchFamily="34" charset="-122"/>
                <a:cs typeface="Cambria" pitchFamily="34" charset="-120"/>
              </a:rPr>
              <a:t>a glass-box compiler</a:t>
            </a:r>
            <a:endParaRPr lang="en-US" sz="2400" dirty="0"/>
          </a:p>
        </p:txBody>
      </p:sp>
      <p:sp>
        <p:nvSpPr>
          <p:cNvPr id="29" name="Text 27"/>
          <p:cNvSpPr/>
          <p:nvPr/>
        </p:nvSpPr>
        <p:spPr>
          <a:xfrm>
            <a:off x="548640" y="2514600"/>
            <a:ext cx="4343400" cy="914400"/>
          </a:xfrm>
          <a:prstGeom prst="rect">
            <a:avLst/>
          </a:prstGeom>
          <a:noFill/>
          <a:ln/>
        </p:spPr>
        <p:txBody>
          <a:bodyPr wrap="square" lIns="0" tIns="0" rIns="0" bIns="0" rtlCol="0" anchor="ctr"/>
          <a:lstStyle/>
          <a:p>
            <a:pPr indent="0" marL="0">
              <a:lnSpc>
                <a:spcPts val="2000"/>
              </a:lnSpc>
              <a:buNone/>
            </a:pPr>
            <a:r>
              <a:rPr lang="en-US" sz="1350" dirty="0">
                <a:solidFill>
                  <a:srgbClr val="AFC6D4"/>
                </a:solidFill>
                <a:latin typeface="Calibri" pitchFamily="34" charset="0"/>
                <a:ea typeface="Calibri" pitchFamily="34" charset="-122"/>
                <a:cs typeface="Calibri" pitchFamily="34" charset="-120"/>
              </a:rPr>
              <a:t>A complete compiler for an original language, built from scratch in pure Python - and deliberately transparent, so you can watch every phase happen.</a:t>
            </a:r>
            <a:endParaRPr lang="en-US" sz="1350" dirty="0"/>
          </a:p>
        </p:txBody>
      </p:sp>
      <p:sp>
        <p:nvSpPr>
          <p:cNvPr id="30" name="Text 28"/>
          <p:cNvSpPr/>
          <p:nvPr/>
        </p:nvSpPr>
        <p:spPr>
          <a:xfrm>
            <a:off x="548640" y="3977640"/>
            <a:ext cx="448056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7,600 lines   |   27 modules   |   zero dependencies   |   26 / 26 tests passing</a:t>
            </a:r>
            <a:endParaRPr lang="en-US" sz="1150" dirty="0"/>
          </a:p>
        </p:txBody>
      </p:sp>
      <p:sp>
        <p:nvSpPr>
          <p:cNvPr id="31" name="Text 29"/>
          <p:cNvSpPr/>
          <p:nvPr/>
        </p:nvSpPr>
        <p:spPr>
          <a:xfrm>
            <a:off x="548640" y="4343400"/>
            <a:ext cx="4480560" cy="320040"/>
          </a:xfrm>
          <a:prstGeom prst="rect">
            <a:avLst/>
          </a:prstGeom>
          <a:noFill/>
          <a:ln/>
        </p:spPr>
        <p:txBody>
          <a:bodyPr wrap="square" lIns="0" tIns="0" rIns="0" bIns="0" rtlCol="0" anchor="ctr"/>
          <a:lstStyle/>
          <a:p>
            <a:pPr indent="0" marL="0">
              <a:buNone/>
            </a:pPr>
            <a:r>
              <a:rPr lang="en-US" sz="1100" dirty="0">
                <a:solidFill>
                  <a:srgbClr val="7D9AAC"/>
                </a:solidFill>
                <a:latin typeface="Calibri" pitchFamily="34" charset="0"/>
                <a:ea typeface="Calibri" pitchFamily="34" charset="-122"/>
                <a:cs typeface="Calibri" pitchFamily="34" charset="-120"/>
              </a:rPr>
              <a:t>Compiler Design  -  course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Compilers are black boxes. This one is not.</a:t>
            </a:r>
            <a:endParaRPr lang="en-US" sz="3000" dirty="0"/>
          </a:p>
        </p:txBody>
      </p:sp>
      <p:sp>
        <p:nvSpPr>
          <p:cNvPr id="4" name="Shape 2"/>
          <p:cNvSpPr/>
          <p:nvPr/>
        </p:nvSpPr>
        <p:spPr>
          <a:xfrm>
            <a:off x="502920" y="1234440"/>
            <a:ext cx="3931920" cy="3200400"/>
          </a:xfrm>
          <a:prstGeom prst="roundRect">
            <a:avLst>
              <a:gd name="adj" fmla="val 2286"/>
            </a:avLst>
          </a:prstGeom>
          <a:solidFill>
            <a:srgbClr val="EEF3F6"/>
          </a:solidFill>
          <a:ln/>
          <a:effectLst>
            <a:outerShdw sx="100000" sy="100000" kx="0" ky="0" algn="bl" rotWithShape="0" blurRad="101600" dist="25400" dir="5400000">
              <a:srgbClr val="9AACB8">
                <a:alpha val="35000"/>
              </a:srgbClr>
            </a:outerShdw>
          </a:effectLst>
        </p:spPr>
      </p:sp>
      <p:sp>
        <p:nvSpPr>
          <p:cNvPr id="5" name="Text 3"/>
          <p:cNvSpPr/>
          <p:nvPr/>
        </p:nvSpPr>
        <p:spPr>
          <a:xfrm>
            <a:off x="731520" y="1417320"/>
            <a:ext cx="3474720" cy="320040"/>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The usual experience</a:t>
            </a:r>
            <a:endParaRPr lang="en-US" sz="1500" dirty="0"/>
          </a:p>
        </p:txBody>
      </p:sp>
      <p:sp>
        <p:nvSpPr>
          <p:cNvPr id="6" name="Shape 4"/>
          <p:cNvSpPr/>
          <p:nvPr/>
        </p:nvSpPr>
        <p:spPr>
          <a:xfrm>
            <a:off x="1234440" y="1874520"/>
            <a:ext cx="2468880" cy="914400"/>
          </a:xfrm>
          <a:prstGeom prst="roundRect">
            <a:avLst>
              <a:gd name="adj" fmla="val 8000"/>
            </a:avLst>
          </a:prstGeom>
          <a:solidFill>
            <a:srgbClr val="36454F"/>
          </a:solidFill>
          <a:ln/>
        </p:spPr>
      </p:sp>
      <p:sp>
        <p:nvSpPr>
          <p:cNvPr id="7" name="Text 5"/>
          <p:cNvSpPr/>
          <p:nvPr/>
        </p:nvSpPr>
        <p:spPr>
          <a:xfrm>
            <a:off x="1234440" y="1874520"/>
            <a:ext cx="2468880" cy="914400"/>
          </a:xfrm>
          <a:prstGeom prst="rect">
            <a:avLst/>
          </a:prstGeom>
          <a:noFill/>
          <a:ln/>
        </p:spPr>
        <p:txBody>
          <a:bodyPr wrap="square" lIns="0" tIns="0" rIns="0" bIns="0" rtlCol="0" anchor="ctr"/>
          <a:lstStyle/>
          <a:p>
            <a:pPr algn="ctr" indent="0" marL="0">
              <a:buNone/>
            </a:pPr>
            <a:r>
              <a:rPr lang="en-US" sz="3400" b="1" dirty="0">
                <a:solidFill>
                  <a:srgbClr val="7C8B95"/>
                </a:solidFill>
                <a:latin typeface="Cambria" pitchFamily="34" charset="0"/>
                <a:ea typeface="Cambria" pitchFamily="34" charset="-122"/>
                <a:cs typeface="Cambria" pitchFamily="34" charset="-120"/>
              </a:rPr>
              <a:t>?</a:t>
            </a:r>
            <a:endParaRPr lang="en-US" sz="3400" dirty="0"/>
          </a:p>
        </p:txBody>
      </p:sp>
      <p:sp>
        <p:nvSpPr>
          <p:cNvPr id="8" name="Text 6"/>
          <p:cNvSpPr/>
          <p:nvPr/>
        </p:nvSpPr>
        <p:spPr>
          <a:xfrm>
            <a:off x="1234440" y="1627632"/>
            <a:ext cx="2468880" cy="228600"/>
          </a:xfrm>
          <a:prstGeom prst="rect">
            <a:avLst/>
          </a:prstGeom>
          <a:noFill/>
          <a:ln/>
        </p:spPr>
        <p:txBody>
          <a:bodyPr wrap="square" lIns="0" tIns="0" rIns="0" bIns="0" rtlCol="0" anchor="ctr"/>
          <a:lstStyle/>
          <a:p>
            <a:pPr algn="ctr" indent="0" marL="0">
              <a:buNone/>
            </a:pPr>
            <a:r>
              <a:rPr lang="en-US" sz="1000" dirty="0">
                <a:solidFill>
                  <a:srgbClr val="5D6B7A"/>
                </a:solidFill>
                <a:latin typeface="Calibri" pitchFamily="34" charset="0"/>
                <a:ea typeface="Calibri" pitchFamily="34" charset="-122"/>
                <a:cs typeface="Calibri" pitchFamily="34" charset="-120"/>
              </a:rPr>
              <a:t>source in</a:t>
            </a:r>
            <a:endParaRPr lang="en-US" sz="1000" dirty="0"/>
          </a:p>
        </p:txBody>
      </p:sp>
      <p:sp>
        <p:nvSpPr>
          <p:cNvPr id="9" name="Text 7"/>
          <p:cNvSpPr/>
          <p:nvPr/>
        </p:nvSpPr>
        <p:spPr>
          <a:xfrm>
            <a:off x="1234440" y="2807208"/>
            <a:ext cx="2468880" cy="228600"/>
          </a:xfrm>
          <a:prstGeom prst="rect">
            <a:avLst/>
          </a:prstGeom>
          <a:noFill/>
          <a:ln/>
        </p:spPr>
        <p:txBody>
          <a:bodyPr wrap="square" lIns="0" tIns="0" rIns="0" bIns="0" rtlCol="0" anchor="ctr"/>
          <a:lstStyle/>
          <a:p>
            <a:pPr algn="ctr" indent="0" marL="0">
              <a:buNone/>
            </a:pPr>
            <a:r>
              <a:rPr lang="en-US" sz="1000" dirty="0">
                <a:solidFill>
                  <a:srgbClr val="5D6B7A"/>
                </a:solidFill>
                <a:latin typeface="Calibri" pitchFamily="34" charset="0"/>
                <a:ea typeface="Calibri" pitchFamily="34" charset="-122"/>
                <a:cs typeface="Calibri" pitchFamily="34" charset="-120"/>
              </a:rPr>
              <a:t>a.out</a:t>
            </a:r>
            <a:endParaRPr lang="en-US" sz="1000" dirty="0"/>
          </a:p>
        </p:txBody>
      </p:sp>
      <p:sp>
        <p:nvSpPr>
          <p:cNvPr id="10" name="Text 8"/>
          <p:cNvSpPr/>
          <p:nvPr/>
        </p:nvSpPr>
        <p:spPr>
          <a:xfrm>
            <a:off x="777240" y="3154680"/>
            <a:ext cx="3383280" cy="11887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5D6B7A"/>
                </a:solidFill>
                <a:latin typeface="Calibri" pitchFamily="34" charset="0"/>
                <a:ea typeface="Calibri" pitchFamily="34" charset="-122"/>
                <a:cs typeface="Calibri" pitchFamily="34" charset="-120"/>
              </a:rPr>
              <a:t>You learn the phases as diagrams on a slide</a:t>
            </a:r>
            <a:endParaRPr lang="en-US" sz="1150" dirty="0"/>
          </a:p>
          <a:p>
            <a:pPr marL="342900" indent="-342900">
              <a:spcAft>
                <a:spcPts val="800"/>
              </a:spcAft>
              <a:buSzPct val="100000"/>
              <a:buChar char="•"/>
            </a:pPr>
            <a:r>
              <a:rPr lang="en-US" sz="1150" dirty="0">
                <a:solidFill>
                  <a:srgbClr val="5D6B7A"/>
                </a:solidFill>
                <a:latin typeface="Calibri" pitchFamily="34" charset="0"/>
                <a:ea typeface="Calibri" pitchFamily="34" charset="-122"/>
                <a:cs typeface="Calibri" pitchFamily="34" charset="-120"/>
              </a:rPr>
              <a:t>You never see a real DFA, a real LALR table or a real flow graph</a:t>
            </a:r>
            <a:endParaRPr lang="en-US" sz="1150" dirty="0"/>
          </a:p>
          <a:p>
            <a:pPr marL="342900" indent="-342900">
              <a:spcAft>
                <a:spcPts val="800"/>
              </a:spcAft>
              <a:buSzPct val="100000"/>
              <a:buChar char="•"/>
            </a:pPr>
            <a:r>
              <a:rPr lang="en-US" sz="1150" dirty="0">
                <a:solidFill>
                  <a:srgbClr val="5D6B7A"/>
                </a:solidFill>
                <a:latin typeface="Calibri" pitchFamily="34" charset="0"/>
                <a:ea typeface="Calibri" pitchFamily="34" charset="-122"/>
                <a:cs typeface="Calibri" pitchFamily="34" charset="-120"/>
              </a:rPr>
              <a:t>When it breaks, there is nothing to look at</a:t>
            </a:r>
            <a:endParaRPr lang="en-US" sz="1150" dirty="0"/>
          </a:p>
        </p:txBody>
      </p:sp>
      <p:sp>
        <p:nvSpPr>
          <p:cNvPr id="11" name="Shape 9"/>
          <p:cNvSpPr/>
          <p:nvPr/>
        </p:nvSpPr>
        <p:spPr>
          <a:xfrm>
            <a:off x="4709160" y="1234440"/>
            <a:ext cx="3931920" cy="3200400"/>
          </a:xfrm>
          <a:prstGeom prst="roundRect">
            <a:avLst>
              <a:gd name="adj" fmla="val 2286"/>
            </a:avLst>
          </a:prstGeom>
          <a:solidFill>
            <a:srgbClr val="E8F2EF"/>
          </a:solidFill>
          <a:ln/>
          <a:effectLst>
            <a:outerShdw sx="100000" sy="100000" kx="0" ky="0" algn="bl" rotWithShape="0" blurRad="101600" dist="25400" dir="5400000">
              <a:srgbClr val="9AACB8">
                <a:alpha val="35000"/>
              </a:srgbClr>
            </a:outerShdw>
          </a:effectLst>
        </p:spPr>
      </p:sp>
      <p:sp>
        <p:nvSpPr>
          <p:cNvPr id="12" name="Text 10"/>
          <p:cNvSpPr/>
          <p:nvPr/>
        </p:nvSpPr>
        <p:spPr>
          <a:xfrm>
            <a:off x="4937760" y="1417320"/>
            <a:ext cx="3474720" cy="320040"/>
          </a:xfrm>
          <a:prstGeom prst="rect">
            <a:avLst/>
          </a:prstGeom>
          <a:noFill/>
          <a:ln/>
        </p:spPr>
        <p:txBody>
          <a:bodyPr wrap="square" lIns="0" tIns="0" rIns="0" bIns="0" rtlCol="0" anchor="ctr"/>
          <a:lstStyle/>
          <a:p>
            <a:pPr indent="0" marL="0">
              <a:buNone/>
            </a:pPr>
            <a:r>
              <a:rPr lang="en-US" sz="1500" b="1" dirty="0">
                <a:solidFill>
                  <a:srgbClr val="0E7C66"/>
                </a:solidFill>
                <a:latin typeface="Cambria" pitchFamily="34" charset="0"/>
                <a:ea typeface="Cambria" pitchFamily="34" charset="-122"/>
                <a:cs typeface="Cambria" pitchFamily="34" charset="-120"/>
              </a:rPr>
              <a:t>What Nova does instead</a:t>
            </a:r>
            <a:endParaRPr lang="en-US" sz="1500" dirty="0"/>
          </a:p>
        </p:txBody>
      </p:sp>
      <p:sp>
        <p:nvSpPr>
          <p:cNvPr id="13" name="Shape 11"/>
          <p:cNvSpPr/>
          <p:nvPr/>
        </p:nvSpPr>
        <p:spPr>
          <a:xfrm>
            <a:off x="4956048" y="1874520"/>
            <a:ext cx="786384" cy="384048"/>
          </a:xfrm>
          <a:prstGeom prst="roundRect">
            <a:avLst>
              <a:gd name="adj" fmla="val 14286"/>
            </a:avLst>
          </a:prstGeom>
          <a:solidFill>
            <a:srgbClr val="FFFFFF"/>
          </a:solidFill>
          <a:ln w="12700">
            <a:solidFill>
              <a:srgbClr val="0E7C66"/>
            </a:solidFill>
            <a:prstDash val="solid"/>
          </a:ln>
        </p:spPr>
      </p:sp>
      <p:sp>
        <p:nvSpPr>
          <p:cNvPr id="14" name="Text 12"/>
          <p:cNvSpPr/>
          <p:nvPr/>
        </p:nvSpPr>
        <p:spPr>
          <a:xfrm>
            <a:off x="4956048" y="1874520"/>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DFA</a:t>
            </a:r>
            <a:endParaRPr lang="en-US" sz="1050" dirty="0"/>
          </a:p>
        </p:txBody>
      </p:sp>
      <p:sp>
        <p:nvSpPr>
          <p:cNvPr id="15" name="Shape 13"/>
          <p:cNvSpPr/>
          <p:nvPr/>
        </p:nvSpPr>
        <p:spPr>
          <a:xfrm>
            <a:off x="5852160" y="1874520"/>
            <a:ext cx="786384" cy="384048"/>
          </a:xfrm>
          <a:prstGeom prst="roundRect">
            <a:avLst>
              <a:gd name="adj" fmla="val 14286"/>
            </a:avLst>
          </a:prstGeom>
          <a:solidFill>
            <a:srgbClr val="FFFFFF"/>
          </a:solidFill>
          <a:ln w="12700">
            <a:solidFill>
              <a:srgbClr val="0E7C66"/>
            </a:solidFill>
            <a:prstDash val="solid"/>
          </a:ln>
        </p:spPr>
      </p:sp>
      <p:sp>
        <p:nvSpPr>
          <p:cNvPr id="16" name="Text 14"/>
          <p:cNvSpPr/>
          <p:nvPr/>
        </p:nvSpPr>
        <p:spPr>
          <a:xfrm>
            <a:off x="5852160" y="1874520"/>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LALR</a:t>
            </a:r>
            <a:endParaRPr lang="en-US" sz="1050" dirty="0"/>
          </a:p>
        </p:txBody>
      </p:sp>
      <p:sp>
        <p:nvSpPr>
          <p:cNvPr id="17" name="Shape 15"/>
          <p:cNvSpPr/>
          <p:nvPr/>
        </p:nvSpPr>
        <p:spPr>
          <a:xfrm>
            <a:off x="6748272" y="1874520"/>
            <a:ext cx="786384" cy="384048"/>
          </a:xfrm>
          <a:prstGeom prst="roundRect">
            <a:avLst>
              <a:gd name="adj" fmla="val 14286"/>
            </a:avLst>
          </a:prstGeom>
          <a:solidFill>
            <a:srgbClr val="FFFFFF"/>
          </a:solidFill>
          <a:ln w="12700">
            <a:solidFill>
              <a:srgbClr val="0E7C66"/>
            </a:solidFill>
            <a:prstDash val="solid"/>
          </a:ln>
        </p:spPr>
      </p:sp>
      <p:sp>
        <p:nvSpPr>
          <p:cNvPr id="18" name="Text 16"/>
          <p:cNvSpPr/>
          <p:nvPr/>
        </p:nvSpPr>
        <p:spPr>
          <a:xfrm>
            <a:off x="6748272" y="1874520"/>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SDD</a:t>
            </a:r>
            <a:endParaRPr lang="en-US" sz="1050" dirty="0"/>
          </a:p>
        </p:txBody>
      </p:sp>
      <p:sp>
        <p:nvSpPr>
          <p:cNvPr id="19" name="Shape 17"/>
          <p:cNvSpPr/>
          <p:nvPr/>
        </p:nvSpPr>
        <p:spPr>
          <a:xfrm>
            <a:off x="7644384" y="1874520"/>
            <a:ext cx="786384" cy="384048"/>
          </a:xfrm>
          <a:prstGeom prst="roundRect">
            <a:avLst>
              <a:gd name="adj" fmla="val 14286"/>
            </a:avLst>
          </a:prstGeom>
          <a:solidFill>
            <a:srgbClr val="FFFFFF"/>
          </a:solidFill>
          <a:ln w="12700">
            <a:solidFill>
              <a:srgbClr val="0E7C66"/>
            </a:solidFill>
            <a:prstDash val="solid"/>
          </a:ln>
        </p:spPr>
      </p:sp>
      <p:sp>
        <p:nvSpPr>
          <p:cNvPr id="20" name="Text 18"/>
          <p:cNvSpPr/>
          <p:nvPr/>
        </p:nvSpPr>
        <p:spPr>
          <a:xfrm>
            <a:off x="7644384" y="1874520"/>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TAC</a:t>
            </a:r>
            <a:endParaRPr lang="en-US" sz="1050" dirty="0"/>
          </a:p>
        </p:txBody>
      </p:sp>
      <p:sp>
        <p:nvSpPr>
          <p:cNvPr id="21" name="Shape 19"/>
          <p:cNvSpPr/>
          <p:nvPr/>
        </p:nvSpPr>
        <p:spPr>
          <a:xfrm>
            <a:off x="4956048" y="2350008"/>
            <a:ext cx="786384" cy="384048"/>
          </a:xfrm>
          <a:prstGeom prst="roundRect">
            <a:avLst>
              <a:gd name="adj" fmla="val 14286"/>
            </a:avLst>
          </a:prstGeom>
          <a:solidFill>
            <a:srgbClr val="FFFFFF"/>
          </a:solidFill>
          <a:ln w="12700">
            <a:solidFill>
              <a:srgbClr val="0E7C66"/>
            </a:solidFill>
            <a:prstDash val="solid"/>
          </a:ln>
        </p:spPr>
      </p:sp>
      <p:sp>
        <p:nvSpPr>
          <p:cNvPr id="22" name="Text 20"/>
          <p:cNvSpPr/>
          <p:nvPr/>
        </p:nvSpPr>
        <p:spPr>
          <a:xfrm>
            <a:off x="4956048" y="2350008"/>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CFG</a:t>
            </a:r>
            <a:endParaRPr lang="en-US" sz="1050" dirty="0"/>
          </a:p>
        </p:txBody>
      </p:sp>
      <p:sp>
        <p:nvSpPr>
          <p:cNvPr id="23" name="Shape 21"/>
          <p:cNvSpPr/>
          <p:nvPr/>
        </p:nvSpPr>
        <p:spPr>
          <a:xfrm>
            <a:off x="5852160" y="2350008"/>
            <a:ext cx="786384" cy="384048"/>
          </a:xfrm>
          <a:prstGeom prst="roundRect">
            <a:avLst>
              <a:gd name="adj" fmla="val 14286"/>
            </a:avLst>
          </a:prstGeom>
          <a:solidFill>
            <a:srgbClr val="FFFFFF"/>
          </a:solidFill>
          <a:ln w="12700">
            <a:solidFill>
              <a:srgbClr val="0E7C66"/>
            </a:solidFill>
            <a:prstDash val="solid"/>
          </a:ln>
        </p:spPr>
      </p:sp>
      <p:sp>
        <p:nvSpPr>
          <p:cNvPr id="24" name="Text 22"/>
          <p:cNvSpPr/>
          <p:nvPr/>
        </p:nvSpPr>
        <p:spPr>
          <a:xfrm>
            <a:off x="5852160" y="2350008"/>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SSA</a:t>
            </a:r>
            <a:endParaRPr lang="en-US" sz="1050" dirty="0"/>
          </a:p>
        </p:txBody>
      </p:sp>
      <p:sp>
        <p:nvSpPr>
          <p:cNvPr id="25" name="Shape 23"/>
          <p:cNvSpPr/>
          <p:nvPr/>
        </p:nvSpPr>
        <p:spPr>
          <a:xfrm>
            <a:off x="6748272" y="2350008"/>
            <a:ext cx="786384" cy="384048"/>
          </a:xfrm>
          <a:prstGeom prst="roundRect">
            <a:avLst>
              <a:gd name="adj" fmla="val 14286"/>
            </a:avLst>
          </a:prstGeom>
          <a:solidFill>
            <a:srgbClr val="FFFFFF"/>
          </a:solidFill>
          <a:ln w="12700">
            <a:solidFill>
              <a:srgbClr val="0E7C66"/>
            </a:solidFill>
            <a:prstDash val="solid"/>
          </a:ln>
        </p:spPr>
      </p:sp>
      <p:sp>
        <p:nvSpPr>
          <p:cNvPr id="26" name="Text 24"/>
          <p:cNvSpPr/>
          <p:nvPr/>
        </p:nvSpPr>
        <p:spPr>
          <a:xfrm>
            <a:off x="6748272" y="2350008"/>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ASM</a:t>
            </a:r>
            <a:endParaRPr lang="en-US" sz="1050" dirty="0"/>
          </a:p>
        </p:txBody>
      </p:sp>
      <p:sp>
        <p:nvSpPr>
          <p:cNvPr id="27" name="Shape 25"/>
          <p:cNvSpPr/>
          <p:nvPr/>
        </p:nvSpPr>
        <p:spPr>
          <a:xfrm>
            <a:off x="7644384" y="2350008"/>
            <a:ext cx="786384" cy="384048"/>
          </a:xfrm>
          <a:prstGeom prst="roundRect">
            <a:avLst>
              <a:gd name="adj" fmla="val 14286"/>
            </a:avLst>
          </a:prstGeom>
          <a:solidFill>
            <a:srgbClr val="FFFFFF"/>
          </a:solidFill>
          <a:ln w="12700">
            <a:solidFill>
              <a:srgbClr val="0E7C66"/>
            </a:solidFill>
            <a:prstDash val="solid"/>
          </a:ln>
        </p:spPr>
      </p:sp>
      <p:sp>
        <p:nvSpPr>
          <p:cNvPr id="28" name="Text 26"/>
          <p:cNvSpPr/>
          <p:nvPr/>
        </p:nvSpPr>
        <p:spPr>
          <a:xfrm>
            <a:off x="7644384" y="2350008"/>
            <a:ext cx="786384" cy="384048"/>
          </a:xfrm>
          <a:prstGeom prst="rect">
            <a:avLst/>
          </a:prstGeom>
          <a:noFill/>
          <a:ln/>
        </p:spPr>
        <p:txBody>
          <a:bodyPr wrap="square" lIns="0" tIns="0" rIns="0" bIns="0" rtlCol="0" anchor="ctr"/>
          <a:lstStyle/>
          <a:p>
            <a:pPr algn="ctr" indent="0" marL="0">
              <a:buNone/>
            </a:pPr>
            <a:r>
              <a:rPr lang="en-US" sz="1050" b="1" dirty="0">
                <a:solidFill>
                  <a:srgbClr val="0E7C66"/>
                </a:solidFill>
                <a:latin typeface="Courier New" pitchFamily="34" charset="0"/>
                <a:ea typeface="Courier New" pitchFamily="34" charset="-122"/>
                <a:cs typeface="Courier New" pitchFamily="34" charset="-120"/>
              </a:rPr>
              <a:t>VM</a:t>
            </a:r>
            <a:endParaRPr lang="en-US" sz="1050" dirty="0"/>
          </a:p>
        </p:txBody>
      </p:sp>
      <p:sp>
        <p:nvSpPr>
          <p:cNvPr id="29" name="Text 27"/>
          <p:cNvSpPr/>
          <p:nvPr/>
        </p:nvSpPr>
        <p:spPr>
          <a:xfrm>
            <a:off x="4983480" y="3017520"/>
            <a:ext cx="3383280" cy="13258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0F2233"/>
                </a:solidFill>
                <a:latin typeface="Calibri" pitchFamily="34" charset="0"/>
                <a:ea typeface="Calibri" pitchFamily="34" charset="-122"/>
                <a:cs typeface="Calibri" pitchFamily="34" charset="-120"/>
              </a:rPr>
              <a:t>Every table the compiler builds is kept and displayed</a:t>
            </a:r>
            <a:endParaRPr lang="en-US" sz="1150" dirty="0"/>
          </a:p>
          <a:p>
            <a:pPr marL="342900" indent="-342900">
              <a:spcAft>
                <a:spcPts val="800"/>
              </a:spcAft>
              <a:buSzPct val="100000"/>
              <a:buChar char="•"/>
            </a:pPr>
            <a:r>
              <a:rPr lang="en-US" sz="1150" dirty="0">
                <a:solidFill>
                  <a:srgbClr val="0F2233"/>
                </a:solidFill>
                <a:latin typeface="Calibri" pitchFamily="34" charset="0"/>
                <a:ea typeface="Calibri" pitchFamily="34" charset="-122"/>
                <a:cs typeface="Calibri" pitchFamily="34" charset="-120"/>
              </a:rPr>
              <a:t>Nothing is a mock-up: the tables shown are the tables used</a:t>
            </a:r>
            <a:endParaRPr lang="en-US" sz="1150" dirty="0"/>
          </a:p>
          <a:p>
            <a:pPr marL="342900" indent="-342900">
              <a:spcAft>
                <a:spcPts val="800"/>
              </a:spcAft>
              <a:buSzPct val="100000"/>
              <a:buChar char="•"/>
            </a:pPr>
            <a:r>
              <a:rPr lang="en-US" sz="1150" dirty="0">
                <a:solidFill>
                  <a:srgbClr val="0F2233"/>
                </a:solidFill>
                <a:latin typeface="Calibri" pitchFamily="34" charset="0"/>
                <a:ea typeface="Calibri" pitchFamily="34" charset="-122"/>
                <a:cs typeface="Calibri" pitchFamily="34" charset="-120"/>
              </a:rPr>
              <a:t>One tab per phase, in the order the textbook teaches them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What happens to your program</a:t>
            </a:r>
            <a:endParaRPr lang="en-US" sz="3000" dirty="0"/>
          </a:p>
        </p:txBody>
      </p:sp>
      <p:sp>
        <p:nvSpPr>
          <p:cNvPr id="4" name="Text 2"/>
          <p:cNvSpPr/>
          <p:nvPr/>
        </p:nvSpPr>
        <p:spPr>
          <a:xfrm>
            <a:off x="502920" y="804672"/>
            <a:ext cx="8183880"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Eight phases. Every arrow is a real data structure, not a metaphor.</a:t>
            </a:r>
            <a:endParaRPr lang="en-US" sz="1350" dirty="0"/>
          </a:p>
        </p:txBody>
      </p:sp>
      <p:sp>
        <p:nvSpPr>
          <p:cNvPr id="5" name="Shape 3"/>
          <p:cNvSpPr/>
          <p:nvPr/>
        </p:nvSpPr>
        <p:spPr>
          <a:xfrm>
            <a:off x="502920" y="1371600"/>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6" name="Shape 4"/>
          <p:cNvSpPr/>
          <p:nvPr/>
        </p:nvSpPr>
        <p:spPr>
          <a:xfrm>
            <a:off x="630936" y="1499616"/>
            <a:ext cx="329184" cy="329184"/>
          </a:xfrm>
          <a:prstGeom prst="ellipse">
            <a:avLst/>
          </a:prstGeom>
          <a:solidFill>
            <a:srgbClr val="C4622D"/>
          </a:solidFill>
          <a:ln/>
        </p:spPr>
      </p:sp>
      <p:sp>
        <p:nvSpPr>
          <p:cNvPr id="7" name="Text 5"/>
          <p:cNvSpPr/>
          <p:nvPr/>
        </p:nvSpPr>
        <p:spPr>
          <a:xfrm>
            <a:off x="630936"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033272" y="1499616"/>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Scanner</a:t>
            </a:r>
            <a:endParaRPr lang="en-US" sz="1350" dirty="0"/>
          </a:p>
        </p:txBody>
      </p:sp>
      <p:sp>
        <p:nvSpPr>
          <p:cNvPr id="9" name="Text 7"/>
          <p:cNvSpPr/>
          <p:nvPr/>
        </p:nvSpPr>
        <p:spPr>
          <a:xfrm>
            <a:off x="649224" y="1920240"/>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regex -&gt; DFA,</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longest match</a:t>
            </a:r>
            <a:endParaRPr lang="en-US" sz="1050" dirty="0"/>
          </a:p>
        </p:txBody>
      </p:sp>
      <p:sp>
        <p:nvSpPr>
          <p:cNvPr id="10" name="Shape 8"/>
          <p:cNvSpPr/>
          <p:nvPr/>
        </p:nvSpPr>
        <p:spPr>
          <a:xfrm>
            <a:off x="2386584" y="2057400"/>
            <a:ext cx="256032" cy="0"/>
          </a:xfrm>
          <a:prstGeom prst="line">
            <a:avLst/>
          </a:prstGeom>
          <a:noFill/>
          <a:ln w="19050">
            <a:solidFill>
              <a:srgbClr val="C4622D"/>
            </a:solidFill>
            <a:prstDash val="solid"/>
            <a:tailEnd type="triangle"/>
          </a:ln>
        </p:spPr>
      </p:sp>
      <p:sp>
        <p:nvSpPr>
          <p:cNvPr id="11" name="Shape 9"/>
          <p:cNvSpPr/>
          <p:nvPr/>
        </p:nvSpPr>
        <p:spPr>
          <a:xfrm>
            <a:off x="2642616" y="1371600"/>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12" name="Shape 10"/>
          <p:cNvSpPr/>
          <p:nvPr/>
        </p:nvSpPr>
        <p:spPr>
          <a:xfrm>
            <a:off x="2770632" y="1499616"/>
            <a:ext cx="329184" cy="329184"/>
          </a:xfrm>
          <a:prstGeom prst="ellipse">
            <a:avLst/>
          </a:prstGeom>
          <a:solidFill>
            <a:srgbClr val="C4622D"/>
          </a:solidFill>
          <a:ln/>
        </p:spPr>
      </p:sp>
      <p:sp>
        <p:nvSpPr>
          <p:cNvPr id="13" name="Text 11"/>
          <p:cNvSpPr/>
          <p:nvPr/>
        </p:nvSpPr>
        <p:spPr>
          <a:xfrm>
            <a:off x="2770632"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3172968" y="1499616"/>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Parser</a:t>
            </a:r>
            <a:endParaRPr lang="en-US" sz="1350" dirty="0"/>
          </a:p>
        </p:txBody>
      </p:sp>
      <p:sp>
        <p:nvSpPr>
          <p:cNvPr id="15" name="Text 13"/>
          <p:cNvSpPr/>
          <p:nvPr/>
        </p:nvSpPr>
        <p:spPr>
          <a:xfrm>
            <a:off x="2788920" y="1920240"/>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LALR tables +</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recursive descent</a:t>
            </a:r>
            <a:endParaRPr lang="en-US" sz="1050" dirty="0"/>
          </a:p>
        </p:txBody>
      </p:sp>
      <p:sp>
        <p:nvSpPr>
          <p:cNvPr id="16" name="Shape 14"/>
          <p:cNvSpPr/>
          <p:nvPr/>
        </p:nvSpPr>
        <p:spPr>
          <a:xfrm>
            <a:off x="4526280" y="2057400"/>
            <a:ext cx="256032" cy="0"/>
          </a:xfrm>
          <a:prstGeom prst="line">
            <a:avLst/>
          </a:prstGeom>
          <a:noFill/>
          <a:ln w="19050">
            <a:solidFill>
              <a:srgbClr val="C4622D"/>
            </a:solidFill>
            <a:prstDash val="solid"/>
            <a:tailEnd type="triangle"/>
          </a:ln>
        </p:spPr>
      </p:sp>
      <p:sp>
        <p:nvSpPr>
          <p:cNvPr id="17" name="Shape 15"/>
          <p:cNvSpPr/>
          <p:nvPr/>
        </p:nvSpPr>
        <p:spPr>
          <a:xfrm>
            <a:off x="4782312" y="1371600"/>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18" name="Shape 16"/>
          <p:cNvSpPr/>
          <p:nvPr/>
        </p:nvSpPr>
        <p:spPr>
          <a:xfrm>
            <a:off x="4910328" y="1499616"/>
            <a:ext cx="329184" cy="329184"/>
          </a:xfrm>
          <a:prstGeom prst="ellipse">
            <a:avLst/>
          </a:prstGeom>
          <a:solidFill>
            <a:srgbClr val="C4622D"/>
          </a:solidFill>
          <a:ln/>
        </p:spPr>
      </p:sp>
      <p:sp>
        <p:nvSpPr>
          <p:cNvPr id="19" name="Text 17"/>
          <p:cNvSpPr/>
          <p:nvPr/>
        </p:nvSpPr>
        <p:spPr>
          <a:xfrm>
            <a:off x="4910328"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5312664" y="1499616"/>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Semantics</a:t>
            </a:r>
            <a:endParaRPr lang="en-US" sz="1350" dirty="0"/>
          </a:p>
        </p:txBody>
      </p:sp>
      <p:sp>
        <p:nvSpPr>
          <p:cNvPr id="21" name="Text 19"/>
          <p:cNvSpPr/>
          <p:nvPr/>
        </p:nvSpPr>
        <p:spPr>
          <a:xfrm>
            <a:off x="4928616" y="1920240"/>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symbol table,</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types as an SDD</a:t>
            </a:r>
            <a:endParaRPr lang="en-US" sz="1050" dirty="0"/>
          </a:p>
        </p:txBody>
      </p:sp>
      <p:sp>
        <p:nvSpPr>
          <p:cNvPr id="22" name="Shape 20"/>
          <p:cNvSpPr/>
          <p:nvPr/>
        </p:nvSpPr>
        <p:spPr>
          <a:xfrm>
            <a:off x="6665976" y="2057400"/>
            <a:ext cx="256032" cy="0"/>
          </a:xfrm>
          <a:prstGeom prst="line">
            <a:avLst/>
          </a:prstGeom>
          <a:noFill/>
          <a:ln w="19050">
            <a:solidFill>
              <a:srgbClr val="C4622D"/>
            </a:solidFill>
            <a:prstDash val="solid"/>
            <a:tailEnd type="triangle"/>
          </a:ln>
        </p:spPr>
      </p:sp>
      <p:sp>
        <p:nvSpPr>
          <p:cNvPr id="23" name="Shape 21"/>
          <p:cNvSpPr/>
          <p:nvPr/>
        </p:nvSpPr>
        <p:spPr>
          <a:xfrm>
            <a:off x="6922008" y="1371600"/>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24" name="Shape 22"/>
          <p:cNvSpPr/>
          <p:nvPr/>
        </p:nvSpPr>
        <p:spPr>
          <a:xfrm>
            <a:off x="7050024" y="1499616"/>
            <a:ext cx="329184" cy="329184"/>
          </a:xfrm>
          <a:prstGeom prst="ellipse">
            <a:avLst/>
          </a:prstGeom>
          <a:solidFill>
            <a:srgbClr val="C4622D"/>
          </a:solidFill>
          <a:ln/>
        </p:spPr>
      </p:sp>
      <p:sp>
        <p:nvSpPr>
          <p:cNvPr id="25" name="Text 23"/>
          <p:cNvSpPr/>
          <p:nvPr/>
        </p:nvSpPr>
        <p:spPr>
          <a:xfrm>
            <a:off x="7050024" y="1499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p:nvPr/>
        </p:nvSpPr>
        <p:spPr>
          <a:xfrm>
            <a:off x="7452360" y="1499616"/>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Intermediate</a:t>
            </a:r>
            <a:endParaRPr lang="en-US" sz="1350" dirty="0"/>
          </a:p>
        </p:txBody>
      </p:sp>
      <p:sp>
        <p:nvSpPr>
          <p:cNvPr id="27" name="Text 25"/>
          <p:cNvSpPr/>
          <p:nvPr/>
        </p:nvSpPr>
        <p:spPr>
          <a:xfrm>
            <a:off x="7068312" y="1920240"/>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three-address code,</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backpatching</a:t>
            </a:r>
            <a:endParaRPr lang="en-US" sz="1050" dirty="0"/>
          </a:p>
        </p:txBody>
      </p:sp>
      <p:sp>
        <p:nvSpPr>
          <p:cNvPr id="28" name="Shape 26"/>
          <p:cNvSpPr/>
          <p:nvPr/>
        </p:nvSpPr>
        <p:spPr>
          <a:xfrm>
            <a:off x="502920" y="3035808"/>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29" name="Shape 27"/>
          <p:cNvSpPr/>
          <p:nvPr/>
        </p:nvSpPr>
        <p:spPr>
          <a:xfrm>
            <a:off x="630936" y="3163824"/>
            <a:ext cx="329184" cy="329184"/>
          </a:xfrm>
          <a:prstGeom prst="ellipse">
            <a:avLst/>
          </a:prstGeom>
          <a:solidFill>
            <a:srgbClr val="C4622D"/>
          </a:solidFill>
          <a:ln/>
        </p:spPr>
      </p:sp>
      <p:sp>
        <p:nvSpPr>
          <p:cNvPr id="30" name="Text 28"/>
          <p:cNvSpPr/>
          <p:nvPr/>
        </p:nvSpPr>
        <p:spPr>
          <a:xfrm>
            <a:off x="630936"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1" name="Text 29"/>
          <p:cNvSpPr/>
          <p:nvPr/>
        </p:nvSpPr>
        <p:spPr>
          <a:xfrm>
            <a:off x="1033272" y="3163824"/>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Optimiser</a:t>
            </a:r>
            <a:endParaRPr lang="en-US" sz="1350" dirty="0"/>
          </a:p>
        </p:txBody>
      </p:sp>
      <p:sp>
        <p:nvSpPr>
          <p:cNvPr id="32" name="Text 30"/>
          <p:cNvSpPr/>
          <p:nvPr/>
        </p:nvSpPr>
        <p:spPr>
          <a:xfrm>
            <a:off x="649224" y="3584448"/>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flow graph, DAG,</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8 passes</a:t>
            </a:r>
            <a:endParaRPr lang="en-US" sz="1050" dirty="0"/>
          </a:p>
        </p:txBody>
      </p:sp>
      <p:sp>
        <p:nvSpPr>
          <p:cNvPr id="33" name="Shape 31"/>
          <p:cNvSpPr/>
          <p:nvPr/>
        </p:nvSpPr>
        <p:spPr>
          <a:xfrm>
            <a:off x="2386584" y="3721608"/>
            <a:ext cx="256032" cy="0"/>
          </a:xfrm>
          <a:prstGeom prst="line">
            <a:avLst/>
          </a:prstGeom>
          <a:noFill/>
          <a:ln w="19050">
            <a:solidFill>
              <a:srgbClr val="C4622D"/>
            </a:solidFill>
            <a:prstDash val="solid"/>
            <a:tailEnd type="triangle"/>
          </a:ln>
        </p:spPr>
      </p:sp>
      <p:sp>
        <p:nvSpPr>
          <p:cNvPr id="34" name="Shape 32"/>
          <p:cNvSpPr/>
          <p:nvPr/>
        </p:nvSpPr>
        <p:spPr>
          <a:xfrm>
            <a:off x="2642616" y="3035808"/>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35" name="Shape 33"/>
          <p:cNvSpPr/>
          <p:nvPr/>
        </p:nvSpPr>
        <p:spPr>
          <a:xfrm>
            <a:off x="2770632" y="3163824"/>
            <a:ext cx="329184" cy="329184"/>
          </a:xfrm>
          <a:prstGeom prst="ellipse">
            <a:avLst/>
          </a:prstGeom>
          <a:solidFill>
            <a:srgbClr val="C4622D"/>
          </a:solidFill>
          <a:ln/>
        </p:spPr>
      </p:sp>
      <p:sp>
        <p:nvSpPr>
          <p:cNvPr id="36" name="Text 34"/>
          <p:cNvSpPr/>
          <p:nvPr/>
        </p:nvSpPr>
        <p:spPr>
          <a:xfrm>
            <a:off x="2770632"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7" name="Text 35"/>
          <p:cNvSpPr/>
          <p:nvPr/>
        </p:nvSpPr>
        <p:spPr>
          <a:xfrm>
            <a:off x="3172968" y="3163824"/>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Code gen</a:t>
            </a:r>
            <a:endParaRPr lang="en-US" sz="1350" dirty="0"/>
          </a:p>
        </p:txBody>
      </p:sp>
      <p:sp>
        <p:nvSpPr>
          <p:cNvPr id="38" name="Text 36"/>
          <p:cNvSpPr/>
          <p:nvPr/>
        </p:nvSpPr>
        <p:spPr>
          <a:xfrm>
            <a:off x="2788920" y="3584448"/>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next use, registers,</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frames</a:t>
            </a:r>
            <a:endParaRPr lang="en-US" sz="1050" dirty="0"/>
          </a:p>
        </p:txBody>
      </p:sp>
      <p:sp>
        <p:nvSpPr>
          <p:cNvPr id="39" name="Shape 37"/>
          <p:cNvSpPr/>
          <p:nvPr/>
        </p:nvSpPr>
        <p:spPr>
          <a:xfrm>
            <a:off x="4526280" y="3721608"/>
            <a:ext cx="256032" cy="0"/>
          </a:xfrm>
          <a:prstGeom prst="line">
            <a:avLst/>
          </a:prstGeom>
          <a:noFill/>
          <a:ln w="19050">
            <a:solidFill>
              <a:srgbClr val="C4622D"/>
            </a:solidFill>
            <a:prstDash val="solid"/>
            <a:tailEnd type="triangle"/>
          </a:ln>
        </p:spPr>
      </p:sp>
      <p:sp>
        <p:nvSpPr>
          <p:cNvPr id="40" name="Shape 38"/>
          <p:cNvSpPr/>
          <p:nvPr/>
        </p:nvSpPr>
        <p:spPr>
          <a:xfrm>
            <a:off x="4782312" y="3035808"/>
            <a:ext cx="1883664"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41" name="Shape 39"/>
          <p:cNvSpPr/>
          <p:nvPr/>
        </p:nvSpPr>
        <p:spPr>
          <a:xfrm>
            <a:off x="4910328" y="3163824"/>
            <a:ext cx="329184" cy="329184"/>
          </a:xfrm>
          <a:prstGeom prst="ellipse">
            <a:avLst/>
          </a:prstGeom>
          <a:solidFill>
            <a:srgbClr val="C4622D"/>
          </a:solidFill>
          <a:ln/>
        </p:spPr>
      </p:sp>
      <p:sp>
        <p:nvSpPr>
          <p:cNvPr id="42" name="Text 40"/>
          <p:cNvSpPr/>
          <p:nvPr/>
        </p:nvSpPr>
        <p:spPr>
          <a:xfrm>
            <a:off x="4910328"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43" name="Text 41"/>
          <p:cNvSpPr/>
          <p:nvPr/>
        </p:nvSpPr>
        <p:spPr>
          <a:xfrm>
            <a:off x="5312664" y="3163824"/>
            <a:ext cx="1280160" cy="329184"/>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SSA</a:t>
            </a:r>
            <a:endParaRPr lang="en-US" sz="1350" dirty="0"/>
          </a:p>
        </p:txBody>
      </p:sp>
      <p:sp>
        <p:nvSpPr>
          <p:cNvPr id="44" name="Text 42"/>
          <p:cNvSpPr/>
          <p:nvPr/>
        </p:nvSpPr>
        <p:spPr>
          <a:xfrm>
            <a:off x="4928616" y="3584448"/>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phi functions,</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dependence tests</a:t>
            </a:r>
            <a:endParaRPr lang="en-US" sz="1050" dirty="0"/>
          </a:p>
        </p:txBody>
      </p:sp>
      <p:sp>
        <p:nvSpPr>
          <p:cNvPr id="45" name="Shape 43"/>
          <p:cNvSpPr/>
          <p:nvPr/>
        </p:nvSpPr>
        <p:spPr>
          <a:xfrm>
            <a:off x="6665976" y="3721608"/>
            <a:ext cx="256032" cy="0"/>
          </a:xfrm>
          <a:prstGeom prst="line">
            <a:avLst/>
          </a:prstGeom>
          <a:noFill/>
          <a:ln w="19050">
            <a:solidFill>
              <a:srgbClr val="C4622D"/>
            </a:solidFill>
            <a:prstDash val="solid"/>
            <a:tailEnd type="triangle"/>
          </a:ln>
        </p:spPr>
      </p:sp>
      <p:sp>
        <p:nvSpPr>
          <p:cNvPr id="46" name="Shape 44"/>
          <p:cNvSpPr/>
          <p:nvPr/>
        </p:nvSpPr>
        <p:spPr>
          <a:xfrm>
            <a:off x="6922008" y="3035808"/>
            <a:ext cx="1883664" cy="1371600"/>
          </a:xfrm>
          <a:prstGeom prst="roundRect">
            <a:avLst>
              <a:gd name="adj" fmla="val 5333"/>
            </a:avLst>
          </a:prstGeom>
          <a:solidFill>
            <a:srgbClr val="E8F2EF"/>
          </a:solidFill>
          <a:ln/>
          <a:effectLst>
            <a:outerShdw sx="100000" sy="100000" kx="0" ky="0" algn="bl" rotWithShape="0" blurRad="101600" dist="25400" dir="5400000">
              <a:srgbClr val="9AACB8">
                <a:alpha val="35000"/>
              </a:srgbClr>
            </a:outerShdw>
          </a:effectLst>
        </p:spPr>
      </p:sp>
      <p:sp>
        <p:nvSpPr>
          <p:cNvPr id="47" name="Shape 45"/>
          <p:cNvSpPr/>
          <p:nvPr/>
        </p:nvSpPr>
        <p:spPr>
          <a:xfrm>
            <a:off x="7050024" y="3163824"/>
            <a:ext cx="329184" cy="329184"/>
          </a:xfrm>
          <a:prstGeom prst="ellipse">
            <a:avLst/>
          </a:prstGeom>
          <a:solidFill>
            <a:srgbClr val="0E7C66"/>
          </a:solidFill>
          <a:ln/>
        </p:spPr>
      </p:sp>
      <p:sp>
        <p:nvSpPr>
          <p:cNvPr id="48" name="Text 46"/>
          <p:cNvSpPr/>
          <p:nvPr/>
        </p:nvSpPr>
        <p:spPr>
          <a:xfrm>
            <a:off x="7050024"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9" name="Text 47"/>
          <p:cNvSpPr/>
          <p:nvPr/>
        </p:nvSpPr>
        <p:spPr>
          <a:xfrm>
            <a:off x="7452360" y="3163824"/>
            <a:ext cx="1280160" cy="329184"/>
          </a:xfrm>
          <a:prstGeom prst="rect">
            <a:avLst/>
          </a:prstGeom>
          <a:noFill/>
          <a:ln/>
        </p:spPr>
        <p:txBody>
          <a:bodyPr wrap="square" lIns="0" tIns="0" rIns="0" bIns="0" rtlCol="0" anchor="ctr"/>
          <a:lstStyle/>
          <a:p>
            <a:pPr indent="0" marL="0">
              <a:buNone/>
            </a:pPr>
            <a:r>
              <a:rPr lang="en-US" sz="1350" b="1" dirty="0">
                <a:solidFill>
                  <a:srgbClr val="0E7C66"/>
                </a:solidFill>
                <a:latin typeface="Cambria" pitchFamily="34" charset="0"/>
                <a:ea typeface="Cambria" pitchFamily="34" charset="-122"/>
                <a:cs typeface="Cambria" pitchFamily="34" charset="-120"/>
              </a:rPr>
              <a:t>Verifier</a:t>
            </a:r>
            <a:endParaRPr lang="en-US" sz="1350" dirty="0"/>
          </a:p>
        </p:txBody>
      </p:sp>
      <p:sp>
        <p:nvSpPr>
          <p:cNvPr id="50" name="Text 48"/>
          <p:cNvSpPr/>
          <p:nvPr/>
        </p:nvSpPr>
        <p:spPr>
          <a:xfrm>
            <a:off x="7068312" y="3584448"/>
            <a:ext cx="1627632" cy="713232"/>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prove it safe,</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then run it</a:t>
            </a:r>
            <a:endParaRPr lang="en-US" sz="1050" dirty="0"/>
          </a:p>
        </p:txBody>
      </p:sp>
      <p:sp>
        <p:nvSpPr>
          <p:cNvPr id="51" name="Shape 49"/>
          <p:cNvSpPr/>
          <p:nvPr/>
        </p:nvSpPr>
        <p:spPr>
          <a:xfrm>
            <a:off x="7754112" y="2743200"/>
            <a:ext cx="0" cy="146304"/>
          </a:xfrm>
          <a:prstGeom prst="line">
            <a:avLst/>
          </a:prstGeom>
          <a:noFill/>
          <a:ln w="19050">
            <a:solidFill>
              <a:srgbClr val="C4622D"/>
            </a:solidFill>
            <a:prstDash val="solid"/>
          </a:ln>
        </p:spPr>
      </p:sp>
      <p:sp>
        <p:nvSpPr>
          <p:cNvPr id="52" name="Shape 50"/>
          <p:cNvSpPr/>
          <p:nvPr/>
        </p:nvSpPr>
        <p:spPr>
          <a:xfrm>
            <a:off x="1444752" y="2889504"/>
            <a:ext cx="6309360" cy="0"/>
          </a:xfrm>
          <a:prstGeom prst="line">
            <a:avLst/>
          </a:prstGeom>
          <a:noFill/>
          <a:ln w="19050">
            <a:solidFill>
              <a:srgbClr val="C4622D"/>
            </a:solidFill>
            <a:prstDash val="dash"/>
          </a:ln>
        </p:spPr>
      </p:sp>
      <p:sp>
        <p:nvSpPr>
          <p:cNvPr id="53" name="Shape 51"/>
          <p:cNvSpPr/>
          <p:nvPr/>
        </p:nvSpPr>
        <p:spPr>
          <a:xfrm>
            <a:off x="1444752" y="2889504"/>
            <a:ext cx="0" cy="146304"/>
          </a:xfrm>
          <a:prstGeom prst="line">
            <a:avLst/>
          </a:prstGeom>
          <a:noFill/>
          <a:ln w="19050">
            <a:solidFill>
              <a:srgbClr val="C4622D"/>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The language we compile</a:t>
            </a:r>
            <a:endParaRPr lang="en-US" sz="3000" dirty="0"/>
          </a:p>
        </p:txBody>
      </p:sp>
      <p:sp>
        <p:nvSpPr>
          <p:cNvPr id="4" name="Text 2"/>
          <p:cNvSpPr/>
          <p:nvPr/>
        </p:nvSpPr>
        <p:spPr>
          <a:xfrm>
            <a:off x="502920" y="804672"/>
            <a:ext cx="8183880"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Deliberately not C-like: 'then', 'do' and 'end' instead of braces.</a:t>
            </a:r>
            <a:endParaRPr lang="en-US" sz="1350" dirty="0"/>
          </a:p>
        </p:txBody>
      </p:sp>
      <p:sp>
        <p:nvSpPr>
          <p:cNvPr id="5" name="Shape 3"/>
          <p:cNvSpPr/>
          <p:nvPr/>
        </p:nvSpPr>
        <p:spPr>
          <a:xfrm>
            <a:off x="502920" y="1280160"/>
            <a:ext cx="4572000" cy="3200400"/>
          </a:xfrm>
          <a:prstGeom prst="roundRect">
            <a:avLst>
              <a:gd name="adj" fmla="val 2286"/>
            </a:avLst>
          </a:prstGeom>
          <a:solidFill>
            <a:srgbClr val="0F2233"/>
          </a:solidFill>
          <a:ln/>
        </p:spPr>
      </p:sp>
      <p:sp>
        <p:nvSpPr>
          <p:cNvPr id="6" name="Text 4"/>
          <p:cNvSpPr/>
          <p:nvPr/>
        </p:nvSpPr>
        <p:spPr>
          <a:xfrm>
            <a:off x="649224" y="1353312"/>
            <a:ext cx="427939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EXAMPLES/02_FIBONACCI.NOVA</a:t>
            </a:r>
            <a:endParaRPr lang="en-US" sz="950" dirty="0"/>
          </a:p>
        </p:txBody>
      </p:sp>
      <p:sp>
        <p:nvSpPr>
          <p:cNvPr id="7" name="Text 5"/>
          <p:cNvSpPr/>
          <p:nvPr/>
        </p:nvSpPr>
        <p:spPr>
          <a:xfrm>
            <a:off x="649224" y="1591056"/>
            <a:ext cx="4279392" cy="2779776"/>
          </a:xfrm>
          <a:prstGeom prst="rect">
            <a:avLst/>
          </a:prstGeom>
          <a:noFill/>
          <a:ln/>
        </p:spPr>
        <p:txBody>
          <a:bodyPr wrap="square" lIns="0" tIns="0" rIns="0" bIns="0" rtlCol="0" anchor="t"/>
          <a:lstStyle/>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func fib(n)</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if n &lt; 2 then return n; end</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return fib(n - 1) + fib(n - 2);</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end</a:t>
            </a:r>
            <a:endParaRPr lang="en-US" sz="1050" dirty="0"/>
          </a:p>
          <a:p>
            <a:pPr indent="0" marL="0">
              <a:lnSpc>
                <a:spcPts val="1418"/>
              </a:lnSpc>
              <a:buNone/>
            </a:pP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let total = 0;</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let i = 0;</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while i &lt; 10 do</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total = total + fib(i);</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i = i + 1;</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end</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print total;</a:t>
            </a:r>
            <a:endParaRPr lang="en-US" sz="1050" dirty="0"/>
          </a:p>
          <a:p>
            <a:pPr indent="0" marL="0">
              <a:lnSpc>
                <a:spcPts val="1418"/>
              </a:lnSpc>
              <a:buNone/>
            </a:pP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case total of</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when 0:  print "zero";</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when 88: print "eighty-eight";</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    otherwise print "other";</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end</a:t>
            </a:r>
            <a:endParaRPr lang="en-US" sz="1050" dirty="0"/>
          </a:p>
        </p:txBody>
      </p:sp>
      <p:sp>
        <p:nvSpPr>
          <p:cNvPr id="8" name="Shape 6"/>
          <p:cNvSpPr/>
          <p:nvPr/>
        </p:nvSpPr>
        <p:spPr>
          <a:xfrm>
            <a:off x="5349240" y="1280160"/>
            <a:ext cx="3291840" cy="1417320"/>
          </a:xfrm>
          <a:prstGeom prst="roundRect">
            <a:avLst>
              <a:gd name="adj" fmla="val 5161"/>
            </a:avLst>
          </a:prstGeom>
          <a:solidFill>
            <a:srgbClr val="EEF3F6"/>
          </a:solidFill>
          <a:ln/>
          <a:effectLst>
            <a:outerShdw sx="100000" sy="100000" kx="0" ky="0" algn="bl" rotWithShape="0" blurRad="101600" dist="25400" dir="5400000">
              <a:srgbClr val="9AACB8">
                <a:alpha val="35000"/>
              </a:srgbClr>
            </a:outerShdw>
          </a:effectLst>
        </p:spPr>
      </p:sp>
      <p:sp>
        <p:nvSpPr>
          <p:cNvPr id="9" name="Text 7"/>
          <p:cNvSpPr/>
          <p:nvPr/>
        </p:nvSpPr>
        <p:spPr>
          <a:xfrm>
            <a:off x="5532120" y="1389888"/>
            <a:ext cx="292608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What it has</a:t>
            </a:r>
            <a:endParaRPr lang="en-US" sz="1300" dirty="0"/>
          </a:p>
        </p:txBody>
      </p:sp>
      <p:sp>
        <p:nvSpPr>
          <p:cNvPr id="10" name="Text 8"/>
          <p:cNvSpPr/>
          <p:nvPr/>
        </p:nvSpPr>
        <p:spPr>
          <a:xfrm>
            <a:off x="5532120" y="1691640"/>
            <a:ext cx="2971800" cy="9601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recursion, nested scopes, shadowing</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int / str / bool, inferred and checked</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case -&gt; a real jump table, not an if-chain</a:t>
            </a:r>
            <a:endParaRPr lang="en-US" sz="1050" dirty="0"/>
          </a:p>
        </p:txBody>
      </p:sp>
      <p:sp>
        <p:nvSpPr>
          <p:cNvPr id="11" name="Shape 9"/>
          <p:cNvSpPr/>
          <p:nvPr/>
        </p:nvSpPr>
        <p:spPr>
          <a:xfrm>
            <a:off x="5349240" y="2834640"/>
            <a:ext cx="3291840" cy="1645920"/>
          </a:xfrm>
          <a:prstGeom prst="roundRect">
            <a:avLst>
              <a:gd name="adj" fmla="val 4444"/>
            </a:avLst>
          </a:prstGeom>
          <a:solidFill>
            <a:srgbClr val="E8F2EF"/>
          </a:solidFill>
          <a:ln/>
          <a:effectLst>
            <a:outerShdw sx="100000" sy="100000" kx="0" ky="0" algn="bl" rotWithShape="0" blurRad="101600" dist="25400" dir="5400000">
              <a:srgbClr val="9AACB8">
                <a:alpha val="35000"/>
              </a:srgbClr>
            </a:outerShdw>
          </a:effectLst>
        </p:spPr>
      </p:sp>
      <p:sp>
        <p:nvSpPr>
          <p:cNvPr id="12" name="Text 10"/>
          <p:cNvSpPr/>
          <p:nvPr/>
        </p:nvSpPr>
        <p:spPr>
          <a:xfrm>
            <a:off x="5532120" y="2944368"/>
            <a:ext cx="2926080" cy="274320"/>
          </a:xfrm>
          <a:prstGeom prst="rect">
            <a:avLst/>
          </a:prstGeom>
          <a:noFill/>
          <a:ln/>
        </p:spPr>
        <p:txBody>
          <a:bodyPr wrap="square" lIns="0" tIns="0" rIns="0" bIns="0" rtlCol="0" anchor="ctr"/>
          <a:lstStyle/>
          <a:p>
            <a:pPr indent="0" marL="0">
              <a:buNone/>
            </a:pPr>
            <a:r>
              <a:rPr lang="en-US" sz="1300" b="1" dirty="0">
                <a:solidFill>
                  <a:srgbClr val="0E7C66"/>
                </a:solidFill>
                <a:latin typeface="Cambria" pitchFamily="34" charset="0"/>
                <a:ea typeface="Cambria" pitchFamily="34" charset="-122"/>
                <a:cs typeface="Cambria" pitchFamily="34" charset="-120"/>
              </a:rPr>
              <a:t>It really runs</a:t>
            </a:r>
            <a:endParaRPr lang="en-US" sz="1300" dirty="0"/>
          </a:p>
        </p:txBody>
      </p:sp>
      <p:sp>
        <p:nvSpPr>
          <p:cNvPr id="13" name="Text 11"/>
          <p:cNvSpPr/>
          <p:nvPr/>
        </p:nvSpPr>
        <p:spPr>
          <a:xfrm>
            <a:off x="5532120" y="3246120"/>
            <a:ext cx="2926080" cy="640080"/>
          </a:xfrm>
          <a:prstGeom prst="rect">
            <a:avLst/>
          </a:prstGeom>
          <a:noFill/>
          <a:ln/>
        </p:spPr>
        <p:txBody>
          <a:bodyPr wrap="square" lIns="0" tIns="0" rIns="0" bIns="0" rtlCol="0" anchor="ctr"/>
          <a:lstStyle/>
          <a:p>
            <a:pPr indent="0" marL="0">
              <a:lnSpc>
                <a:spcPts val="2000"/>
              </a:lnSpc>
              <a:buNone/>
            </a:pPr>
            <a:r>
              <a:rPr lang="en-US" sz="1500" dirty="0">
                <a:solidFill>
                  <a:srgbClr val="0F2233"/>
                </a:solidFill>
                <a:latin typeface="Courier New" pitchFamily="34" charset="0"/>
                <a:ea typeface="Courier New" pitchFamily="34" charset="-122"/>
                <a:cs typeface="Courier New" pitchFamily="34" charset="-120"/>
              </a:rPr>
              <a:t>88</a:t>
            </a:r>
            <a:endParaRPr lang="en-US" sz="1500" dirty="0"/>
          </a:p>
          <a:p>
            <a:pPr indent="0" marL="0">
              <a:lnSpc>
                <a:spcPts val="2000"/>
              </a:lnSpc>
              <a:buNone/>
            </a:pPr>
            <a:r>
              <a:rPr lang="en-US" sz="1500" dirty="0">
                <a:solidFill>
                  <a:srgbClr val="0F2233"/>
                </a:solidFill>
                <a:latin typeface="Courier New" pitchFamily="34" charset="0"/>
                <a:ea typeface="Courier New" pitchFamily="34" charset="-122"/>
                <a:cs typeface="Courier New" pitchFamily="34" charset="-120"/>
              </a:rPr>
              <a:t>eighty-eight</a:t>
            </a:r>
            <a:endParaRPr lang="en-US" sz="1500" dirty="0"/>
          </a:p>
        </p:txBody>
      </p:sp>
      <p:sp>
        <p:nvSpPr>
          <p:cNvPr id="14" name="Text 12"/>
          <p:cNvSpPr/>
          <p:nvPr/>
        </p:nvSpPr>
        <p:spPr>
          <a:xfrm>
            <a:off x="5532120" y="3886200"/>
            <a:ext cx="2926080" cy="50292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4,074 bytecode instructions executed,</a:t>
            </a:r>
            <a:endParaRPr lang="en-US" sz="1050" dirty="0"/>
          </a:p>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10 activation records deep at the bottom of the recursion.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5</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Scanning: regular expressions become one DFA</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The direct method - firstpos, lastpos and followpos. No NFA is ever built.</a:t>
            </a:r>
            <a:endParaRPr lang="en-US" sz="1350" dirty="0"/>
          </a:p>
        </p:txBody>
      </p:sp>
      <p:sp>
        <p:nvSpPr>
          <p:cNvPr id="7" name="Shape 5"/>
          <p:cNvSpPr/>
          <p:nvPr/>
        </p:nvSpPr>
        <p:spPr>
          <a:xfrm>
            <a:off x="502920" y="1417320"/>
            <a:ext cx="3977640" cy="1325880"/>
          </a:xfrm>
          <a:prstGeom prst="roundRect">
            <a:avLst>
              <a:gd name="adj" fmla="val 5517"/>
            </a:avLst>
          </a:prstGeom>
          <a:solidFill>
            <a:srgbClr val="0F2233"/>
          </a:solidFill>
          <a:ln/>
        </p:spPr>
      </p:sp>
      <p:sp>
        <p:nvSpPr>
          <p:cNvPr id="8" name="Text 6"/>
          <p:cNvSpPr/>
          <p:nvPr/>
        </p:nvSpPr>
        <p:spPr>
          <a:xfrm>
            <a:off x="649224" y="1490472"/>
            <a:ext cx="36850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TOKEN SPECIFICATIONS</a:t>
            </a:r>
            <a:endParaRPr lang="en-US" sz="950" dirty="0"/>
          </a:p>
        </p:txBody>
      </p:sp>
      <p:sp>
        <p:nvSpPr>
          <p:cNvPr id="9" name="Text 7"/>
          <p:cNvSpPr/>
          <p:nvPr/>
        </p:nvSpPr>
        <p:spPr>
          <a:xfrm>
            <a:off x="649224" y="1728216"/>
            <a:ext cx="3685032" cy="905256"/>
          </a:xfrm>
          <a:prstGeom prst="rect">
            <a:avLst/>
          </a:prstGeom>
          <a:noFill/>
          <a:ln/>
        </p:spPr>
        <p:txBody>
          <a:bodyPr wrap="square" lIns="0" tIns="0" rIns="0" bIns="0" rtlCol="0" anchor="t"/>
          <a:lstStyle/>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NUMBER   [0-9]+</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IDENT    [A-Za-z_][A-Za-z0-9_]*</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STRING   "[^"]*"</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LE       &lt;=          WHILE   while</a:t>
            </a:r>
            <a:endParaRPr lang="en-US" sz="1050" dirty="0"/>
          </a:p>
        </p:txBody>
      </p:sp>
      <p:sp>
        <p:nvSpPr>
          <p:cNvPr id="10" name="Shape 8"/>
          <p:cNvSpPr/>
          <p:nvPr/>
        </p:nvSpPr>
        <p:spPr>
          <a:xfrm>
            <a:off x="2468880" y="2788920"/>
            <a:ext cx="0" cy="274320"/>
          </a:xfrm>
          <a:prstGeom prst="line">
            <a:avLst/>
          </a:prstGeom>
          <a:noFill/>
          <a:ln w="19050">
            <a:solidFill>
              <a:srgbClr val="C4622D"/>
            </a:solidFill>
            <a:prstDash val="solid"/>
            <a:tailEnd type="triangle"/>
          </a:ln>
        </p:spPr>
      </p:sp>
      <p:sp>
        <p:nvSpPr>
          <p:cNvPr id="11" name="Text 9"/>
          <p:cNvSpPr/>
          <p:nvPr/>
        </p:nvSpPr>
        <p:spPr>
          <a:xfrm>
            <a:off x="502920" y="3017520"/>
            <a:ext cx="3977640" cy="256032"/>
          </a:xfrm>
          <a:prstGeom prst="rect">
            <a:avLst/>
          </a:prstGeom>
          <a:noFill/>
          <a:ln/>
        </p:spPr>
        <p:txBody>
          <a:bodyPr wrap="square" lIns="0" tIns="0" rIns="0" bIns="0" rtlCol="0" anchor="ctr"/>
          <a:lstStyle/>
          <a:p>
            <a:pPr algn="ctr" indent="0" marL="0">
              <a:buNone/>
            </a:pPr>
            <a:r>
              <a:rPr lang="en-US" sz="1000" i="1" dirty="0">
                <a:solidFill>
                  <a:srgbClr val="5D6B7A"/>
                </a:solidFill>
                <a:latin typeface="Calibri" pitchFamily="34" charset="0"/>
                <a:ea typeface="Calibri" pitchFamily="34" charset="-122"/>
                <a:cs typeface="Calibri" pitchFamily="34" charset="-120"/>
              </a:rPr>
              <a:t>combine with |,  annotate positions,  compute followpos</a:t>
            </a:r>
            <a:endParaRPr lang="en-US" sz="1000" dirty="0"/>
          </a:p>
        </p:txBody>
      </p:sp>
      <p:sp>
        <p:nvSpPr>
          <p:cNvPr id="12" name="Shape 10"/>
          <p:cNvSpPr/>
          <p:nvPr/>
        </p:nvSpPr>
        <p:spPr>
          <a:xfrm>
            <a:off x="502920" y="3291840"/>
            <a:ext cx="3977640" cy="1188720"/>
          </a:xfrm>
          <a:prstGeom prst="roundRect">
            <a:avLst>
              <a:gd name="adj" fmla="val 6154"/>
            </a:avLst>
          </a:prstGeom>
          <a:solidFill>
            <a:srgbClr val="0F2233"/>
          </a:solidFill>
          <a:ln/>
        </p:spPr>
      </p:sp>
      <p:sp>
        <p:nvSpPr>
          <p:cNvPr id="13" name="Text 11"/>
          <p:cNvSpPr/>
          <p:nvPr/>
        </p:nvSpPr>
        <p:spPr>
          <a:xfrm>
            <a:off x="649224" y="3364992"/>
            <a:ext cx="36850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followpos, THE HEART OF THE METHOD</a:t>
            </a:r>
            <a:endParaRPr lang="en-US" sz="950" dirty="0"/>
          </a:p>
        </p:txBody>
      </p:sp>
      <p:sp>
        <p:nvSpPr>
          <p:cNvPr id="14" name="Text 12"/>
          <p:cNvSpPr/>
          <p:nvPr/>
        </p:nvSpPr>
        <p:spPr>
          <a:xfrm>
            <a:off x="649224" y="3602736"/>
            <a:ext cx="3685032" cy="768096"/>
          </a:xfrm>
          <a:prstGeom prst="rect">
            <a:avLst/>
          </a:prstGeom>
          <a:noFill/>
          <a:ln/>
        </p:spPr>
        <p:txBody>
          <a:bodyPr wrap="square" lIns="0" tIns="0" rIns="0" bIns="0" rtlCol="0" anchor="t"/>
          <a:lstStyle/>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pos 1  a   -&gt;  {1, 2, 3}</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pos 2  b   -&gt;  {1, 2, 3}</a:t>
            </a:r>
            <a:endParaRPr lang="en-US" sz="1050" dirty="0"/>
          </a:p>
          <a:p>
            <a:pPr indent="0" marL="0">
              <a:lnSpc>
                <a:spcPts val="1418"/>
              </a:lnSpc>
              <a:buNone/>
            </a:pPr>
            <a:r>
              <a:rPr lang="en-US" sz="1050" dirty="0">
                <a:solidFill>
                  <a:srgbClr val="DCE7EE"/>
                </a:solidFill>
                <a:latin typeface="Courier New" pitchFamily="34" charset="0"/>
                <a:ea typeface="Courier New" pitchFamily="34" charset="-122"/>
                <a:cs typeface="Courier New" pitchFamily="34" charset="-120"/>
              </a:rPr>
              <a:t>pos 3  a   -&gt;  {4}</a:t>
            </a:r>
            <a:endParaRPr lang="en-US" sz="1050" dirty="0"/>
          </a:p>
        </p:txBody>
      </p:sp>
      <p:sp>
        <p:nvSpPr>
          <p:cNvPr id="15" name="Shape 13"/>
          <p:cNvSpPr/>
          <p:nvPr/>
        </p:nvSpPr>
        <p:spPr>
          <a:xfrm>
            <a:off x="4754880" y="1417320"/>
            <a:ext cx="3886200" cy="3063240"/>
          </a:xfrm>
          <a:prstGeom prst="roundRect">
            <a:avLst>
              <a:gd name="adj" fmla="val 2388"/>
            </a:avLst>
          </a:prstGeom>
          <a:solidFill>
            <a:srgbClr val="EEF3F6"/>
          </a:solidFill>
          <a:ln/>
          <a:effectLst>
            <a:outerShdw sx="100000" sy="100000" kx="0" ky="0" algn="bl" rotWithShape="0" blurRad="101600" dist="25400" dir="5400000">
              <a:srgbClr val="9AACB8">
                <a:alpha val="35000"/>
              </a:srgbClr>
            </a:outerShdw>
          </a:effectLst>
        </p:spPr>
      </p:sp>
      <p:sp>
        <p:nvSpPr>
          <p:cNvPr id="16" name="Text 14"/>
          <p:cNvSpPr/>
          <p:nvPr/>
        </p:nvSpPr>
        <p:spPr>
          <a:xfrm>
            <a:off x="4983480" y="1554480"/>
            <a:ext cx="3474720" cy="292608"/>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Measured on the real scanner</a:t>
            </a:r>
            <a:endParaRPr lang="en-US" sz="1300" dirty="0"/>
          </a:p>
        </p:txBody>
      </p:sp>
      <p:sp>
        <p:nvSpPr>
          <p:cNvPr id="17" name="Text 15"/>
          <p:cNvSpPr/>
          <p:nvPr/>
        </p:nvSpPr>
        <p:spPr>
          <a:xfrm>
            <a:off x="4983480" y="1920240"/>
            <a:ext cx="1645920" cy="566928"/>
          </a:xfrm>
          <a:prstGeom prst="rect">
            <a:avLst/>
          </a:prstGeom>
          <a:noFill/>
          <a:ln/>
        </p:spPr>
        <p:txBody>
          <a:bodyPr wrap="square" lIns="0" tIns="0" rIns="0" bIns="0" rtlCol="0" anchor="ctr"/>
          <a:lstStyle/>
          <a:p>
            <a:pPr algn="l" indent="0" marL="0">
              <a:buNone/>
            </a:pPr>
            <a:r>
              <a:rPr lang="en-US" sz="4000" b="1" dirty="0">
                <a:solidFill>
                  <a:srgbClr val="C4622D"/>
                </a:solidFill>
                <a:latin typeface="Cambria" pitchFamily="34" charset="0"/>
                <a:ea typeface="Cambria" pitchFamily="34" charset="-122"/>
                <a:cs typeface="Cambria" pitchFamily="34" charset="-120"/>
              </a:rPr>
              <a:t>41</a:t>
            </a:r>
            <a:endParaRPr lang="en-US" sz="4000" dirty="0"/>
          </a:p>
        </p:txBody>
      </p:sp>
      <p:sp>
        <p:nvSpPr>
          <p:cNvPr id="18" name="Text 16"/>
          <p:cNvSpPr/>
          <p:nvPr/>
        </p:nvSpPr>
        <p:spPr>
          <a:xfrm>
            <a:off x="4983480" y="2468880"/>
            <a:ext cx="1645920" cy="457200"/>
          </a:xfrm>
          <a:prstGeom prst="rect">
            <a:avLst/>
          </a:prstGeom>
          <a:noFill/>
          <a:ln/>
        </p:spPr>
        <p:txBody>
          <a:bodyPr wrap="square" lIns="0" tIns="0" rIns="0" bIns="0" rtlCol="0" anchor="ctr"/>
          <a:lstStyle/>
          <a:p>
            <a:pPr algn="l" indent="0" marL="0">
              <a:buNone/>
            </a:pPr>
            <a:r>
              <a:rPr lang="en-US" sz="1100" dirty="0">
                <a:solidFill>
                  <a:srgbClr val="5D6B7A"/>
                </a:solidFill>
                <a:latin typeface="Calibri" pitchFamily="34" charset="0"/>
                <a:ea typeface="Calibri" pitchFamily="34" charset="-122"/>
                <a:cs typeface="Calibri" pitchFamily="34" charset="-120"/>
              </a:rPr>
              <a:t>token patterns</a:t>
            </a:r>
            <a:endParaRPr lang="en-US" sz="1100" dirty="0"/>
          </a:p>
        </p:txBody>
      </p:sp>
      <p:sp>
        <p:nvSpPr>
          <p:cNvPr id="19" name="Text 17"/>
          <p:cNvSpPr/>
          <p:nvPr/>
        </p:nvSpPr>
        <p:spPr>
          <a:xfrm>
            <a:off x="6858000" y="1920240"/>
            <a:ext cx="1645920" cy="566928"/>
          </a:xfrm>
          <a:prstGeom prst="rect">
            <a:avLst/>
          </a:prstGeom>
          <a:noFill/>
          <a:ln/>
        </p:spPr>
        <p:txBody>
          <a:bodyPr wrap="square" lIns="0" tIns="0" rIns="0" bIns="0" rtlCol="0" anchor="ctr"/>
          <a:lstStyle/>
          <a:p>
            <a:pPr algn="l" indent="0" marL="0">
              <a:buNone/>
            </a:pPr>
            <a:r>
              <a:rPr lang="en-US" sz="4000" b="1" dirty="0">
                <a:solidFill>
                  <a:srgbClr val="C4622D"/>
                </a:solidFill>
                <a:latin typeface="Cambria" pitchFamily="34" charset="0"/>
                <a:ea typeface="Cambria" pitchFamily="34" charset="-122"/>
                <a:cs typeface="Cambria" pitchFamily="34" charset="-120"/>
              </a:rPr>
              <a:t>147</a:t>
            </a:r>
            <a:endParaRPr lang="en-US" sz="4000" dirty="0"/>
          </a:p>
        </p:txBody>
      </p:sp>
      <p:sp>
        <p:nvSpPr>
          <p:cNvPr id="20" name="Text 18"/>
          <p:cNvSpPr/>
          <p:nvPr/>
        </p:nvSpPr>
        <p:spPr>
          <a:xfrm>
            <a:off x="6858000" y="2468880"/>
            <a:ext cx="1645920" cy="457200"/>
          </a:xfrm>
          <a:prstGeom prst="rect">
            <a:avLst/>
          </a:prstGeom>
          <a:noFill/>
          <a:ln/>
        </p:spPr>
        <p:txBody>
          <a:bodyPr wrap="square" lIns="0" tIns="0" rIns="0" bIns="0" rtlCol="0" anchor="ctr"/>
          <a:lstStyle/>
          <a:p>
            <a:pPr algn="l" indent="0" marL="0">
              <a:buNone/>
            </a:pPr>
            <a:r>
              <a:rPr lang="en-US" sz="1100" dirty="0">
                <a:solidFill>
                  <a:srgbClr val="5D6B7A"/>
                </a:solidFill>
                <a:latin typeface="Calibri" pitchFamily="34" charset="0"/>
                <a:ea typeface="Calibri" pitchFamily="34" charset="-122"/>
                <a:cs typeface="Calibri" pitchFamily="34" charset="-120"/>
              </a:rPr>
              <a:t>leaf positions</a:t>
            </a:r>
            <a:endParaRPr lang="en-US" sz="1100" dirty="0"/>
          </a:p>
        </p:txBody>
      </p:sp>
      <p:sp>
        <p:nvSpPr>
          <p:cNvPr id="21" name="Text 19"/>
          <p:cNvSpPr/>
          <p:nvPr/>
        </p:nvSpPr>
        <p:spPr>
          <a:xfrm>
            <a:off x="4983480" y="2834640"/>
            <a:ext cx="1645920" cy="566928"/>
          </a:xfrm>
          <a:prstGeom prst="rect">
            <a:avLst/>
          </a:prstGeom>
          <a:noFill/>
          <a:ln/>
        </p:spPr>
        <p:txBody>
          <a:bodyPr wrap="square" lIns="0" tIns="0" rIns="0" bIns="0" rtlCol="0" anchor="ctr"/>
          <a:lstStyle/>
          <a:p>
            <a:pPr algn="l" indent="0" marL="0">
              <a:buNone/>
            </a:pPr>
            <a:r>
              <a:rPr lang="en-US" sz="4000" b="1" dirty="0">
                <a:solidFill>
                  <a:srgbClr val="C4622D"/>
                </a:solidFill>
                <a:latin typeface="Cambria" pitchFamily="34" charset="0"/>
                <a:ea typeface="Cambria" pitchFamily="34" charset="-122"/>
                <a:cs typeface="Cambria" pitchFamily="34" charset="-120"/>
              </a:rPr>
              <a:t>92</a:t>
            </a:r>
            <a:endParaRPr lang="en-US" sz="4000" dirty="0"/>
          </a:p>
        </p:txBody>
      </p:sp>
      <p:sp>
        <p:nvSpPr>
          <p:cNvPr id="22" name="Text 20"/>
          <p:cNvSpPr/>
          <p:nvPr/>
        </p:nvSpPr>
        <p:spPr>
          <a:xfrm>
            <a:off x="4983480" y="3383280"/>
            <a:ext cx="1645920" cy="457200"/>
          </a:xfrm>
          <a:prstGeom prst="rect">
            <a:avLst/>
          </a:prstGeom>
          <a:noFill/>
          <a:ln/>
        </p:spPr>
        <p:txBody>
          <a:bodyPr wrap="square" lIns="0" tIns="0" rIns="0" bIns="0" rtlCol="0" anchor="ctr"/>
          <a:lstStyle/>
          <a:p>
            <a:pPr algn="l" indent="0" marL="0">
              <a:buNone/>
            </a:pPr>
            <a:r>
              <a:rPr lang="en-US" sz="1100" dirty="0">
                <a:solidFill>
                  <a:srgbClr val="5D6B7A"/>
                </a:solidFill>
                <a:latin typeface="Calibri" pitchFamily="34" charset="0"/>
                <a:ea typeface="Calibri" pitchFamily="34" charset="-122"/>
                <a:cs typeface="Calibri" pitchFamily="34" charset="-120"/>
              </a:rPr>
              <a:t>DFA states</a:t>
            </a:r>
            <a:endParaRPr lang="en-US" sz="1100" dirty="0"/>
          </a:p>
        </p:txBody>
      </p:sp>
      <p:sp>
        <p:nvSpPr>
          <p:cNvPr id="23" name="Text 21"/>
          <p:cNvSpPr/>
          <p:nvPr/>
        </p:nvSpPr>
        <p:spPr>
          <a:xfrm>
            <a:off x="6858000" y="2834640"/>
            <a:ext cx="1645920" cy="566928"/>
          </a:xfrm>
          <a:prstGeom prst="rect">
            <a:avLst/>
          </a:prstGeom>
          <a:noFill/>
          <a:ln/>
        </p:spPr>
        <p:txBody>
          <a:bodyPr wrap="square" lIns="0" tIns="0" rIns="0" bIns="0" rtlCol="0" anchor="ctr"/>
          <a:lstStyle/>
          <a:p>
            <a:pPr algn="l" indent="0" marL="0">
              <a:buNone/>
            </a:pPr>
            <a:r>
              <a:rPr lang="en-US" sz="4000" b="1" dirty="0">
                <a:solidFill>
                  <a:srgbClr val="C4622D"/>
                </a:solidFill>
                <a:latin typeface="Cambria" pitchFamily="34" charset="0"/>
                <a:ea typeface="Cambria" pitchFamily="34" charset="-122"/>
                <a:cs typeface="Cambria" pitchFamily="34" charset="-120"/>
              </a:rPr>
              <a:t>37</a:t>
            </a:r>
            <a:endParaRPr lang="en-US" sz="4000" dirty="0"/>
          </a:p>
        </p:txBody>
      </p:sp>
      <p:sp>
        <p:nvSpPr>
          <p:cNvPr id="24" name="Text 22"/>
          <p:cNvSpPr/>
          <p:nvPr/>
        </p:nvSpPr>
        <p:spPr>
          <a:xfrm>
            <a:off x="6858000" y="3383280"/>
            <a:ext cx="1645920" cy="457200"/>
          </a:xfrm>
          <a:prstGeom prst="rect">
            <a:avLst/>
          </a:prstGeom>
          <a:noFill/>
          <a:ln/>
        </p:spPr>
        <p:txBody>
          <a:bodyPr wrap="square" lIns="0" tIns="0" rIns="0" bIns="0" rtlCol="0" anchor="ctr"/>
          <a:lstStyle/>
          <a:p>
            <a:pPr algn="l" indent="0" marL="0">
              <a:buNone/>
            </a:pPr>
            <a:r>
              <a:rPr lang="en-US" sz="1100" dirty="0">
                <a:solidFill>
                  <a:srgbClr val="5D6B7A"/>
                </a:solidFill>
                <a:latin typeface="Calibri" pitchFamily="34" charset="0"/>
                <a:ea typeface="Calibri" pitchFamily="34" charset="-122"/>
                <a:cs typeface="Calibri" pitchFamily="34" charset="-120"/>
              </a:rPr>
              <a:t>symbol classes</a:t>
            </a:r>
            <a:endParaRPr lang="en-US" sz="1100" dirty="0"/>
          </a:p>
        </p:txBody>
      </p:sp>
      <p:sp>
        <p:nvSpPr>
          <p:cNvPr id="25" name="Text 23"/>
          <p:cNvSpPr/>
          <p:nvPr/>
        </p:nvSpPr>
        <p:spPr>
          <a:xfrm>
            <a:off x="4983480" y="3657600"/>
            <a:ext cx="3474720" cy="7772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A state of the DFA is nothing more exotic than a set of positions in that tree. Equivalent states are then merged by partition refinement, and the scanner takes the longest match - which is why 'letter' is one identifier and not the keyword 'let' followed by 'ter'.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6</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Parsing: one grammar, four parsers</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58 productions. SLR, CLR and LALR tables are all built and compared.</a:t>
            </a:r>
            <a:endParaRPr lang="en-US" sz="1350" dirty="0"/>
          </a:p>
        </p:txBody>
      </p:sp>
      <p:graphicFrame>
        <p:nvGraphicFramePr>
          <p:cNvPr id="7" name="Chart 0" descr=""/>
          <p:cNvGraphicFramePr/>
          <p:nvPr/>
        </p:nvGraphicFramePr>
        <p:xfrm>
          <a:off x="457200" y="1371600"/>
          <a:ext cx="4297680"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983480" y="1371600"/>
            <a:ext cx="3657600" cy="1417320"/>
          </a:xfrm>
          <a:prstGeom prst="roundRect">
            <a:avLst>
              <a:gd name="adj" fmla="val 5161"/>
            </a:avLst>
          </a:prstGeom>
          <a:solidFill>
            <a:srgbClr val="E8F2EF"/>
          </a:solidFill>
          <a:ln/>
          <a:effectLst>
            <a:outerShdw sx="100000" sy="100000" kx="0" ky="0" algn="bl" rotWithShape="0" blurRad="101600" dist="25400" dir="5400000">
              <a:srgbClr val="9AACB8">
                <a:alpha val="35000"/>
              </a:srgbClr>
            </a:outerShdw>
          </a:effectLst>
        </p:spPr>
      </p:sp>
      <p:sp>
        <p:nvSpPr>
          <p:cNvPr id="9" name="Text 6"/>
          <p:cNvSpPr/>
          <p:nvPr/>
        </p:nvSpPr>
        <p:spPr>
          <a:xfrm>
            <a:off x="5193792" y="1481328"/>
            <a:ext cx="3246120" cy="274320"/>
          </a:xfrm>
          <a:prstGeom prst="rect">
            <a:avLst/>
          </a:prstGeom>
          <a:noFill/>
          <a:ln/>
        </p:spPr>
        <p:txBody>
          <a:bodyPr wrap="square" lIns="0" tIns="0" rIns="0" bIns="0" rtlCol="0" anchor="ctr"/>
          <a:lstStyle/>
          <a:p>
            <a:pPr indent="0" marL="0">
              <a:buNone/>
            </a:pPr>
            <a:r>
              <a:rPr lang="en-US" sz="1250" b="1" dirty="0">
                <a:solidFill>
                  <a:srgbClr val="0E7C66"/>
                </a:solidFill>
                <a:latin typeface="Cambria" pitchFamily="34" charset="0"/>
                <a:ea typeface="Cambria" pitchFamily="34" charset="-122"/>
                <a:cs typeface="Cambria" pitchFamily="34" charset="-120"/>
              </a:rPr>
              <a:t>The result the textbook promises</a:t>
            </a:r>
            <a:endParaRPr lang="en-US" sz="1250" dirty="0"/>
          </a:p>
        </p:txBody>
      </p:sp>
      <p:sp>
        <p:nvSpPr>
          <p:cNvPr id="10" name="Text 7"/>
          <p:cNvSpPr/>
          <p:nvPr/>
        </p:nvSpPr>
        <p:spPr>
          <a:xfrm>
            <a:off x="5193792" y="1783080"/>
            <a:ext cx="3246120" cy="960120"/>
          </a:xfrm>
          <a:prstGeom prst="rect">
            <a:avLst/>
          </a:prstGeom>
          <a:noFill/>
          <a:ln/>
        </p:spPr>
        <p:txBody>
          <a:bodyPr wrap="square" lIns="0" tIns="0" rIns="0" bIns="0" rtlCol="0" anchor="ctr"/>
          <a:lstStyle/>
          <a:p>
            <a:pPr indent="0" marL="0">
              <a:lnSpc>
                <a:spcPts val="1300"/>
              </a:lnSpc>
              <a:buNone/>
            </a:pPr>
            <a:r>
              <a:rPr lang="en-US" sz="1050" dirty="0">
                <a:solidFill>
                  <a:srgbClr val="0F2233"/>
                </a:solidFill>
                <a:latin typeface="Calibri" pitchFamily="34" charset="0"/>
                <a:ea typeface="Calibri" pitchFamily="34" charset="-122"/>
                <a:cs typeface="Calibri" pitchFamily="34" charset="-120"/>
              </a:rPr>
              <a:t>LALR has the same 116 states as SLR and the same power as CLR, at a quarter of CLR's size. All three accept our grammar with zero conflicts. That is exactly why every real parser generator emits LALR - and here it is measured, not asserted.</a:t>
            </a:r>
            <a:endParaRPr lang="en-US" sz="1050" dirty="0"/>
          </a:p>
        </p:txBody>
      </p:sp>
      <p:sp>
        <p:nvSpPr>
          <p:cNvPr id="11" name="Shape 8"/>
          <p:cNvSpPr/>
          <p:nvPr/>
        </p:nvSpPr>
        <p:spPr>
          <a:xfrm>
            <a:off x="4983480" y="2926080"/>
            <a:ext cx="3657600" cy="1508760"/>
          </a:xfrm>
          <a:prstGeom prst="roundRect">
            <a:avLst>
              <a:gd name="adj" fmla="val 4848"/>
            </a:avLst>
          </a:prstGeom>
          <a:solidFill>
            <a:srgbClr val="EEF3F6"/>
          </a:solidFill>
          <a:ln/>
          <a:effectLst>
            <a:outerShdw sx="100000" sy="100000" kx="0" ky="0" algn="bl" rotWithShape="0" blurRad="101600" dist="25400" dir="5400000">
              <a:srgbClr val="9AACB8">
                <a:alpha val="35000"/>
              </a:srgbClr>
            </a:outerShdw>
          </a:effectLst>
        </p:spPr>
      </p:sp>
      <p:sp>
        <p:nvSpPr>
          <p:cNvPr id="12" name="Text 9"/>
          <p:cNvSpPr/>
          <p:nvPr/>
        </p:nvSpPr>
        <p:spPr>
          <a:xfrm>
            <a:off x="5193792" y="3035808"/>
            <a:ext cx="3246120" cy="274320"/>
          </a:xfrm>
          <a:prstGeom prst="rect">
            <a:avLst/>
          </a:prstGeom>
          <a:noFill/>
          <a:ln/>
        </p:spPr>
        <p:txBody>
          <a:bodyPr wrap="square" lIns="0" tIns="0" rIns="0" bIns="0" rtlCol="0" anchor="ctr"/>
          <a:lstStyle/>
          <a:p>
            <a:pPr indent="0" marL="0">
              <a:buNone/>
            </a:pPr>
            <a:r>
              <a:rPr lang="en-US" sz="1250" b="1" dirty="0">
                <a:solidFill>
                  <a:srgbClr val="0F2233"/>
                </a:solidFill>
                <a:latin typeface="Cambria" pitchFamily="34" charset="0"/>
                <a:ea typeface="Cambria" pitchFamily="34" charset="-122"/>
                <a:cs typeface="Cambria" pitchFamily="34" charset="-120"/>
              </a:rPr>
              <a:t>Two parsers, cross-checked</a:t>
            </a:r>
            <a:endParaRPr lang="en-US" sz="1250" dirty="0"/>
          </a:p>
        </p:txBody>
      </p:sp>
      <p:sp>
        <p:nvSpPr>
          <p:cNvPr id="13" name="Text 10"/>
          <p:cNvSpPr/>
          <p:nvPr/>
        </p:nvSpPr>
        <p:spPr>
          <a:xfrm>
            <a:off x="5193792" y="3337560"/>
            <a:ext cx="3246120" cy="100584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A hand-written recursive-descent parser builds the tree the compiler uses</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The LALR tables re-parse the same tokens independently - 297 steps, animated</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If they ever disagreed, one of them would be wrong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7</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When a grammar fights back</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The tool does not just report a conflict - it explains it.</a:t>
            </a:r>
            <a:endParaRPr lang="en-US" sz="1350" dirty="0"/>
          </a:p>
        </p:txBody>
      </p:sp>
      <p:sp>
        <p:nvSpPr>
          <p:cNvPr id="7" name="Shape 5"/>
          <p:cNvSpPr/>
          <p:nvPr/>
        </p:nvSpPr>
        <p:spPr>
          <a:xfrm>
            <a:off x="502920" y="1371600"/>
            <a:ext cx="3977640" cy="1371600"/>
          </a:xfrm>
          <a:prstGeom prst="roundRect">
            <a:avLst>
              <a:gd name="adj" fmla="val 5333"/>
            </a:avLst>
          </a:prstGeom>
          <a:solidFill>
            <a:srgbClr val="0F2233"/>
          </a:solidFill>
          <a:ln/>
        </p:spPr>
      </p:sp>
      <p:sp>
        <p:nvSpPr>
          <p:cNvPr id="8" name="Text 6"/>
          <p:cNvSpPr/>
          <p:nvPr/>
        </p:nvSpPr>
        <p:spPr>
          <a:xfrm>
            <a:off x="649224" y="1444752"/>
            <a:ext cx="36850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AMBIGUOUS: NO PRECEDENCE, NO ASSOCIATIVITY</a:t>
            </a:r>
            <a:endParaRPr lang="en-US" sz="950" dirty="0"/>
          </a:p>
        </p:txBody>
      </p:sp>
      <p:sp>
        <p:nvSpPr>
          <p:cNvPr id="9" name="Text 7"/>
          <p:cNvSpPr/>
          <p:nvPr/>
        </p:nvSpPr>
        <p:spPr>
          <a:xfrm>
            <a:off x="649224" y="1682496"/>
            <a:ext cx="3685032" cy="95097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expr -&gt; expr + expr</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 expr * expr</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 ( expr )</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 id</a:t>
            </a:r>
            <a:endParaRPr lang="en-US" sz="1100" dirty="0"/>
          </a:p>
        </p:txBody>
      </p:sp>
      <p:sp>
        <p:nvSpPr>
          <p:cNvPr id="10" name="Shape 8"/>
          <p:cNvSpPr/>
          <p:nvPr/>
        </p:nvSpPr>
        <p:spPr>
          <a:xfrm>
            <a:off x="502920" y="2880360"/>
            <a:ext cx="3977640" cy="1554480"/>
          </a:xfrm>
          <a:prstGeom prst="roundRect">
            <a:avLst>
              <a:gd name="adj" fmla="val 4706"/>
            </a:avLst>
          </a:prstGeom>
          <a:solidFill>
            <a:srgbClr val="F7EAE3"/>
          </a:solidFill>
          <a:ln/>
          <a:effectLst>
            <a:outerShdw sx="100000" sy="100000" kx="0" ky="0" algn="bl" rotWithShape="0" blurRad="101600" dist="25400" dir="5400000">
              <a:srgbClr val="9AACB8">
                <a:alpha val="35000"/>
              </a:srgbClr>
            </a:outerShdw>
          </a:effectLst>
        </p:spPr>
      </p:sp>
      <p:sp>
        <p:nvSpPr>
          <p:cNvPr id="11" name="Text 9"/>
          <p:cNvSpPr/>
          <p:nvPr/>
        </p:nvSpPr>
        <p:spPr>
          <a:xfrm>
            <a:off x="713232" y="2999232"/>
            <a:ext cx="3566160" cy="292608"/>
          </a:xfrm>
          <a:prstGeom prst="rect">
            <a:avLst/>
          </a:prstGeom>
          <a:noFill/>
          <a:ln/>
        </p:spPr>
        <p:txBody>
          <a:bodyPr wrap="square" lIns="0" tIns="0" rIns="0" bIns="0" rtlCol="0" anchor="ctr"/>
          <a:lstStyle/>
          <a:p>
            <a:pPr indent="0" marL="0">
              <a:buNone/>
            </a:pPr>
            <a:r>
              <a:rPr lang="en-US" sz="1300" b="1" dirty="0">
                <a:solidFill>
                  <a:srgbClr val="C4622D"/>
                </a:solidFill>
                <a:latin typeface="Cambria" pitchFamily="34" charset="0"/>
                <a:ea typeface="Cambria" pitchFamily="34" charset="-122"/>
                <a:cs typeface="Cambria" pitchFamily="34" charset="-120"/>
              </a:rPr>
              <a:t>4 shift / reduce conflicts</a:t>
            </a:r>
            <a:endParaRPr lang="en-US" sz="1300" dirty="0"/>
          </a:p>
        </p:txBody>
      </p:sp>
      <p:sp>
        <p:nvSpPr>
          <p:cNvPr id="12" name="Text 10"/>
          <p:cNvSpPr/>
          <p:nvPr/>
        </p:nvSpPr>
        <p:spPr>
          <a:xfrm>
            <a:off x="713232" y="3310128"/>
            <a:ext cx="3566160" cy="1005840"/>
          </a:xfrm>
          <a:prstGeom prst="rect">
            <a:avLst/>
          </a:prstGeom>
          <a:noFill/>
          <a:ln/>
        </p:spPr>
        <p:txBody>
          <a:bodyPr wrap="square" lIns="0" tIns="0" rIns="0" bIns="0" rtlCol="0" anchor="ctr"/>
          <a:lstStyle/>
          <a:p>
            <a:pPr indent="0" marL="0">
              <a:lnSpc>
                <a:spcPts val="1300"/>
              </a:lnSpc>
              <a:buNone/>
            </a:pPr>
            <a:r>
              <a:rPr lang="en-US" sz="1050" i="1" dirty="0">
                <a:solidFill>
                  <a:srgbClr val="0F2233"/>
                </a:solidFill>
                <a:latin typeface="Calibri" pitchFamily="34" charset="0"/>
                <a:ea typeface="Calibri" pitchFamily="34" charset="-122"/>
                <a:cs typeface="Calibri" pitchFamily="34" charset="-120"/>
              </a:rPr>
              <a:t>"In this state the parser has already seen expr + expr and the next symbol is *. It can reduce, giving (a+b)*c, or shift, giving a+(b*c). The grammar does not say which."</a:t>
            </a:r>
            <a:endParaRPr lang="en-US" sz="1050" dirty="0"/>
          </a:p>
        </p:txBody>
      </p:sp>
      <p:sp>
        <p:nvSpPr>
          <p:cNvPr id="13" name="Shape 11"/>
          <p:cNvSpPr/>
          <p:nvPr/>
        </p:nvSpPr>
        <p:spPr>
          <a:xfrm>
            <a:off x="4663440" y="1371600"/>
            <a:ext cx="3977640" cy="1371600"/>
          </a:xfrm>
          <a:prstGeom prst="roundRect">
            <a:avLst>
              <a:gd name="adj" fmla="val 5333"/>
            </a:avLst>
          </a:prstGeom>
          <a:solidFill>
            <a:srgbClr val="0F2233"/>
          </a:solidFill>
          <a:ln/>
        </p:spPr>
      </p:sp>
      <p:sp>
        <p:nvSpPr>
          <p:cNvPr id="14" name="Text 12"/>
          <p:cNvSpPr/>
          <p:nvPr/>
        </p:nvSpPr>
        <p:spPr>
          <a:xfrm>
            <a:off x="4809744" y="1444752"/>
            <a:ext cx="36850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UNAMBIGUOUS: PRECEDENCE IN THE SHAPE</a:t>
            </a:r>
            <a:endParaRPr lang="en-US" sz="950" dirty="0"/>
          </a:p>
        </p:txBody>
      </p:sp>
      <p:sp>
        <p:nvSpPr>
          <p:cNvPr id="15" name="Text 13"/>
          <p:cNvSpPr/>
          <p:nvPr/>
        </p:nvSpPr>
        <p:spPr>
          <a:xfrm>
            <a:off x="4809744" y="1682496"/>
            <a:ext cx="3685032" cy="95097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expr -&gt; expr + term | term</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term -&gt; term * fact | fact</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fact -&gt; ( expr ) | id</a:t>
            </a:r>
            <a:endParaRPr lang="en-US" sz="1100" dirty="0"/>
          </a:p>
        </p:txBody>
      </p:sp>
      <p:sp>
        <p:nvSpPr>
          <p:cNvPr id="16" name="Shape 14"/>
          <p:cNvSpPr/>
          <p:nvPr/>
        </p:nvSpPr>
        <p:spPr>
          <a:xfrm>
            <a:off x="4663440" y="2880360"/>
            <a:ext cx="3977640" cy="1554480"/>
          </a:xfrm>
          <a:prstGeom prst="roundRect">
            <a:avLst>
              <a:gd name="adj" fmla="val 4706"/>
            </a:avLst>
          </a:prstGeom>
          <a:solidFill>
            <a:srgbClr val="E8F2EF"/>
          </a:solidFill>
          <a:ln/>
          <a:effectLst>
            <a:outerShdw sx="100000" sy="100000" kx="0" ky="0" algn="bl" rotWithShape="0" blurRad="101600" dist="25400" dir="5400000">
              <a:srgbClr val="9AACB8">
                <a:alpha val="35000"/>
              </a:srgbClr>
            </a:outerShdw>
          </a:effectLst>
        </p:spPr>
      </p:sp>
      <p:sp>
        <p:nvSpPr>
          <p:cNvPr id="17" name="Text 15"/>
          <p:cNvSpPr/>
          <p:nvPr/>
        </p:nvSpPr>
        <p:spPr>
          <a:xfrm>
            <a:off x="4873752" y="2999232"/>
            <a:ext cx="3566160" cy="292608"/>
          </a:xfrm>
          <a:prstGeom prst="rect">
            <a:avLst/>
          </a:prstGeom>
          <a:noFill/>
          <a:ln/>
        </p:spPr>
        <p:txBody>
          <a:bodyPr wrap="square" lIns="0" tIns="0" rIns="0" bIns="0" rtlCol="0" anchor="ctr"/>
          <a:lstStyle/>
          <a:p>
            <a:pPr indent="0" marL="0">
              <a:buNone/>
            </a:pPr>
            <a:r>
              <a:rPr lang="en-US" sz="1300" b="1" dirty="0">
                <a:solidFill>
                  <a:srgbClr val="0E7C66"/>
                </a:solidFill>
                <a:latin typeface="Cambria" pitchFamily="34" charset="0"/>
                <a:ea typeface="Cambria" pitchFamily="34" charset="-122"/>
                <a:cs typeface="Cambria" pitchFamily="34" charset="-120"/>
              </a:rPr>
              <a:t>0 conflicts</a:t>
            </a:r>
            <a:endParaRPr lang="en-US" sz="1300" dirty="0"/>
          </a:p>
        </p:txBody>
      </p:sp>
      <p:sp>
        <p:nvSpPr>
          <p:cNvPr id="18" name="Text 16"/>
          <p:cNvSpPr/>
          <p:nvPr/>
        </p:nvSpPr>
        <p:spPr>
          <a:xfrm>
            <a:off x="4873752" y="3310128"/>
            <a:ext cx="3566160" cy="1005840"/>
          </a:xfrm>
          <a:prstGeom prst="rect">
            <a:avLst/>
          </a:prstGeom>
          <a:noFill/>
          <a:ln/>
        </p:spPr>
        <p:txBody>
          <a:bodyPr wrap="square" lIns="0" tIns="0" rIns="0" bIns="0" rtlCol="0" anchor="ctr"/>
          <a:lstStyle/>
          <a:p>
            <a:pPr indent="0" marL="0">
              <a:lnSpc>
                <a:spcPts val="1300"/>
              </a:lnSpc>
              <a:buNone/>
            </a:pPr>
            <a:r>
              <a:rPr lang="en-US" sz="1050" dirty="0">
                <a:solidFill>
                  <a:srgbClr val="0F2233"/>
                </a:solidFill>
                <a:latin typeface="Calibri" pitchFamily="34" charset="0"/>
                <a:ea typeface="Calibri" pitchFamily="34" charset="-122"/>
                <a:cs typeface="Calibri" pitchFamily="34" charset="-120"/>
              </a:rPr>
              <a:t>The precedence is now built into the levels of the grammar itself, so the parser never has a choice to make. The same tool also removes left recursion and left-factors a grammar on demand, and re-checks the LL(1) table afterwards.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8</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Semantic analysis as a syntax-directed definition</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Attributes flow down the tree and values flow back up - one pass, L-attributed.</a:t>
            </a:r>
            <a:endParaRPr lang="en-US" sz="1350" dirty="0"/>
          </a:p>
        </p:txBody>
      </p:sp>
      <p:sp>
        <p:nvSpPr>
          <p:cNvPr id="7" name="Shape 5"/>
          <p:cNvSpPr/>
          <p:nvPr/>
        </p:nvSpPr>
        <p:spPr>
          <a:xfrm>
            <a:off x="502920" y="1371600"/>
            <a:ext cx="4709160" cy="3063240"/>
          </a:xfrm>
          <a:prstGeom prst="roundRect">
            <a:avLst>
              <a:gd name="adj" fmla="val 2388"/>
            </a:avLst>
          </a:prstGeom>
          <a:solidFill>
            <a:srgbClr val="EEF3F6"/>
          </a:solidFill>
          <a:ln/>
          <a:effectLst>
            <a:outerShdw sx="100000" sy="100000" kx="0" ky="0" algn="bl" rotWithShape="0" blurRad="101600" dist="25400" dir="5400000">
              <a:srgbClr val="9AACB8">
                <a:alpha val="35000"/>
              </a:srgbClr>
            </a:outerShdw>
          </a:effectLst>
        </p:spPr>
      </p:sp>
      <p:sp>
        <p:nvSpPr>
          <p:cNvPr id="8" name="Shape 6"/>
          <p:cNvSpPr/>
          <p:nvPr/>
        </p:nvSpPr>
        <p:spPr>
          <a:xfrm>
            <a:off x="914400" y="1600200"/>
            <a:ext cx="3017520" cy="457200"/>
          </a:xfrm>
          <a:prstGeom prst="roundRect">
            <a:avLst>
              <a:gd name="adj" fmla="val 12000"/>
            </a:avLst>
          </a:prstGeom>
          <a:solidFill>
            <a:srgbClr val="FFFFFF"/>
          </a:solidFill>
          <a:ln w="12700">
            <a:solidFill>
              <a:srgbClr val="C3D0D8"/>
            </a:solidFill>
            <a:prstDash val="solid"/>
          </a:ln>
        </p:spPr>
      </p:sp>
      <p:sp>
        <p:nvSpPr>
          <p:cNvPr id="9" name="Text 7"/>
          <p:cNvSpPr/>
          <p:nvPr/>
        </p:nvSpPr>
        <p:spPr>
          <a:xfrm>
            <a:off x="914400" y="1600200"/>
            <a:ext cx="3017520" cy="457200"/>
          </a:xfrm>
          <a:prstGeom prst="rect">
            <a:avLst/>
          </a:prstGeom>
          <a:noFill/>
          <a:ln/>
        </p:spPr>
        <p:txBody>
          <a:bodyPr wrap="square" lIns="0" tIns="0" rIns="0" bIns="0" rtlCol="0" anchor="ctr"/>
          <a:lstStyle/>
          <a:p>
            <a:pPr algn="ctr" indent="0" marL="0">
              <a:buNone/>
            </a:pPr>
            <a:r>
              <a:rPr lang="en-US" sz="1050" dirty="0">
                <a:solidFill>
                  <a:srgbClr val="0F2233"/>
                </a:solidFill>
                <a:latin typeface="Courier New" pitchFamily="34" charset="0"/>
                <a:ea typeface="Courier New" pitchFamily="34" charset="-122"/>
                <a:cs typeface="Courier New" pitchFamily="34" charset="-120"/>
              </a:rPr>
              <a:t>let  total = fib(i) + 1</a:t>
            </a:r>
            <a:endParaRPr lang="en-US" sz="1050" dirty="0"/>
          </a:p>
        </p:txBody>
      </p:sp>
      <p:sp>
        <p:nvSpPr>
          <p:cNvPr id="10" name="Shape 8"/>
          <p:cNvSpPr/>
          <p:nvPr/>
        </p:nvSpPr>
        <p:spPr>
          <a:xfrm>
            <a:off x="1417320" y="2286000"/>
            <a:ext cx="2194560" cy="457200"/>
          </a:xfrm>
          <a:prstGeom prst="roundRect">
            <a:avLst>
              <a:gd name="adj" fmla="val 12000"/>
            </a:avLst>
          </a:prstGeom>
          <a:solidFill>
            <a:srgbClr val="FFFFFF"/>
          </a:solidFill>
          <a:ln w="12700">
            <a:solidFill>
              <a:srgbClr val="C3D0D8"/>
            </a:solidFill>
            <a:prstDash val="solid"/>
          </a:ln>
        </p:spPr>
      </p:sp>
      <p:sp>
        <p:nvSpPr>
          <p:cNvPr id="11" name="Text 9"/>
          <p:cNvSpPr/>
          <p:nvPr/>
        </p:nvSpPr>
        <p:spPr>
          <a:xfrm>
            <a:off x="1417320" y="2286000"/>
            <a:ext cx="2194560" cy="457200"/>
          </a:xfrm>
          <a:prstGeom prst="rect">
            <a:avLst/>
          </a:prstGeom>
          <a:noFill/>
          <a:ln/>
        </p:spPr>
        <p:txBody>
          <a:bodyPr wrap="square" lIns="0" tIns="0" rIns="0" bIns="0" rtlCol="0" anchor="ctr"/>
          <a:lstStyle/>
          <a:p>
            <a:pPr algn="ctr" indent="0" marL="0">
              <a:buNone/>
            </a:pPr>
            <a:r>
              <a:rPr lang="en-US" sz="1050" dirty="0">
                <a:solidFill>
                  <a:srgbClr val="0F2233"/>
                </a:solidFill>
                <a:latin typeface="Courier New" pitchFamily="34" charset="0"/>
                <a:ea typeface="Courier New" pitchFamily="34" charset="-122"/>
                <a:cs typeface="Courier New" pitchFamily="34" charset="-120"/>
              </a:rPr>
              <a:t>fib(i) + 1</a:t>
            </a:r>
            <a:endParaRPr lang="en-US" sz="1050" dirty="0"/>
          </a:p>
        </p:txBody>
      </p:sp>
      <p:sp>
        <p:nvSpPr>
          <p:cNvPr id="12" name="Shape 10"/>
          <p:cNvSpPr/>
          <p:nvPr/>
        </p:nvSpPr>
        <p:spPr>
          <a:xfrm>
            <a:off x="1005840" y="2971800"/>
            <a:ext cx="1371600" cy="457200"/>
          </a:xfrm>
          <a:prstGeom prst="roundRect">
            <a:avLst>
              <a:gd name="adj" fmla="val 12000"/>
            </a:avLst>
          </a:prstGeom>
          <a:solidFill>
            <a:srgbClr val="FFFFFF"/>
          </a:solidFill>
          <a:ln w="12700">
            <a:solidFill>
              <a:srgbClr val="C3D0D8"/>
            </a:solidFill>
            <a:prstDash val="solid"/>
          </a:ln>
        </p:spPr>
      </p:sp>
      <p:sp>
        <p:nvSpPr>
          <p:cNvPr id="13" name="Text 11"/>
          <p:cNvSpPr/>
          <p:nvPr/>
        </p:nvSpPr>
        <p:spPr>
          <a:xfrm>
            <a:off x="1005840" y="2971800"/>
            <a:ext cx="1371600" cy="457200"/>
          </a:xfrm>
          <a:prstGeom prst="rect">
            <a:avLst/>
          </a:prstGeom>
          <a:noFill/>
          <a:ln/>
        </p:spPr>
        <p:txBody>
          <a:bodyPr wrap="square" lIns="0" tIns="0" rIns="0" bIns="0" rtlCol="0" anchor="ctr"/>
          <a:lstStyle/>
          <a:p>
            <a:pPr algn="ctr" indent="0" marL="0">
              <a:buNone/>
            </a:pPr>
            <a:r>
              <a:rPr lang="en-US" sz="1050" dirty="0">
                <a:solidFill>
                  <a:srgbClr val="0F2233"/>
                </a:solidFill>
                <a:latin typeface="Courier New" pitchFamily="34" charset="0"/>
                <a:ea typeface="Courier New" pitchFamily="34" charset="-122"/>
                <a:cs typeface="Courier New" pitchFamily="34" charset="-120"/>
              </a:rPr>
              <a:t>fib(i)</a:t>
            </a:r>
            <a:endParaRPr lang="en-US" sz="1050" dirty="0"/>
          </a:p>
        </p:txBody>
      </p:sp>
      <p:sp>
        <p:nvSpPr>
          <p:cNvPr id="14" name="Shape 12"/>
          <p:cNvSpPr/>
          <p:nvPr/>
        </p:nvSpPr>
        <p:spPr>
          <a:xfrm>
            <a:off x="2880360" y="2971800"/>
            <a:ext cx="822960" cy="457200"/>
          </a:xfrm>
          <a:prstGeom prst="roundRect">
            <a:avLst>
              <a:gd name="adj" fmla="val 12000"/>
            </a:avLst>
          </a:prstGeom>
          <a:solidFill>
            <a:srgbClr val="FFFFFF"/>
          </a:solidFill>
          <a:ln w="12700">
            <a:solidFill>
              <a:srgbClr val="C3D0D8"/>
            </a:solidFill>
            <a:prstDash val="solid"/>
          </a:ln>
        </p:spPr>
      </p:sp>
      <p:sp>
        <p:nvSpPr>
          <p:cNvPr id="15" name="Text 13"/>
          <p:cNvSpPr/>
          <p:nvPr/>
        </p:nvSpPr>
        <p:spPr>
          <a:xfrm>
            <a:off x="2880360" y="2971800"/>
            <a:ext cx="822960" cy="457200"/>
          </a:xfrm>
          <a:prstGeom prst="rect">
            <a:avLst/>
          </a:prstGeom>
          <a:noFill/>
          <a:ln/>
        </p:spPr>
        <p:txBody>
          <a:bodyPr wrap="square" lIns="0" tIns="0" rIns="0" bIns="0" rtlCol="0" anchor="ctr"/>
          <a:lstStyle/>
          <a:p>
            <a:pPr algn="ctr" indent="0" marL="0">
              <a:buNone/>
            </a:pPr>
            <a:r>
              <a:rPr lang="en-US" sz="1050" dirty="0">
                <a:solidFill>
                  <a:srgbClr val="0F2233"/>
                </a:solidFill>
                <a:latin typeface="Courier New" pitchFamily="34" charset="0"/>
                <a:ea typeface="Courier New" pitchFamily="34" charset="-122"/>
                <a:cs typeface="Courier New" pitchFamily="34" charset="-120"/>
              </a:rPr>
              <a:t>1</a:t>
            </a:r>
            <a:endParaRPr lang="en-US" sz="1050" dirty="0"/>
          </a:p>
        </p:txBody>
      </p:sp>
      <p:sp>
        <p:nvSpPr>
          <p:cNvPr id="16" name="Shape 14"/>
          <p:cNvSpPr/>
          <p:nvPr/>
        </p:nvSpPr>
        <p:spPr>
          <a:xfrm>
            <a:off x="2011680" y="2057400"/>
            <a:ext cx="320040" cy="228600"/>
          </a:xfrm>
          <a:prstGeom prst="line">
            <a:avLst/>
          </a:prstGeom>
          <a:noFill/>
          <a:ln w="12700">
            <a:solidFill>
              <a:srgbClr val="9FB0BC"/>
            </a:solidFill>
            <a:prstDash val="solid"/>
          </a:ln>
        </p:spPr>
      </p:sp>
      <p:sp>
        <p:nvSpPr>
          <p:cNvPr id="17" name="Shape 15"/>
          <p:cNvSpPr/>
          <p:nvPr/>
        </p:nvSpPr>
        <p:spPr>
          <a:xfrm>
            <a:off x="1920240" y="2743200"/>
            <a:ext cx="-274320" cy="228600"/>
          </a:xfrm>
          <a:prstGeom prst="line">
            <a:avLst/>
          </a:prstGeom>
          <a:noFill/>
          <a:ln w="12700">
            <a:solidFill>
              <a:srgbClr val="9FB0BC"/>
            </a:solidFill>
            <a:prstDash val="solid"/>
          </a:ln>
        </p:spPr>
      </p:sp>
      <p:sp>
        <p:nvSpPr>
          <p:cNvPr id="18" name="Shape 16"/>
          <p:cNvSpPr/>
          <p:nvPr/>
        </p:nvSpPr>
        <p:spPr>
          <a:xfrm>
            <a:off x="2926080" y="2743200"/>
            <a:ext cx="320040" cy="228600"/>
          </a:xfrm>
          <a:prstGeom prst="line">
            <a:avLst/>
          </a:prstGeom>
          <a:noFill/>
          <a:ln w="12700">
            <a:solidFill>
              <a:srgbClr val="9FB0BC"/>
            </a:solidFill>
            <a:prstDash val="solid"/>
          </a:ln>
        </p:spPr>
      </p:sp>
      <p:sp>
        <p:nvSpPr>
          <p:cNvPr id="19" name="Shape 17"/>
          <p:cNvSpPr/>
          <p:nvPr/>
        </p:nvSpPr>
        <p:spPr>
          <a:xfrm>
            <a:off x="777240" y="1828800"/>
            <a:ext cx="0" cy="1463040"/>
          </a:xfrm>
          <a:prstGeom prst="line">
            <a:avLst/>
          </a:prstGeom>
          <a:noFill/>
          <a:ln w="25400">
            <a:solidFill>
              <a:srgbClr val="C4622D"/>
            </a:solidFill>
            <a:prstDash val="solid"/>
            <a:tailEnd type="triangle"/>
          </a:ln>
        </p:spPr>
      </p:sp>
      <p:sp>
        <p:nvSpPr>
          <p:cNvPr id="20" name="Text 18"/>
          <p:cNvSpPr/>
          <p:nvPr/>
        </p:nvSpPr>
        <p:spPr>
          <a:xfrm>
            <a:off x="548640" y="3566160"/>
            <a:ext cx="1234440" cy="685800"/>
          </a:xfrm>
          <a:prstGeom prst="rect">
            <a:avLst/>
          </a:prstGeom>
          <a:noFill/>
          <a:ln/>
        </p:spPr>
        <p:txBody>
          <a:bodyPr wrap="square" lIns="0" tIns="0" rIns="0" bIns="0" rtlCol="0" anchor="ctr"/>
          <a:lstStyle/>
          <a:p>
            <a:pPr algn="ctr" indent="0" marL="0">
              <a:lnSpc>
                <a:spcPts val="1100"/>
              </a:lnSpc>
              <a:buNone/>
            </a:pPr>
            <a:r>
              <a:rPr lang="en-US" sz="950" dirty="0">
                <a:solidFill>
                  <a:srgbClr val="C4622D"/>
                </a:solidFill>
                <a:latin typeface="Calibri" pitchFamily="34" charset="0"/>
                <a:ea typeface="Calibri" pitchFamily="34" charset="-122"/>
                <a:cs typeface="Calibri" pitchFamily="34" charset="-120"/>
              </a:rPr>
              <a:t>inherited</a:t>
            </a:r>
            <a:endParaRPr lang="en-US" sz="950" dirty="0"/>
          </a:p>
          <a:p>
            <a:pPr algn="ctr" indent="0" marL="0">
              <a:lnSpc>
                <a:spcPts val="1100"/>
              </a:lnSpc>
              <a:buNone/>
            </a:pPr>
            <a:r>
              <a:rPr lang="en-US" sz="950" dirty="0">
                <a:solidFill>
                  <a:srgbClr val="C4622D"/>
                </a:solidFill>
                <a:latin typeface="Calibri" pitchFamily="34" charset="0"/>
                <a:ea typeface="Calibri" pitchFamily="34" charset="-122"/>
                <a:cs typeface="Calibri" pitchFamily="34" charset="-120"/>
              </a:rPr>
              <a:t>scope, depth,</a:t>
            </a:r>
            <a:endParaRPr lang="en-US" sz="950" dirty="0"/>
          </a:p>
          <a:p>
            <a:pPr algn="ctr" indent="0" marL="0">
              <a:lnSpc>
                <a:spcPts val="1100"/>
              </a:lnSpc>
              <a:buNone/>
            </a:pPr>
            <a:r>
              <a:rPr lang="en-US" sz="950" dirty="0">
                <a:solidFill>
                  <a:srgbClr val="C4622D"/>
                </a:solidFill>
                <a:latin typeface="Calibri" pitchFamily="34" charset="0"/>
                <a:ea typeface="Calibri" pitchFamily="34" charset="-122"/>
                <a:cs typeface="Calibri" pitchFamily="34" charset="-120"/>
              </a:rPr>
              <a:t>expected type</a:t>
            </a:r>
            <a:endParaRPr lang="en-US" sz="950" dirty="0"/>
          </a:p>
        </p:txBody>
      </p:sp>
      <p:sp>
        <p:nvSpPr>
          <p:cNvPr id="21" name="Shape 19"/>
          <p:cNvSpPr/>
          <p:nvPr/>
        </p:nvSpPr>
        <p:spPr>
          <a:xfrm>
            <a:off x="4892040" y="3291840"/>
            <a:ext cx="0" cy="-1463040"/>
          </a:xfrm>
          <a:prstGeom prst="line">
            <a:avLst/>
          </a:prstGeom>
          <a:noFill/>
          <a:ln w="25400">
            <a:solidFill>
              <a:srgbClr val="0E7C66"/>
            </a:solidFill>
            <a:prstDash val="solid"/>
            <a:tailEnd type="triangle"/>
          </a:ln>
        </p:spPr>
      </p:sp>
      <p:sp>
        <p:nvSpPr>
          <p:cNvPr id="22" name="Text 20"/>
          <p:cNvSpPr/>
          <p:nvPr/>
        </p:nvSpPr>
        <p:spPr>
          <a:xfrm>
            <a:off x="3931920" y="3566160"/>
            <a:ext cx="1234440" cy="685800"/>
          </a:xfrm>
          <a:prstGeom prst="rect">
            <a:avLst/>
          </a:prstGeom>
          <a:noFill/>
          <a:ln/>
        </p:spPr>
        <p:txBody>
          <a:bodyPr wrap="square" lIns="0" tIns="0" rIns="0" bIns="0" rtlCol="0" anchor="ctr"/>
          <a:lstStyle/>
          <a:p>
            <a:pPr algn="ctr" indent="0" marL="0">
              <a:lnSpc>
                <a:spcPts val="1100"/>
              </a:lnSpc>
              <a:buNone/>
            </a:pPr>
            <a:r>
              <a:rPr lang="en-US" sz="950" dirty="0">
                <a:solidFill>
                  <a:srgbClr val="0E7C66"/>
                </a:solidFill>
                <a:latin typeface="Calibri" pitchFamily="34" charset="0"/>
                <a:ea typeface="Calibri" pitchFamily="34" charset="-122"/>
                <a:cs typeface="Calibri" pitchFamily="34" charset="-120"/>
              </a:rPr>
              <a:t>synthesised</a:t>
            </a:r>
            <a:endParaRPr lang="en-US" sz="950" dirty="0"/>
          </a:p>
          <a:p>
            <a:pPr algn="ctr" indent="0" marL="0">
              <a:lnSpc>
                <a:spcPts val="1100"/>
              </a:lnSpc>
              <a:buNone/>
            </a:pPr>
            <a:r>
              <a:rPr lang="en-US" sz="950" dirty="0">
                <a:solidFill>
                  <a:srgbClr val="0E7C66"/>
                </a:solidFill>
                <a:latin typeface="Calibri" pitchFamily="34" charset="0"/>
                <a:ea typeface="Calibri" pitchFamily="34" charset="-122"/>
                <a:cs typeface="Calibri" pitchFamily="34" charset="-120"/>
              </a:rPr>
              <a:t>the type of</a:t>
            </a:r>
            <a:endParaRPr lang="en-US" sz="950" dirty="0"/>
          </a:p>
          <a:p>
            <a:pPr algn="ctr" indent="0" marL="0">
              <a:lnSpc>
                <a:spcPts val="1100"/>
              </a:lnSpc>
              <a:buNone/>
            </a:pPr>
            <a:r>
              <a:rPr lang="en-US" sz="950" dirty="0">
                <a:solidFill>
                  <a:srgbClr val="0E7C66"/>
                </a:solidFill>
                <a:latin typeface="Calibri" pitchFamily="34" charset="0"/>
                <a:ea typeface="Calibri" pitchFamily="34" charset="-122"/>
                <a:cs typeface="Calibri" pitchFamily="34" charset="-120"/>
              </a:rPr>
              <a:t>the expression</a:t>
            </a:r>
            <a:endParaRPr lang="en-US" sz="950" dirty="0"/>
          </a:p>
        </p:txBody>
      </p:sp>
      <p:sp>
        <p:nvSpPr>
          <p:cNvPr id="23" name="Shape 21"/>
          <p:cNvSpPr/>
          <p:nvPr/>
        </p:nvSpPr>
        <p:spPr>
          <a:xfrm>
            <a:off x="5486400" y="1371600"/>
            <a:ext cx="3154680" cy="1417320"/>
          </a:xfrm>
          <a:prstGeom prst="roundRect">
            <a:avLst>
              <a:gd name="adj" fmla="val 5161"/>
            </a:avLst>
          </a:prstGeom>
          <a:solidFill>
            <a:srgbClr val="E8F2EF"/>
          </a:solidFill>
          <a:ln/>
          <a:effectLst>
            <a:outerShdw sx="100000" sy="100000" kx="0" ky="0" algn="bl" rotWithShape="0" blurRad="101600" dist="25400" dir="5400000">
              <a:srgbClr val="9AACB8">
                <a:alpha val="35000"/>
              </a:srgbClr>
            </a:outerShdw>
          </a:effectLst>
        </p:spPr>
      </p:sp>
      <p:sp>
        <p:nvSpPr>
          <p:cNvPr id="24" name="Text 22"/>
          <p:cNvSpPr/>
          <p:nvPr/>
        </p:nvSpPr>
        <p:spPr>
          <a:xfrm>
            <a:off x="5687568" y="1481328"/>
            <a:ext cx="2743200" cy="274320"/>
          </a:xfrm>
          <a:prstGeom prst="rect">
            <a:avLst/>
          </a:prstGeom>
          <a:noFill/>
          <a:ln/>
        </p:spPr>
        <p:txBody>
          <a:bodyPr wrap="square" lIns="0" tIns="0" rIns="0" bIns="0" rtlCol="0" anchor="ctr"/>
          <a:lstStyle/>
          <a:p>
            <a:pPr indent="0" marL="0">
              <a:buNone/>
            </a:pPr>
            <a:r>
              <a:rPr lang="en-US" sz="1250" b="1" dirty="0">
                <a:solidFill>
                  <a:srgbClr val="0E7C66"/>
                </a:solidFill>
                <a:latin typeface="Cambria" pitchFamily="34" charset="0"/>
                <a:ea typeface="Cambria" pitchFamily="34" charset="-122"/>
                <a:cs typeface="Cambria" pitchFamily="34" charset="-120"/>
              </a:rPr>
              <a:t>Why one pass is enough</a:t>
            </a:r>
            <a:endParaRPr lang="en-US" sz="1250" dirty="0"/>
          </a:p>
        </p:txBody>
      </p:sp>
      <p:sp>
        <p:nvSpPr>
          <p:cNvPr id="25" name="Text 23"/>
          <p:cNvSpPr/>
          <p:nvPr/>
        </p:nvSpPr>
        <p:spPr>
          <a:xfrm>
            <a:off x="5687568" y="1783080"/>
            <a:ext cx="2743200" cy="914400"/>
          </a:xfrm>
          <a:prstGeom prst="rect">
            <a:avLst/>
          </a:prstGeom>
          <a:noFill/>
          <a:ln/>
        </p:spPr>
        <p:txBody>
          <a:bodyPr wrap="square" lIns="0" tIns="0" rIns="0" bIns="0" rtlCol="0" anchor="ctr"/>
          <a:lstStyle/>
          <a:p>
            <a:pPr indent="0" marL="0">
              <a:lnSpc>
                <a:spcPts val="1300"/>
              </a:lnSpc>
              <a:buNone/>
            </a:pPr>
            <a:r>
              <a:rPr lang="en-US" sz="1050" dirty="0">
                <a:solidFill>
                  <a:srgbClr val="0F2233"/>
                </a:solidFill>
                <a:latin typeface="Calibri" pitchFamily="34" charset="0"/>
                <a:ea typeface="Calibri" pitchFamily="34" charset="-122"/>
                <a:cs typeface="Calibri" pitchFamily="34" charset="-120"/>
              </a:rPr>
              <a:t>No attribute ever needs a value from a sibling to its right, so the definition is L-attributed and a single left-to-right walk computes everything.</a:t>
            </a:r>
            <a:endParaRPr lang="en-US" sz="1050" dirty="0"/>
          </a:p>
        </p:txBody>
      </p:sp>
      <p:sp>
        <p:nvSpPr>
          <p:cNvPr id="26" name="Shape 24"/>
          <p:cNvSpPr/>
          <p:nvPr/>
        </p:nvSpPr>
        <p:spPr>
          <a:xfrm>
            <a:off x="5486400" y="2926080"/>
            <a:ext cx="3154680" cy="1508760"/>
          </a:xfrm>
          <a:prstGeom prst="roundRect">
            <a:avLst>
              <a:gd name="adj" fmla="val 4848"/>
            </a:avLst>
          </a:prstGeom>
          <a:solidFill>
            <a:srgbClr val="0F2233"/>
          </a:solidFill>
          <a:ln/>
        </p:spPr>
      </p:sp>
      <p:sp>
        <p:nvSpPr>
          <p:cNvPr id="27" name="Text 25"/>
          <p:cNvSpPr/>
          <p:nvPr/>
        </p:nvSpPr>
        <p:spPr>
          <a:xfrm>
            <a:off x="5632704" y="2999232"/>
            <a:ext cx="286207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WHAT IT CATCHES</a:t>
            </a:r>
            <a:endParaRPr lang="en-US" sz="950" dirty="0"/>
          </a:p>
        </p:txBody>
      </p:sp>
      <p:sp>
        <p:nvSpPr>
          <p:cNvPr id="28" name="Text 26"/>
          <p:cNvSpPr/>
          <p:nvPr/>
        </p:nvSpPr>
        <p:spPr>
          <a:xfrm>
            <a:off x="5632704" y="3236976"/>
            <a:ext cx="2862072" cy="1088136"/>
          </a:xfrm>
          <a:prstGeom prst="rect">
            <a:avLst/>
          </a:prstGeom>
          <a:noFill/>
          <a:ln/>
        </p:spPr>
        <p:txBody>
          <a:bodyPr wrap="square" lIns="0" tIns="0" rIns="0" bIns="0" rtlCol="0" anchor="t"/>
          <a:lstStyle/>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"text" * 4</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  -&gt; * cannot be applied</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     to str and int</a:t>
            </a:r>
            <a:endParaRPr lang="en-US" sz="1000" dirty="0"/>
          </a:p>
          <a:p>
            <a:pPr indent="0" marL="0">
              <a:lnSpc>
                <a:spcPts val="1350"/>
              </a:lnSpc>
              <a:buNone/>
            </a:pP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print undeclared</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  -&gt; used before declared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9</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Intermediate code, and the backpatching problem</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When the jump is emitted, nobody yet knows where it goes.</a:t>
            </a:r>
            <a:endParaRPr lang="en-US" sz="1350" dirty="0"/>
          </a:p>
        </p:txBody>
      </p:sp>
      <p:sp>
        <p:nvSpPr>
          <p:cNvPr id="7" name="Shape 5"/>
          <p:cNvSpPr/>
          <p:nvPr/>
        </p:nvSpPr>
        <p:spPr>
          <a:xfrm>
            <a:off x="502920" y="1371600"/>
            <a:ext cx="3977640" cy="1600200"/>
          </a:xfrm>
          <a:prstGeom prst="roundRect">
            <a:avLst>
              <a:gd name="adj" fmla="val 4571"/>
            </a:avLst>
          </a:prstGeom>
          <a:solidFill>
            <a:srgbClr val="0F2233"/>
          </a:solidFill>
          <a:ln/>
        </p:spPr>
      </p:sp>
      <p:sp>
        <p:nvSpPr>
          <p:cNvPr id="8" name="Text 6"/>
          <p:cNvSpPr/>
          <p:nvPr/>
        </p:nvSpPr>
        <p:spPr>
          <a:xfrm>
            <a:off x="649224" y="1444752"/>
            <a:ext cx="36850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AS EMITTED - TARGETS UNKNOWN</a:t>
            </a:r>
            <a:endParaRPr lang="en-US" sz="950" dirty="0"/>
          </a:p>
        </p:txBody>
      </p:sp>
      <p:sp>
        <p:nvSpPr>
          <p:cNvPr id="9" name="Text 7"/>
          <p:cNvSpPr/>
          <p:nvPr/>
        </p:nvSpPr>
        <p:spPr>
          <a:xfrm>
            <a:off x="649224" y="1682496"/>
            <a:ext cx="3685032" cy="117957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if i &lt; 10 goto ____</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goto ____</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total = total + t0</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i = i + 1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goto L0</a:t>
            </a:r>
            <a:endParaRPr lang="en-US" sz="1100" dirty="0"/>
          </a:p>
        </p:txBody>
      </p:sp>
      <p:sp>
        <p:nvSpPr>
          <p:cNvPr id="10" name="Text 8"/>
          <p:cNvSpPr/>
          <p:nvPr/>
        </p:nvSpPr>
        <p:spPr>
          <a:xfrm>
            <a:off x="502920" y="3017520"/>
            <a:ext cx="3977640" cy="274320"/>
          </a:xfrm>
          <a:prstGeom prst="rect">
            <a:avLst/>
          </a:prstGeom>
          <a:noFill/>
          <a:ln/>
        </p:spPr>
        <p:txBody>
          <a:bodyPr wrap="square" lIns="0" tIns="0" rIns="0" bIns="0" rtlCol="0" anchor="ctr"/>
          <a:lstStyle/>
          <a:p>
            <a:pPr algn="ctr" indent="0" marL="0">
              <a:buNone/>
            </a:pPr>
            <a:r>
              <a:rPr lang="en-US" sz="1050" dirty="0">
                <a:solidFill>
                  <a:srgbClr val="C4622D"/>
                </a:solidFill>
                <a:latin typeface="Courier New" pitchFamily="34" charset="0"/>
                <a:ea typeface="Courier New" pitchFamily="34" charset="-122"/>
                <a:cs typeface="Courier New" pitchFamily="34" charset="-120"/>
              </a:rPr>
              <a:t>truelist = {0}    falselist = {1}</a:t>
            </a:r>
            <a:endParaRPr lang="en-US" sz="1050" dirty="0"/>
          </a:p>
        </p:txBody>
      </p:sp>
      <p:sp>
        <p:nvSpPr>
          <p:cNvPr id="11" name="Shape 9"/>
          <p:cNvSpPr/>
          <p:nvPr/>
        </p:nvSpPr>
        <p:spPr>
          <a:xfrm>
            <a:off x="4572000" y="2103120"/>
            <a:ext cx="320040" cy="0"/>
          </a:xfrm>
          <a:prstGeom prst="line">
            <a:avLst/>
          </a:prstGeom>
          <a:noFill/>
          <a:ln w="25400">
            <a:solidFill>
              <a:srgbClr val="C4622D"/>
            </a:solidFill>
            <a:prstDash val="solid"/>
            <a:tailEnd type="triangle"/>
          </a:ln>
        </p:spPr>
      </p:sp>
      <p:sp>
        <p:nvSpPr>
          <p:cNvPr id="12" name="Shape 10"/>
          <p:cNvSpPr/>
          <p:nvPr/>
        </p:nvSpPr>
        <p:spPr>
          <a:xfrm>
            <a:off x="4983480" y="1371600"/>
            <a:ext cx="3657600" cy="1600200"/>
          </a:xfrm>
          <a:prstGeom prst="roundRect">
            <a:avLst>
              <a:gd name="adj" fmla="val 4571"/>
            </a:avLst>
          </a:prstGeom>
          <a:solidFill>
            <a:srgbClr val="0F2233"/>
          </a:solidFill>
          <a:ln/>
        </p:spPr>
      </p:sp>
      <p:sp>
        <p:nvSpPr>
          <p:cNvPr id="13" name="Text 11"/>
          <p:cNvSpPr/>
          <p:nvPr/>
        </p:nvSpPr>
        <p:spPr>
          <a:xfrm>
            <a:off x="5129784" y="1444752"/>
            <a:ext cx="336499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AFTER BACKPATCHING</a:t>
            </a:r>
            <a:endParaRPr lang="en-US" sz="950" dirty="0"/>
          </a:p>
        </p:txBody>
      </p:sp>
      <p:sp>
        <p:nvSpPr>
          <p:cNvPr id="14" name="Text 12"/>
          <p:cNvSpPr/>
          <p:nvPr/>
        </p:nvSpPr>
        <p:spPr>
          <a:xfrm>
            <a:off x="5129784" y="1682496"/>
            <a:ext cx="3364992" cy="117957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L0: if i &lt; 10 goto L1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goto L2</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L1: total = total + t0</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 = i + 1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goto L0</a:t>
            </a:r>
            <a:endParaRPr lang="en-US" sz="1100" dirty="0"/>
          </a:p>
        </p:txBody>
      </p:sp>
      <p:sp>
        <p:nvSpPr>
          <p:cNvPr id="15" name="Shape 13"/>
          <p:cNvSpPr/>
          <p:nvPr/>
        </p:nvSpPr>
        <p:spPr>
          <a:xfrm>
            <a:off x="502920" y="3429000"/>
            <a:ext cx="3977640" cy="1005840"/>
          </a:xfrm>
          <a:prstGeom prst="roundRect">
            <a:avLst>
              <a:gd name="adj" fmla="val 7273"/>
            </a:avLst>
          </a:prstGeom>
          <a:solidFill>
            <a:srgbClr val="EEF3F6"/>
          </a:solidFill>
          <a:ln/>
          <a:effectLst>
            <a:outerShdw sx="100000" sy="100000" kx="0" ky="0" algn="bl" rotWithShape="0" blurRad="101600" dist="25400" dir="5400000">
              <a:srgbClr val="9AACB8">
                <a:alpha val="35000"/>
              </a:srgbClr>
            </a:outerShdw>
          </a:effectLst>
        </p:spPr>
      </p:sp>
      <p:sp>
        <p:nvSpPr>
          <p:cNvPr id="16" name="Text 14"/>
          <p:cNvSpPr/>
          <p:nvPr/>
        </p:nvSpPr>
        <p:spPr>
          <a:xfrm>
            <a:off x="713232" y="3520440"/>
            <a:ext cx="3566160" cy="256032"/>
          </a:xfrm>
          <a:prstGeom prst="rect">
            <a:avLst/>
          </a:prstGeom>
          <a:noFill/>
          <a:ln/>
        </p:spPr>
        <p:txBody>
          <a:bodyPr wrap="square" lIns="0" tIns="0" rIns="0" bIns="0" rtlCol="0" anchor="ctr"/>
          <a:lstStyle/>
          <a:p>
            <a:pPr indent="0" marL="0">
              <a:buNone/>
            </a:pPr>
            <a:r>
              <a:rPr lang="en-US" sz="1200" b="1" dirty="0">
                <a:solidFill>
                  <a:srgbClr val="0F2233"/>
                </a:solidFill>
                <a:latin typeface="Cambria" pitchFamily="34" charset="0"/>
                <a:ea typeface="Cambria" pitchFamily="34" charset="-122"/>
                <a:cs typeface="Cambria" pitchFamily="34" charset="-120"/>
              </a:rPr>
              <a:t>Short-circuit code, for free</a:t>
            </a:r>
            <a:endParaRPr lang="en-US" sz="1200" dirty="0"/>
          </a:p>
        </p:txBody>
      </p:sp>
      <p:sp>
        <p:nvSpPr>
          <p:cNvPr id="17" name="Text 15"/>
          <p:cNvSpPr/>
          <p:nvPr/>
        </p:nvSpPr>
        <p:spPr>
          <a:xfrm>
            <a:off x="713232" y="3794760"/>
            <a:ext cx="356616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Booleans are compiled as jumps rather than values, so 'n &gt; 0 and 100 / n &gt; 1' never divides by zero. There is a test for exactly that.</a:t>
            </a:r>
            <a:endParaRPr lang="en-US" sz="1050" dirty="0"/>
          </a:p>
        </p:txBody>
      </p:sp>
      <p:sp>
        <p:nvSpPr>
          <p:cNvPr id="18" name="Shape 16"/>
          <p:cNvSpPr/>
          <p:nvPr/>
        </p:nvSpPr>
        <p:spPr>
          <a:xfrm>
            <a:off x="4983480" y="3429000"/>
            <a:ext cx="3657600" cy="1005840"/>
          </a:xfrm>
          <a:prstGeom prst="roundRect">
            <a:avLst>
              <a:gd name="adj" fmla="val 7273"/>
            </a:avLst>
          </a:prstGeom>
          <a:solidFill>
            <a:srgbClr val="E8F2EF"/>
          </a:solidFill>
          <a:ln/>
          <a:effectLst>
            <a:outerShdw sx="100000" sy="100000" kx="0" ky="0" algn="bl" rotWithShape="0" blurRad="101600" dist="25400" dir="5400000">
              <a:srgbClr val="9AACB8">
                <a:alpha val="35000"/>
              </a:srgbClr>
            </a:outerShdw>
          </a:effectLst>
        </p:spPr>
      </p:sp>
      <p:sp>
        <p:nvSpPr>
          <p:cNvPr id="19" name="Text 17"/>
          <p:cNvSpPr/>
          <p:nvPr/>
        </p:nvSpPr>
        <p:spPr>
          <a:xfrm>
            <a:off x="5193792" y="3520440"/>
            <a:ext cx="3246120" cy="256032"/>
          </a:xfrm>
          <a:prstGeom prst="rect">
            <a:avLst/>
          </a:prstGeom>
          <a:noFill/>
          <a:ln/>
        </p:spPr>
        <p:txBody>
          <a:bodyPr wrap="square" lIns="0" tIns="0" rIns="0" bIns="0" rtlCol="0" anchor="ctr"/>
          <a:lstStyle/>
          <a:p>
            <a:pPr indent="0" marL="0">
              <a:buNone/>
            </a:pPr>
            <a:r>
              <a:rPr lang="en-US" sz="1200" b="1" dirty="0">
                <a:solidFill>
                  <a:srgbClr val="0E7C66"/>
                </a:solidFill>
                <a:latin typeface="Cambria" pitchFamily="34" charset="0"/>
                <a:ea typeface="Cambria" pitchFamily="34" charset="-122"/>
                <a:cs typeface="Cambria" pitchFamily="34" charset="-120"/>
              </a:rPr>
              <a:t>case -&gt; jump table</a:t>
            </a:r>
            <a:endParaRPr lang="en-US" sz="1200" dirty="0"/>
          </a:p>
        </p:txBody>
      </p:sp>
      <p:sp>
        <p:nvSpPr>
          <p:cNvPr id="20" name="Text 18"/>
          <p:cNvSpPr/>
          <p:nvPr/>
        </p:nvSpPr>
        <p:spPr>
          <a:xfrm>
            <a:off x="5193792" y="3794760"/>
            <a:ext cx="3246120" cy="548640"/>
          </a:xfrm>
          <a:prstGeom prst="rect">
            <a:avLst/>
          </a:prstGeom>
          <a:noFill/>
          <a:ln/>
        </p:spPr>
        <p:txBody>
          <a:bodyPr wrap="square" lIns="0" tIns="0" rIns="0" bIns="0" rtlCol="0" anchor="ctr"/>
          <a:lstStyle/>
          <a:p>
            <a:pPr indent="0" marL="0">
              <a:lnSpc>
                <a:spcPts val="1300"/>
              </a:lnSpc>
              <a:buNone/>
            </a:pPr>
            <a:r>
              <a:rPr lang="en-US" sz="1050" dirty="0">
                <a:solidFill>
                  <a:srgbClr val="0F2233"/>
                </a:solidFill>
                <a:latin typeface="Calibri" pitchFamily="34" charset="0"/>
                <a:ea typeface="Calibri" pitchFamily="34" charset="-122"/>
                <a:cs typeface="Calibri" pitchFamily="34" charset="-120"/>
              </a:rPr>
              <a:t>jumptable total [0 -&gt; L3, 88 -&gt; L4] default L5 - one dispatch, not a chain of comparisons. 6 backpatches in this program alone.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10</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Optimisation: eight passes over a flow graph</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Instructions are cut into basic blocks; every pass reports what it removed.</a:t>
            </a:r>
            <a:endParaRPr lang="en-US" sz="1350" dirty="0"/>
          </a:p>
        </p:txBody>
      </p:sp>
      <p:sp>
        <p:nvSpPr>
          <p:cNvPr id="7" name="Shape 5"/>
          <p:cNvSpPr/>
          <p:nvPr/>
        </p:nvSpPr>
        <p:spPr>
          <a:xfrm>
            <a:off x="502920" y="1371600"/>
            <a:ext cx="5120640" cy="438912"/>
          </a:xfrm>
          <a:prstGeom prst="roundRect">
            <a:avLst>
              <a:gd name="adj" fmla="val 12500"/>
            </a:avLst>
          </a:prstGeom>
          <a:solidFill>
            <a:srgbClr val="EEF3F6"/>
          </a:solidFill>
          <a:ln/>
        </p:spPr>
      </p:sp>
      <p:sp>
        <p:nvSpPr>
          <p:cNvPr id="8" name="Shape 6"/>
          <p:cNvSpPr/>
          <p:nvPr/>
        </p:nvSpPr>
        <p:spPr>
          <a:xfrm>
            <a:off x="621792" y="1499616"/>
            <a:ext cx="182880" cy="182880"/>
          </a:xfrm>
          <a:prstGeom prst="ellipse">
            <a:avLst/>
          </a:prstGeom>
          <a:solidFill>
            <a:srgbClr val="C4622D"/>
          </a:solidFill>
          <a:ln/>
        </p:spPr>
      </p:sp>
      <p:sp>
        <p:nvSpPr>
          <p:cNvPr id="9" name="Text 7"/>
          <p:cNvSpPr/>
          <p:nvPr/>
        </p:nvSpPr>
        <p:spPr>
          <a:xfrm>
            <a:off x="914400" y="1371600"/>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Local value numbering / DAG</a:t>
            </a:r>
            <a:endParaRPr lang="en-US" sz="1100" dirty="0"/>
          </a:p>
        </p:txBody>
      </p:sp>
      <p:sp>
        <p:nvSpPr>
          <p:cNvPr id="10" name="Text 8"/>
          <p:cNvSpPr/>
          <p:nvPr/>
        </p:nvSpPr>
        <p:spPr>
          <a:xfrm>
            <a:off x="3200400" y="1371600"/>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1 sub-expression reused, 1 constant folded</a:t>
            </a:r>
            <a:endParaRPr lang="en-US" sz="950" dirty="0"/>
          </a:p>
        </p:txBody>
      </p:sp>
      <p:sp>
        <p:nvSpPr>
          <p:cNvPr id="11" name="Shape 9"/>
          <p:cNvSpPr/>
          <p:nvPr/>
        </p:nvSpPr>
        <p:spPr>
          <a:xfrm>
            <a:off x="502920" y="1883664"/>
            <a:ext cx="5120640" cy="438912"/>
          </a:xfrm>
          <a:prstGeom prst="roundRect">
            <a:avLst>
              <a:gd name="adj" fmla="val 12500"/>
            </a:avLst>
          </a:prstGeom>
          <a:solidFill>
            <a:srgbClr val="EEF3F6"/>
          </a:solidFill>
          <a:ln/>
        </p:spPr>
      </p:sp>
      <p:sp>
        <p:nvSpPr>
          <p:cNvPr id="12" name="Shape 10"/>
          <p:cNvSpPr/>
          <p:nvPr/>
        </p:nvSpPr>
        <p:spPr>
          <a:xfrm>
            <a:off x="621792" y="2011680"/>
            <a:ext cx="182880" cy="182880"/>
          </a:xfrm>
          <a:prstGeom prst="ellipse">
            <a:avLst/>
          </a:prstGeom>
          <a:solidFill>
            <a:srgbClr val="C4622D"/>
          </a:solidFill>
          <a:ln/>
        </p:spPr>
      </p:sp>
      <p:sp>
        <p:nvSpPr>
          <p:cNvPr id="13" name="Text 11"/>
          <p:cNvSpPr/>
          <p:nvPr/>
        </p:nvSpPr>
        <p:spPr>
          <a:xfrm>
            <a:off x="914400" y="1883664"/>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Constant + copy propagation</a:t>
            </a:r>
            <a:endParaRPr lang="en-US" sz="1100" dirty="0"/>
          </a:p>
        </p:txBody>
      </p:sp>
      <p:sp>
        <p:nvSpPr>
          <p:cNvPr id="14" name="Text 12"/>
          <p:cNvSpPr/>
          <p:nvPr/>
        </p:nvSpPr>
        <p:spPr>
          <a:xfrm>
            <a:off x="3200400" y="1883664"/>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operands replaced by what they must equal</a:t>
            </a:r>
            <a:endParaRPr lang="en-US" sz="950" dirty="0"/>
          </a:p>
        </p:txBody>
      </p:sp>
      <p:sp>
        <p:nvSpPr>
          <p:cNvPr id="15" name="Shape 13"/>
          <p:cNvSpPr/>
          <p:nvPr/>
        </p:nvSpPr>
        <p:spPr>
          <a:xfrm>
            <a:off x="502920" y="2395728"/>
            <a:ext cx="5120640" cy="438912"/>
          </a:xfrm>
          <a:prstGeom prst="roundRect">
            <a:avLst>
              <a:gd name="adj" fmla="val 12500"/>
            </a:avLst>
          </a:prstGeom>
          <a:solidFill>
            <a:srgbClr val="EEF3F6"/>
          </a:solidFill>
          <a:ln/>
        </p:spPr>
      </p:sp>
      <p:sp>
        <p:nvSpPr>
          <p:cNvPr id="16" name="Shape 14"/>
          <p:cNvSpPr/>
          <p:nvPr/>
        </p:nvSpPr>
        <p:spPr>
          <a:xfrm>
            <a:off x="621792" y="2523744"/>
            <a:ext cx="182880" cy="182880"/>
          </a:xfrm>
          <a:prstGeom prst="ellipse">
            <a:avLst/>
          </a:prstGeom>
          <a:solidFill>
            <a:srgbClr val="C4622D"/>
          </a:solidFill>
          <a:ln/>
        </p:spPr>
      </p:sp>
      <p:sp>
        <p:nvSpPr>
          <p:cNvPr id="17" name="Text 15"/>
          <p:cNvSpPr/>
          <p:nvPr/>
        </p:nvSpPr>
        <p:spPr>
          <a:xfrm>
            <a:off x="914400" y="2395728"/>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Loop-invariant code motion</a:t>
            </a:r>
            <a:endParaRPr lang="en-US" sz="1100" dirty="0"/>
          </a:p>
        </p:txBody>
      </p:sp>
      <p:sp>
        <p:nvSpPr>
          <p:cNvPr id="18" name="Text 16"/>
          <p:cNvSpPr/>
          <p:nvPr/>
        </p:nvSpPr>
        <p:spPr>
          <a:xfrm>
            <a:off x="3200400" y="2395728"/>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width * height hoisted out of the loop</a:t>
            </a:r>
            <a:endParaRPr lang="en-US" sz="950" dirty="0"/>
          </a:p>
        </p:txBody>
      </p:sp>
      <p:sp>
        <p:nvSpPr>
          <p:cNvPr id="19" name="Shape 17"/>
          <p:cNvSpPr/>
          <p:nvPr/>
        </p:nvSpPr>
        <p:spPr>
          <a:xfrm>
            <a:off x="502920" y="2907792"/>
            <a:ext cx="5120640" cy="438912"/>
          </a:xfrm>
          <a:prstGeom prst="roundRect">
            <a:avLst>
              <a:gd name="adj" fmla="val 12500"/>
            </a:avLst>
          </a:prstGeom>
          <a:solidFill>
            <a:srgbClr val="EEF3F6"/>
          </a:solidFill>
          <a:ln/>
        </p:spPr>
      </p:sp>
      <p:sp>
        <p:nvSpPr>
          <p:cNvPr id="20" name="Shape 18"/>
          <p:cNvSpPr/>
          <p:nvPr/>
        </p:nvSpPr>
        <p:spPr>
          <a:xfrm>
            <a:off x="621792" y="3035808"/>
            <a:ext cx="182880" cy="182880"/>
          </a:xfrm>
          <a:prstGeom prst="ellipse">
            <a:avLst/>
          </a:prstGeom>
          <a:solidFill>
            <a:srgbClr val="C4622D"/>
          </a:solidFill>
          <a:ln/>
        </p:spPr>
      </p:sp>
      <p:sp>
        <p:nvSpPr>
          <p:cNvPr id="21" name="Text 19"/>
          <p:cNvSpPr/>
          <p:nvPr/>
        </p:nvSpPr>
        <p:spPr>
          <a:xfrm>
            <a:off x="914400" y="2907792"/>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Strength reduction</a:t>
            </a:r>
            <a:endParaRPr lang="en-US" sz="1100" dirty="0"/>
          </a:p>
        </p:txBody>
      </p:sp>
      <p:sp>
        <p:nvSpPr>
          <p:cNvPr id="22" name="Text 20"/>
          <p:cNvSpPr/>
          <p:nvPr/>
        </p:nvSpPr>
        <p:spPr>
          <a:xfrm>
            <a:off x="3200400" y="2907792"/>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i * 8 becomes an addition of 8 per iteration</a:t>
            </a:r>
            <a:endParaRPr lang="en-US" sz="950" dirty="0"/>
          </a:p>
        </p:txBody>
      </p:sp>
      <p:sp>
        <p:nvSpPr>
          <p:cNvPr id="23" name="Shape 21"/>
          <p:cNvSpPr/>
          <p:nvPr/>
        </p:nvSpPr>
        <p:spPr>
          <a:xfrm>
            <a:off x="502920" y="3419856"/>
            <a:ext cx="5120640" cy="438912"/>
          </a:xfrm>
          <a:prstGeom prst="roundRect">
            <a:avLst>
              <a:gd name="adj" fmla="val 12500"/>
            </a:avLst>
          </a:prstGeom>
          <a:solidFill>
            <a:srgbClr val="EEF3F6"/>
          </a:solidFill>
          <a:ln/>
        </p:spPr>
      </p:sp>
      <p:sp>
        <p:nvSpPr>
          <p:cNvPr id="24" name="Shape 22"/>
          <p:cNvSpPr/>
          <p:nvPr/>
        </p:nvSpPr>
        <p:spPr>
          <a:xfrm>
            <a:off x="621792" y="3547872"/>
            <a:ext cx="182880" cy="182880"/>
          </a:xfrm>
          <a:prstGeom prst="ellipse">
            <a:avLst/>
          </a:prstGeom>
          <a:solidFill>
            <a:srgbClr val="C4622D"/>
          </a:solidFill>
          <a:ln/>
        </p:spPr>
      </p:sp>
      <p:sp>
        <p:nvSpPr>
          <p:cNvPr id="25" name="Text 23"/>
          <p:cNvSpPr/>
          <p:nvPr/>
        </p:nvSpPr>
        <p:spPr>
          <a:xfrm>
            <a:off x="914400" y="3419856"/>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Dead-code elimination</a:t>
            </a:r>
            <a:endParaRPr lang="en-US" sz="1100" dirty="0"/>
          </a:p>
        </p:txBody>
      </p:sp>
      <p:sp>
        <p:nvSpPr>
          <p:cNvPr id="26" name="Text 24"/>
          <p:cNvSpPr/>
          <p:nvPr/>
        </p:nvSpPr>
        <p:spPr>
          <a:xfrm>
            <a:off x="3200400" y="3419856"/>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3 instructions whose result nobody reads</a:t>
            </a:r>
            <a:endParaRPr lang="en-US" sz="950" dirty="0"/>
          </a:p>
        </p:txBody>
      </p:sp>
      <p:sp>
        <p:nvSpPr>
          <p:cNvPr id="27" name="Shape 25"/>
          <p:cNvSpPr/>
          <p:nvPr/>
        </p:nvSpPr>
        <p:spPr>
          <a:xfrm>
            <a:off x="502920" y="3931920"/>
            <a:ext cx="5120640" cy="438912"/>
          </a:xfrm>
          <a:prstGeom prst="roundRect">
            <a:avLst>
              <a:gd name="adj" fmla="val 12500"/>
            </a:avLst>
          </a:prstGeom>
          <a:solidFill>
            <a:srgbClr val="EEF3F6"/>
          </a:solidFill>
          <a:ln/>
        </p:spPr>
      </p:sp>
      <p:sp>
        <p:nvSpPr>
          <p:cNvPr id="28" name="Shape 26"/>
          <p:cNvSpPr/>
          <p:nvPr/>
        </p:nvSpPr>
        <p:spPr>
          <a:xfrm>
            <a:off x="621792" y="4059936"/>
            <a:ext cx="182880" cy="182880"/>
          </a:xfrm>
          <a:prstGeom prst="ellipse">
            <a:avLst/>
          </a:prstGeom>
          <a:solidFill>
            <a:srgbClr val="C4622D"/>
          </a:solidFill>
          <a:ln/>
        </p:spPr>
      </p:sp>
      <p:sp>
        <p:nvSpPr>
          <p:cNvPr id="29" name="Text 27"/>
          <p:cNvSpPr/>
          <p:nvPr/>
        </p:nvSpPr>
        <p:spPr>
          <a:xfrm>
            <a:off x="914400" y="3931920"/>
            <a:ext cx="2286000" cy="43891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Unreachable code + jumps</a:t>
            </a:r>
            <a:endParaRPr lang="en-US" sz="1100" dirty="0"/>
          </a:p>
        </p:txBody>
      </p:sp>
      <p:sp>
        <p:nvSpPr>
          <p:cNvPr id="30" name="Text 28"/>
          <p:cNvSpPr/>
          <p:nvPr/>
        </p:nvSpPr>
        <p:spPr>
          <a:xfrm>
            <a:off x="3200400" y="3931920"/>
            <a:ext cx="2331720" cy="438912"/>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blocks no path reaches, jumps to jumps</a:t>
            </a:r>
            <a:endParaRPr lang="en-US" sz="950" dirty="0"/>
          </a:p>
        </p:txBody>
      </p:sp>
      <p:sp>
        <p:nvSpPr>
          <p:cNvPr id="31" name="Shape 29"/>
          <p:cNvSpPr/>
          <p:nvPr/>
        </p:nvSpPr>
        <p:spPr>
          <a:xfrm>
            <a:off x="5943600" y="1371600"/>
            <a:ext cx="2697480" cy="1463040"/>
          </a:xfrm>
          <a:prstGeom prst="roundRect">
            <a:avLst>
              <a:gd name="adj" fmla="val 5000"/>
            </a:avLst>
          </a:prstGeom>
          <a:solidFill>
            <a:srgbClr val="E8F2EF"/>
          </a:solidFill>
          <a:ln/>
          <a:effectLst>
            <a:outerShdw sx="100000" sy="100000" kx="0" ky="0" algn="bl" rotWithShape="0" blurRad="101600" dist="25400" dir="5400000">
              <a:srgbClr val="9AACB8">
                <a:alpha val="35000"/>
              </a:srgbClr>
            </a:outerShdw>
          </a:effectLst>
        </p:spPr>
      </p:sp>
      <p:sp>
        <p:nvSpPr>
          <p:cNvPr id="32" name="Text 30"/>
          <p:cNvSpPr/>
          <p:nvPr/>
        </p:nvSpPr>
        <p:spPr>
          <a:xfrm>
            <a:off x="6126480" y="1463040"/>
            <a:ext cx="2377440" cy="256032"/>
          </a:xfrm>
          <a:prstGeom prst="rect">
            <a:avLst/>
          </a:prstGeom>
          <a:noFill/>
          <a:ln/>
        </p:spPr>
        <p:txBody>
          <a:bodyPr wrap="square" lIns="0" tIns="0" rIns="0" bIns="0" rtlCol="0" anchor="ctr"/>
          <a:lstStyle/>
          <a:p>
            <a:pPr indent="0" marL="0">
              <a:buNone/>
            </a:pPr>
            <a:r>
              <a:rPr lang="en-US" sz="1100" b="1" dirty="0">
                <a:solidFill>
                  <a:srgbClr val="0E7C66"/>
                </a:solidFill>
                <a:latin typeface="Calibri" pitchFamily="34" charset="0"/>
                <a:ea typeface="Calibri" pitchFamily="34" charset="-122"/>
                <a:cs typeface="Calibri" pitchFamily="34" charset="-120"/>
              </a:rPr>
              <a:t>Instructions executed</a:t>
            </a:r>
            <a:endParaRPr lang="en-US" sz="1100" dirty="0"/>
          </a:p>
        </p:txBody>
      </p:sp>
      <p:sp>
        <p:nvSpPr>
          <p:cNvPr id="33" name="Text 31"/>
          <p:cNvSpPr/>
          <p:nvPr/>
        </p:nvSpPr>
        <p:spPr>
          <a:xfrm>
            <a:off x="6126480" y="1737360"/>
            <a:ext cx="1097280" cy="502920"/>
          </a:xfrm>
          <a:prstGeom prst="rect">
            <a:avLst/>
          </a:prstGeom>
          <a:noFill/>
          <a:ln/>
        </p:spPr>
        <p:txBody>
          <a:bodyPr wrap="square" lIns="0" tIns="0" rIns="0" bIns="0" rtlCol="0" anchor="ctr"/>
          <a:lstStyle/>
          <a:p>
            <a:pPr indent="0" marL="0">
              <a:buNone/>
            </a:pPr>
            <a:r>
              <a:rPr lang="en-US" sz="3000" b="1" dirty="0">
                <a:solidFill>
                  <a:srgbClr val="5D6B7A"/>
                </a:solidFill>
                <a:latin typeface="Cambria" pitchFamily="34" charset="0"/>
                <a:ea typeface="Cambria" pitchFamily="34" charset="-122"/>
                <a:cs typeface="Cambria" pitchFamily="34" charset="-120"/>
              </a:rPr>
              <a:t>188</a:t>
            </a:r>
            <a:endParaRPr lang="en-US" sz="3000" dirty="0"/>
          </a:p>
        </p:txBody>
      </p:sp>
      <p:sp>
        <p:nvSpPr>
          <p:cNvPr id="34" name="Text 32"/>
          <p:cNvSpPr/>
          <p:nvPr/>
        </p:nvSpPr>
        <p:spPr>
          <a:xfrm>
            <a:off x="7406640" y="1737360"/>
            <a:ext cx="1097280" cy="502920"/>
          </a:xfrm>
          <a:prstGeom prst="rect">
            <a:avLst/>
          </a:prstGeom>
          <a:noFill/>
          <a:ln/>
        </p:spPr>
        <p:txBody>
          <a:bodyPr wrap="square" lIns="0" tIns="0" rIns="0" bIns="0" rtlCol="0" anchor="ctr"/>
          <a:lstStyle/>
          <a:p>
            <a:pPr indent="0" marL="0">
              <a:buNone/>
            </a:pPr>
            <a:r>
              <a:rPr lang="en-US" sz="3000" b="1" dirty="0">
                <a:solidFill>
                  <a:srgbClr val="0E7C66"/>
                </a:solidFill>
                <a:latin typeface="Cambria" pitchFamily="34" charset="0"/>
                <a:ea typeface="Cambria" pitchFamily="34" charset="-122"/>
                <a:cs typeface="Cambria" pitchFamily="34" charset="-120"/>
              </a:rPr>
              <a:t>148</a:t>
            </a:r>
            <a:endParaRPr lang="en-US" sz="3000" dirty="0"/>
          </a:p>
        </p:txBody>
      </p:sp>
      <p:sp>
        <p:nvSpPr>
          <p:cNvPr id="35" name="Text 33"/>
          <p:cNvSpPr/>
          <p:nvPr/>
        </p:nvSpPr>
        <p:spPr>
          <a:xfrm>
            <a:off x="6126480" y="2240280"/>
            <a:ext cx="2377440" cy="228600"/>
          </a:xfrm>
          <a:prstGeom prst="rect">
            <a:avLst/>
          </a:prstGeom>
          <a:noFill/>
          <a:ln/>
        </p:spPr>
        <p:txBody>
          <a:bodyPr wrap="square" lIns="0" tIns="0" rIns="0" bIns="0" rtlCol="0" anchor="ctr"/>
          <a:lstStyle/>
          <a:p>
            <a:pPr indent="0" marL="0">
              <a:buNone/>
            </a:pPr>
            <a:r>
              <a:rPr lang="en-US" sz="950" dirty="0">
                <a:solidFill>
                  <a:srgbClr val="5D6B7A"/>
                </a:solidFill>
                <a:latin typeface="Calibri" pitchFamily="34" charset="0"/>
                <a:ea typeface="Calibri" pitchFamily="34" charset="-122"/>
                <a:cs typeface="Calibri" pitchFamily="34" charset="-120"/>
              </a:rPr>
              <a:t>before                after</a:t>
            </a:r>
            <a:endParaRPr lang="en-US" sz="950" dirty="0"/>
          </a:p>
        </p:txBody>
      </p:sp>
      <p:sp>
        <p:nvSpPr>
          <p:cNvPr id="36" name="Text 34"/>
          <p:cNvSpPr/>
          <p:nvPr/>
        </p:nvSpPr>
        <p:spPr>
          <a:xfrm>
            <a:off x="6126480" y="2468880"/>
            <a:ext cx="2377440" cy="256032"/>
          </a:xfrm>
          <a:prstGeom prst="rect">
            <a:avLst/>
          </a:prstGeom>
          <a:noFill/>
          <a:ln/>
        </p:spPr>
        <p:txBody>
          <a:bodyPr wrap="square" lIns="0" tIns="0" rIns="0" bIns="0" rtlCol="0" anchor="ctr"/>
          <a:lstStyle/>
          <a:p>
            <a:pPr indent="0" marL="0">
              <a:buNone/>
            </a:pPr>
            <a:r>
              <a:rPr lang="en-US" sz="1050" b="1" dirty="0">
                <a:solidFill>
                  <a:srgbClr val="0E7C66"/>
                </a:solidFill>
                <a:latin typeface="Calibri" pitchFamily="34" charset="0"/>
                <a:ea typeface="Calibri" pitchFamily="34" charset="-122"/>
                <a:cs typeface="Calibri" pitchFamily="34" charset="-120"/>
              </a:rPr>
              <a:t>21% less work at run time</a:t>
            </a:r>
            <a:endParaRPr lang="en-US" sz="1050" dirty="0"/>
          </a:p>
        </p:txBody>
      </p:sp>
      <p:sp>
        <p:nvSpPr>
          <p:cNvPr id="37" name="Shape 35"/>
          <p:cNvSpPr/>
          <p:nvPr/>
        </p:nvSpPr>
        <p:spPr>
          <a:xfrm>
            <a:off x="5943600" y="2971800"/>
            <a:ext cx="2697480" cy="1463040"/>
          </a:xfrm>
          <a:prstGeom prst="roundRect">
            <a:avLst>
              <a:gd name="adj" fmla="val 5000"/>
            </a:avLst>
          </a:prstGeom>
          <a:solidFill>
            <a:srgbClr val="EEF3F6"/>
          </a:solidFill>
          <a:ln/>
          <a:effectLst>
            <a:outerShdw sx="100000" sy="100000" kx="0" ky="0" algn="bl" rotWithShape="0" blurRad="101600" dist="25400" dir="5400000">
              <a:srgbClr val="9AACB8">
                <a:alpha val="35000"/>
              </a:srgbClr>
            </a:outerShdw>
          </a:effectLst>
        </p:spPr>
      </p:sp>
      <p:sp>
        <p:nvSpPr>
          <p:cNvPr id="38" name="Text 36"/>
          <p:cNvSpPr/>
          <p:nvPr/>
        </p:nvSpPr>
        <p:spPr>
          <a:xfrm>
            <a:off x="6126480" y="3063240"/>
            <a:ext cx="2377440" cy="256032"/>
          </a:xfrm>
          <a:prstGeom prst="rect">
            <a:avLst/>
          </a:prstGeom>
          <a:noFill/>
          <a:ln/>
        </p:spPr>
        <p:txBody>
          <a:bodyPr wrap="square" lIns="0" tIns="0" rIns="0" bIns="0" rtlCol="0" anchor="ctr"/>
          <a:lstStyle/>
          <a:p>
            <a:pPr indent="0" marL="0">
              <a:buNone/>
            </a:pPr>
            <a:r>
              <a:rPr lang="en-US" sz="1100" b="1" dirty="0">
                <a:solidFill>
                  <a:srgbClr val="0F2233"/>
                </a:solidFill>
                <a:latin typeface="Calibri" pitchFamily="34" charset="0"/>
                <a:ea typeface="Calibri" pitchFamily="34" charset="-122"/>
                <a:cs typeface="Calibri" pitchFamily="34" charset="-120"/>
              </a:rPr>
              <a:t>Nothing is taken on trust</a:t>
            </a:r>
            <a:endParaRPr lang="en-US" sz="1100" dirty="0"/>
          </a:p>
        </p:txBody>
      </p:sp>
      <p:sp>
        <p:nvSpPr>
          <p:cNvPr id="39" name="Text 37"/>
          <p:cNvSpPr/>
          <p:nvPr/>
        </p:nvSpPr>
        <p:spPr>
          <a:xfrm>
            <a:off x="6126480" y="3337560"/>
            <a:ext cx="2377440" cy="960120"/>
          </a:xfrm>
          <a:prstGeom prst="rect">
            <a:avLst/>
          </a:prstGeom>
          <a:noFill/>
          <a:ln/>
        </p:spPr>
        <p:txBody>
          <a:bodyPr wrap="square" lIns="0" tIns="0" rIns="0" bIns="0" rtlCol="0" anchor="ctr"/>
          <a:lstStyle/>
          <a:p>
            <a:pPr indent="0" marL="0">
              <a:lnSpc>
                <a:spcPts val="1250"/>
              </a:lnSpc>
              <a:buNone/>
            </a:pPr>
            <a:r>
              <a:rPr lang="en-US" sz="1000" dirty="0">
                <a:solidFill>
                  <a:srgbClr val="5D6B7A"/>
                </a:solidFill>
                <a:latin typeface="Calibri" pitchFamily="34" charset="0"/>
                <a:ea typeface="Calibri" pitchFamily="34" charset="-122"/>
                <a:cs typeface="Calibri" pitchFamily="34" charset="-120"/>
              </a:rPr>
              <a:t>Every example is run before and after optimisation, and by a second, completely separate back-end. All three outputs must match, or the test suite fails.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11</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How the optimiser knows what is safe</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Four data-flow analyses, each iterated to a fixed point.</a:t>
            </a:r>
            <a:endParaRPr lang="en-US" sz="1350" dirty="0"/>
          </a:p>
        </p:txBody>
      </p:sp>
      <p:sp>
        <p:nvSpPr>
          <p:cNvPr id="7" name="Shape 5"/>
          <p:cNvSpPr/>
          <p:nvPr/>
        </p:nvSpPr>
        <p:spPr>
          <a:xfrm>
            <a:off x="502920" y="1371600"/>
            <a:ext cx="3977640"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8" name="Shape 6"/>
          <p:cNvSpPr/>
          <p:nvPr/>
        </p:nvSpPr>
        <p:spPr>
          <a:xfrm>
            <a:off x="704088" y="1572768"/>
            <a:ext cx="310896" cy="310896"/>
          </a:xfrm>
          <a:prstGeom prst="ellipse">
            <a:avLst/>
          </a:prstGeom>
          <a:solidFill>
            <a:srgbClr val="C4622D"/>
          </a:solidFill>
          <a:ln/>
        </p:spPr>
      </p:sp>
      <p:sp>
        <p:nvSpPr>
          <p:cNvPr id="9" name="Text 7"/>
          <p:cNvSpPr/>
          <p:nvPr/>
        </p:nvSpPr>
        <p:spPr>
          <a:xfrm>
            <a:off x="704088"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p:nvPr/>
        </p:nvSpPr>
        <p:spPr>
          <a:xfrm>
            <a:off x="1124712" y="1554480"/>
            <a:ext cx="237744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Reaching definitions</a:t>
            </a:r>
            <a:endParaRPr lang="en-US" sz="1300" dirty="0"/>
          </a:p>
        </p:txBody>
      </p:sp>
      <p:sp>
        <p:nvSpPr>
          <p:cNvPr id="11" name="Text 9"/>
          <p:cNvSpPr/>
          <p:nvPr/>
        </p:nvSpPr>
        <p:spPr>
          <a:xfrm>
            <a:off x="1124712" y="1810512"/>
            <a:ext cx="3108960" cy="228600"/>
          </a:xfrm>
          <a:prstGeom prst="rect">
            <a:avLst/>
          </a:prstGeom>
          <a:noFill/>
          <a:ln/>
        </p:spPr>
        <p:txBody>
          <a:bodyPr wrap="square" lIns="0" tIns="0" rIns="0" bIns="0" rtlCol="0" anchor="ctr"/>
          <a:lstStyle/>
          <a:p>
            <a:pPr indent="0" marL="0">
              <a:buNone/>
            </a:pPr>
            <a:r>
              <a:rPr lang="en-US" sz="950" i="1" dirty="0">
                <a:solidFill>
                  <a:srgbClr val="C4622D"/>
                </a:solidFill>
                <a:latin typeface="Calibri" pitchFamily="34" charset="0"/>
                <a:ea typeface="Calibri" pitchFamily="34" charset="-122"/>
                <a:cs typeface="Calibri" pitchFamily="34" charset="-120"/>
              </a:rPr>
              <a:t>forward, union</a:t>
            </a:r>
            <a:endParaRPr lang="en-US" sz="950" dirty="0"/>
          </a:p>
        </p:txBody>
      </p:sp>
      <p:sp>
        <p:nvSpPr>
          <p:cNvPr id="12" name="Text 10"/>
          <p:cNvSpPr/>
          <p:nvPr/>
        </p:nvSpPr>
        <p:spPr>
          <a:xfrm>
            <a:off x="758952" y="2084832"/>
            <a:ext cx="352044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Which assignment could have produced the value in this variable?</a:t>
            </a:r>
            <a:endParaRPr lang="en-US" sz="1050" dirty="0"/>
          </a:p>
        </p:txBody>
      </p:sp>
      <p:sp>
        <p:nvSpPr>
          <p:cNvPr id="13" name="Shape 11"/>
          <p:cNvSpPr/>
          <p:nvPr/>
        </p:nvSpPr>
        <p:spPr>
          <a:xfrm>
            <a:off x="4800600" y="1371600"/>
            <a:ext cx="3977640"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14" name="Shape 12"/>
          <p:cNvSpPr/>
          <p:nvPr/>
        </p:nvSpPr>
        <p:spPr>
          <a:xfrm>
            <a:off x="5001768" y="1572768"/>
            <a:ext cx="310896" cy="310896"/>
          </a:xfrm>
          <a:prstGeom prst="ellipse">
            <a:avLst/>
          </a:prstGeom>
          <a:solidFill>
            <a:srgbClr val="0E7C66"/>
          </a:solidFill>
          <a:ln/>
        </p:spPr>
      </p:sp>
      <p:sp>
        <p:nvSpPr>
          <p:cNvPr id="15" name="Text 13"/>
          <p:cNvSpPr/>
          <p:nvPr/>
        </p:nvSpPr>
        <p:spPr>
          <a:xfrm>
            <a:off x="5001768" y="1572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5422392" y="1554480"/>
            <a:ext cx="237744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Live variables</a:t>
            </a:r>
            <a:endParaRPr lang="en-US" sz="1300" dirty="0"/>
          </a:p>
        </p:txBody>
      </p:sp>
      <p:sp>
        <p:nvSpPr>
          <p:cNvPr id="17" name="Text 15"/>
          <p:cNvSpPr/>
          <p:nvPr/>
        </p:nvSpPr>
        <p:spPr>
          <a:xfrm>
            <a:off x="5422392" y="1810512"/>
            <a:ext cx="3108960" cy="228600"/>
          </a:xfrm>
          <a:prstGeom prst="rect">
            <a:avLst/>
          </a:prstGeom>
          <a:noFill/>
          <a:ln/>
        </p:spPr>
        <p:txBody>
          <a:bodyPr wrap="square" lIns="0" tIns="0" rIns="0" bIns="0" rtlCol="0" anchor="ctr"/>
          <a:lstStyle/>
          <a:p>
            <a:pPr indent="0" marL="0">
              <a:buNone/>
            </a:pPr>
            <a:r>
              <a:rPr lang="en-US" sz="950" i="1" dirty="0">
                <a:solidFill>
                  <a:srgbClr val="0E7C66"/>
                </a:solidFill>
                <a:latin typeface="Calibri" pitchFamily="34" charset="0"/>
                <a:ea typeface="Calibri" pitchFamily="34" charset="-122"/>
                <a:cs typeface="Calibri" pitchFamily="34" charset="-120"/>
              </a:rPr>
              <a:t>backward, union</a:t>
            </a:r>
            <a:endParaRPr lang="en-US" sz="950" dirty="0"/>
          </a:p>
        </p:txBody>
      </p:sp>
      <p:sp>
        <p:nvSpPr>
          <p:cNvPr id="18" name="Text 16"/>
          <p:cNvSpPr/>
          <p:nvPr/>
        </p:nvSpPr>
        <p:spPr>
          <a:xfrm>
            <a:off x="5056632" y="2084832"/>
            <a:ext cx="352044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Will anybody read this value again? If not, the instruction is dead.</a:t>
            </a:r>
            <a:endParaRPr lang="en-US" sz="1050" dirty="0"/>
          </a:p>
        </p:txBody>
      </p:sp>
      <p:sp>
        <p:nvSpPr>
          <p:cNvPr id="19" name="Shape 17"/>
          <p:cNvSpPr/>
          <p:nvPr/>
        </p:nvSpPr>
        <p:spPr>
          <a:xfrm>
            <a:off x="502920" y="2944368"/>
            <a:ext cx="3977640"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20" name="Shape 18"/>
          <p:cNvSpPr/>
          <p:nvPr/>
        </p:nvSpPr>
        <p:spPr>
          <a:xfrm>
            <a:off x="704088" y="3145536"/>
            <a:ext cx="310896" cy="310896"/>
          </a:xfrm>
          <a:prstGeom prst="ellipse">
            <a:avLst/>
          </a:prstGeom>
          <a:solidFill>
            <a:srgbClr val="C4622D"/>
          </a:solidFill>
          <a:ln/>
        </p:spPr>
      </p:sp>
      <p:sp>
        <p:nvSpPr>
          <p:cNvPr id="21" name="Text 19"/>
          <p:cNvSpPr/>
          <p:nvPr/>
        </p:nvSpPr>
        <p:spPr>
          <a:xfrm>
            <a:off x="704088" y="31455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2" name="Text 20"/>
          <p:cNvSpPr/>
          <p:nvPr/>
        </p:nvSpPr>
        <p:spPr>
          <a:xfrm>
            <a:off x="1124712" y="3127248"/>
            <a:ext cx="237744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Available expressions</a:t>
            </a:r>
            <a:endParaRPr lang="en-US" sz="1300" dirty="0"/>
          </a:p>
        </p:txBody>
      </p:sp>
      <p:sp>
        <p:nvSpPr>
          <p:cNvPr id="23" name="Text 21"/>
          <p:cNvSpPr/>
          <p:nvPr/>
        </p:nvSpPr>
        <p:spPr>
          <a:xfrm>
            <a:off x="1124712" y="3383280"/>
            <a:ext cx="3108960" cy="228600"/>
          </a:xfrm>
          <a:prstGeom prst="rect">
            <a:avLst/>
          </a:prstGeom>
          <a:noFill/>
          <a:ln/>
        </p:spPr>
        <p:txBody>
          <a:bodyPr wrap="square" lIns="0" tIns="0" rIns="0" bIns="0" rtlCol="0" anchor="ctr"/>
          <a:lstStyle/>
          <a:p>
            <a:pPr indent="0" marL="0">
              <a:buNone/>
            </a:pPr>
            <a:r>
              <a:rPr lang="en-US" sz="950" i="1" dirty="0">
                <a:solidFill>
                  <a:srgbClr val="C4622D"/>
                </a:solidFill>
                <a:latin typeface="Calibri" pitchFamily="34" charset="0"/>
                <a:ea typeface="Calibri" pitchFamily="34" charset="-122"/>
                <a:cs typeface="Calibri" pitchFamily="34" charset="-120"/>
              </a:rPr>
              <a:t>forward, intersection</a:t>
            </a:r>
            <a:endParaRPr lang="en-US" sz="950" dirty="0"/>
          </a:p>
        </p:txBody>
      </p:sp>
      <p:sp>
        <p:nvSpPr>
          <p:cNvPr id="24" name="Text 22"/>
          <p:cNvSpPr/>
          <p:nvPr/>
        </p:nvSpPr>
        <p:spPr>
          <a:xfrm>
            <a:off x="758952" y="3657600"/>
            <a:ext cx="352044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Has this expression already been computed on every path here?</a:t>
            </a:r>
            <a:endParaRPr lang="en-US" sz="1050" dirty="0"/>
          </a:p>
        </p:txBody>
      </p:sp>
      <p:sp>
        <p:nvSpPr>
          <p:cNvPr id="25" name="Shape 23"/>
          <p:cNvSpPr/>
          <p:nvPr/>
        </p:nvSpPr>
        <p:spPr>
          <a:xfrm>
            <a:off x="4800600" y="2944368"/>
            <a:ext cx="3977640" cy="1371600"/>
          </a:xfrm>
          <a:prstGeom prst="roundRect">
            <a:avLst>
              <a:gd name="adj" fmla="val 5333"/>
            </a:avLst>
          </a:prstGeom>
          <a:solidFill>
            <a:srgbClr val="EEF3F6"/>
          </a:solidFill>
          <a:ln/>
          <a:effectLst>
            <a:outerShdw sx="100000" sy="100000" kx="0" ky="0" algn="bl" rotWithShape="0" blurRad="101600" dist="25400" dir="5400000">
              <a:srgbClr val="9AACB8">
                <a:alpha val="35000"/>
              </a:srgbClr>
            </a:outerShdw>
          </a:effectLst>
        </p:spPr>
      </p:sp>
      <p:sp>
        <p:nvSpPr>
          <p:cNvPr id="26" name="Shape 24"/>
          <p:cNvSpPr/>
          <p:nvPr/>
        </p:nvSpPr>
        <p:spPr>
          <a:xfrm>
            <a:off x="5001768" y="3145536"/>
            <a:ext cx="310896" cy="310896"/>
          </a:xfrm>
          <a:prstGeom prst="ellipse">
            <a:avLst/>
          </a:prstGeom>
          <a:solidFill>
            <a:srgbClr val="0E7C66"/>
          </a:solidFill>
          <a:ln/>
        </p:spPr>
      </p:sp>
      <p:sp>
        <p:nvSpPr>
          <p:cNvPr id="27" name="Text 25"/>
          <p:cNvSpPr/>
          <p:nvPr/>
        </p:nvSpPr>
        <p:spPr>
          <a:xfrm>
            <a:off x="5001768" y="31455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8" name="Text 26"/>
          <p:cNvSpPr/>
          <p:nvPr/>
        </p:nvSpPr>
        <p:spPr>
          <a:xfrm>
            <a:off x="5422392" y="3127248"/>
            <a:ext cx="237744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Very busy expressions</a:t>
            </a:r>
            <a:endParaRPr lang="en-US" sz="1300" dirty="0"/>
          </a:p>
        </p:txBody>
      </p:sp>
      <p:sp>
        <p:nvSpPr>
          <p:cNvPr id="29" name="Text 27"/>
          <p:cNvSpPr/>
          <p:nvPr/>
        </p:nvSpPr>
        <p:spPr>
          <a:xfrm>
            <a:off x="5422392" y="3383280"/>
            <a:ext cx="3108960" cy="228600"/>
          </a:xfrm>
          <a:prstGeom prst="rect">
            <a:avLst/>
          </a:prstGeom>
          <a:noFill/>
          <a:ln/>
        </p:spPr>
        <p:txBody>
          <a:bodyPr wrap="square" lIns="0" tIns="0" rIns="0" bIns="0" rtlCol="0" anchor="ctr"/>
          <a:lstStyle/>
          <a:p>
            <a:pPr indent="0" marL="0">
              <a:buNone/>
            </a:pPr>
            <a:r>
              <a:rPr lang="en-US" sz="950" i="1" dirty="0">
                <a:solidFill>
                  <a:srgbClr val="0E7C66"/>
                </a:solidFill>
                <a:latin typeface="Calibri" pitchFamily="34" charset="0"/>
                <a:ea typeface="Calibri" pitchFamily="34" charset="-122"/>
                <a:cs typeface="Calibri" pitchFamily="34" charset="-120"/>
              </a:rPr>
              <a:t>backward, intersection</a:t>
            </a:r>
            <a:endParaRPr lang="en-US" sz="950" dirty="0"/>
          </a:p>
        </p:txBody>
      </p:sp>
      <p:sp>
        <p:nvSpPr>
          <p:cNvPr id="30" name="Text 28"/>
          <p:cNvSpPr/>
          <p:nvPr/>
        </p:nvSpPr>
        <p:spPr>
          <a:xfrm>
            <a:off x="5056632" y="3657600"/>
            <a:ext cx="352044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Will this be needed on every path from here? Then compute it once.</a:t>
            </a:r>
            <a:endParaRPr lang="en-US" sz="1050" dirty="0"/>
          </a:p>
        </p:txBody>
      </p:sp>
      <p:sp>
        <p:nvSpPr>
          <p:cNvPr id="31" name="Text 29"/>
          <p:cNvSpPr/>
          <p:nvPr/>
        </p:nvSpPr>
        <p:spPr>
          <a:xfrm>
            <a:off x="502920" y="4498848"/>
            <a:ext cx="7589520" cy="365760"/>
          </a:xfrm>
          <a:prstGeom prst="rect">
            <a:avLst/>
          </a:prstGeom>
          <a:noFill/>
          <a:ln/>
        </p:spPr>
        <p:txBody>
          <a:bodyPr wrap="square" lIns="0" tIns="0" rIns="0" bIns="0" rtlCol="0" anchor="ctr"/>
          <a:lstStyle/>
          <a:p>
            <a:pPr algn="ctr" indent="0" marL="0">
              <a:buNone/>
            </a:pPr>
            <a:r>
              <a:rPr lang="en-US" sz="1100" i="1" dirty="0">
                <a:solidFill>
                  <a:srgbClr val="5D6B7A"/>
                </a:solidFill>
                <a:latin typeface="Calibri" pitchFamily="34" charset="0"/>
                <a:ea typeface="Calibri" pitchFamily="34" charset="-122"/>
                <a:cs typeface="Calibri" pitchFamily="34" charset="-120"/>
              </a:rPr>
              <a:t>Each one starts from a guess and applies its transfer function round after round until nothing changes. The viewer shows every round, so you can watch the sets stop moving.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12</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Code generation: four registers, and a decision every instruction</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Next-use information decides what stays in a register and what gets spilled.</a:t>
            </a:r>
            <a:endParaRPr lang="en-US" sz="1350" dirty="0"/>
          </a:p>
        </p:txBody>
      </p:sp>
      <p:sp>
        <p:nvSpPr>
          <p:cNvPr id="7" name="Shape 5"/>
          <p:cNvSpPr/>
          <p:nvPr/>
        </p:nvSpPr>
        <p:spPr>
          <a:xfrm>
            <a:off x="502920" y="1417320"/>
            <a:ext cx="4114800" cy="1691640"/>
          </a:xfrm>
          <a:prstGeom prst="roundRect">
            <a:avLst>
              <a:gd name="adj" fmla="val 4324"/>
            </a:avLst>
          </a:prstGeom>
          <a:solidFill>
            <a:srgbClr val="0F2233"/>
          </a:solidFill>
          <a:ln/>
        </p:spPr>
      </p:sp>
      <p:sp>
        <p:nvSpPr>
          <p:cNvPr id="8" name="Text 6"/>
          <p:cNvSpPr/>
          <p:nvPr/>
        </p:nvSpPr>
        <p:spPr>
          <a:xfrm>
            <a:off x="649224" y="1490472"/>
            <a:ext cx="382219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TARGET CODE, WITH THE REASONING KEPT</a:t>
            </a:r>
            <a:endParaRPr lang="en-US" sz="950" dirty="0"/>
          </a:p>
        </p:txBody>
      </p:sp>
      <p:sp>
        <p:nvSpPr>
          <p:cNvPr id="9" name="Text 7"/>
          <p:cNvSpPr/>
          <p:nvPr/>
        </p:nvSpPr>
        <p:spPr>
          <a:xfrm>
            <a:off x="649224" y="1728216"/>
            <a:ext cx="3822192" cy="1271016"/>
          </a:xfrm>
          <a:prstGeom prst="rect">
            <a:avLst/>
          </a:prstGeom>
          <a:noFill/>
          <a:ln/>
        </p:spPr>
        <p:txBody>
          <a:bodyPr wrap="square" lIns="0" tIns="0" rIns="0" bIns="0" rtlCol="0" anchor="t"/>
          <a:lstStyle/>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LD   R0, [fp+1]     ; load i</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LDI  R1, #10        ; literal 10</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JLT  R0, R1, 8      ; conditional jump</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PARAM R0            ; argument i</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CALL fib, 1         ; push a frame</a:t>
            </a:r>
            <a:endParaRPr lang="en-US" sz="1000" dirty="0"/>
          </a:p>
          <a:p>
            <a:pPr indent="0" marL="0">
              <a:lnSpc>
                <a:spcPts val="1350"/>
              </a:lnSpc>
              <a:buNone/>
            </a:pPr>
            <a:r>
              <a:rPr lang="en-US" sz="1000" dirty="0">
                <a:solidFill>
                  <a:srgbClr val="DCE7EE"/>
                </a:solidFill>
                <a:latin typeface="Courier New" pitchFamily="34" charset="0"/>
                <a:ea typeface="Courier New" pitchFamily="34" charset="-122"/>
                <a:cs typeface="Courier New" pitchFamily="34" charset="-120"/>
              </a:rPr>
              <a:t>ST   [fp+2], R0     ; t0 = result</a:t>
            </a:r>
            <a:endParaRPr lang="en-US" sz="1000" dirty="0"/>
          </a:p>
        </p:txBody>
      </p:sp>
      <p:sp>
        <p:nvSpPr>
          <p:cNvPr id="10" name="Text 8"/>
          <p:cNvSpPr/>
          <p:nvPr/>
        </p:nvSpPr>
        <p:spPr>
          <a:xfrm>
            <a:off x="502920" y="3200400"/>
            <a:ext cx="4114800" cy="54864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When every register is full, the value needed furthest in the future is the one written back to memory - Belady's rule, applied to registers.</a:t>
            </a:r>
            <a:endParaRPr lang="en-US" sz="1050" dirty="0"/>
          </a:p>
        </p:txBody>
      </p:sp>
      <p:sp>
        <p:nvSpPr>
          <p:cNvPr id="11" name="Shape 9"/>
          <p:cNvSpPr/>
          <p:nvPr/>
        </p:nvSpPr>
        <p:spPr>
          <a:xfrm>
            <a:off x="4892040" y="1417320"/>
            <a:ext cx="3749040" cy="3017520"/>
          </a:xfrm>
          <a:prstGeom prst="roundRect">
            <a:avLst>
              <a:gd name="adj" fmla="val 2424"/>
            </a:avLst>
          </a:prstGeom>
          <a:solidFill>
            <a:srgbClr val="EEF3F6"/>
          </a:solidFill>
          <a:ln/>
          <a:effectLst>
            <a:outerShdw sx="100000" sy="100000" kx="0" ky="0" algn="bl" rotWithShape="0" blurRad="101600" dist="25400" dir="5400000">
              <a:srgbClr val="9AACB8">
                <a:alpha val="35000"/>
              </a:srgbClr>
            </a:outerShdw>
          </a:effectLst>
        </p:spPr>
      </p:sp>
      <p:sp>
        <p:nvSpPr>
          <p:cNvPr id="12" name="Text 10"/>
          <p:cNvSpPr/>
          <p:nvPr/>
        </p:nvSpPr>
        <p:spPr>
          <a:xfrm>
            <a:off x="5102352" y="1517904"/>
            <a:ext cx="3291840" cy="274320"/>
          </a:xfrm>
          <a:prstGeom prst="rect">
            <a:avLst/>
          </a:prstGeom>
          <a:noFill/>
          <a:ln/>
        </p:spPr>
        <p:txBody>
          <a:bodyPr wrap="square" lIns="0" tIns="0" rIns="0" bIns="0" rtlCol="0" anchor="ctr"/>
          <a:lstStyle/>
          <a:p>
            <a:pPr indent="0" marL="0">
              <a:buNone/>
            </a:pPr>
            <a:r>
              <a:rPr lang="en-US" sz="1300" b="1" dirty="0">
                <a:solidFill>
                  <a:srgbClr val="0F2233"/>
                </a:solidFill>
                <a:latin typeface="Cambria" pitchFamily="34" charset="0"/>
                <a:ea typeface="Cambria" pitchFamily="34" charset="-122"/>
                <a:cs typeface="Cambria" pitchFamily="34" charset="-120"/>
              </a:rPr>
              <a:t>One activation record</a:t>
            </a:r>
            <a:endParaRPr lang="en-US" sz="1300" dirty="0"/>
          </a:p>
        </p:txBody>
      </p:sp>
      <p:sp>
        <p:nvSpPr>
          <p:cNvPr id="13" name="Shape 11"/>
          <p:cNvSpPr/>
          <p:nvPr/>
        </p:nvSpPr>
        <p:spPr>
          <a:xfrm>
            <a:off x="5102352" y="1874520"/>
            <a:ext cx="3291840" cy="384048"/>
          </a:xfrm>
          <a:prstGeom prst="roundRect">
            <a:avLst>
              <a:gd name="adj" fmla="val 11905"/>
            </a:avLst>
          </a:prstGeom>
          <a:solidFill>
            <a:srgbClr val="DCE6EB"/>
          </a:solidFill>
          <a:ln w="12700">
            <a:solidFill>
              <a:srgbClr val="C3D0D8"/>
            </a:solidFill>
            <a:prstDash val="solid"/>
          </a:ln>
        </p:spPr>
      </p:sp>
      <p:sp>
        <p:nvSpPr>
          <p:cNvPr id="14" name="Text 12"/>
          <p:cNvSpPr/>
          <p:nvPr/>
        </p:nvSpPr>
        <p:spPr>
          <a:xfrm>
            <a:off x="5175504" y="1874520"/>
            <a:ext cx="365760" cy="384048"/>
          </a:xfrm>
          <a:prstGeom prst="rect">
            <a:avLst/>
          </a:prstGeom>
          <a:noFill/>
          <a:ln/>
        </p:spPr>
        <p:txBody>
          <a:bodyPr wrap="square" lIns="0" tIns="0" rIns="0" bIns="0" rtlCol="0" anchor="ctr"/>
          <a:lstStyle/>
          <a:p>
            <a:pPr indent="0" marL="0">
              <a:buNone/>
            </a:pPr>
            <a:r>
              <a:rPr lang="en-US" sz="950" dirty="0">
                <a:solidFill>
                  <a:srgbClr val="C4622D"/>
                </a:solidFill>
                <a:latin typeface="Courier New" pitchFamily="34" charset="0"/>
                <a:ea typeface="Courier New" pitchFamily="34" charset="-122"/>
                <a:cs typeface="Courier New" pitchFamily="34" charset="-120"/>
              </a:rPr>
              <a:t>+0</a:t>
            </a:r>
            <a:endParaRPr lang="en-US" sz="950" dirty="0"/>
          </a:p>
        </p:txBody>
      </p:sp>
      <p:sp>
        <p:nvSpPr>
          <p:cNvPr id="15" name="Text 13"/>
          <p:cNvSpPr/>
          <p:nvPr/>
        </p:nvSpPr>
        <p:spPr>
          <a:xfrm>
            <a:off x="5577840" y="1874520"/>
            <a:ext cx="1371600" cy="384048"/>
          </a:xfrm>
          <a:prstGeom prst="rect">
            <a:avLst/>
          </a:prstGeom>
          <a:noFill/>
          <a:ln/>
        </p:spPr>
        <p:txBody>
          <a:bodyPr wrap="square" lIns="0" tIns="0" rIns="0" bIns="0" rtlCol="0" anchor="ctr"/>
          <a:lstStyle/>
          <a:p>
            <a:pPr indent="0" marL="0">
              <a:buNone/>
            </a:pPr>
            <a:r>
              <a:rPr lang="en-US" sz="1050" b="1" dirty="0">
                <a:solidFill>
                  <a:srgbClr val="0F2233"/>
                </a:solidFill>
                <a:latin typeface="Calibri" pitchFamily="34" charset="0"/>
                <a:ea typeface="Calibri" pitchFamily="34" charset="-122"/>
                <a:cs typeface="Calibri" pitchFamily="34" charset="-120"/>
              </a:rPr>
              <a:t>return address</a:t>
            </a:r>
            <a:endParaRPr lang="en-US" sz="1050" dirty="0"/>
          </a:p>
        </p:txBody>
      </p:sp>
      <p:sp>
        <p:nvSpPr>
          <p:cNvPr id="16" name="Text 14"/>
          <p:cNvSpPr/>
          <p:nvPr/>
        </p:nvSpPr>
        <p:spPr>
          <a:xfrm>
            <a:off x="6949440" y="1874520"/>
            <a:ext cx="1371600" cy="384048"/>
          </a:xfrm>
          <a:prstGeom prst="rect">
            <a:avLst/>
          </a:prstGeom>
          <a:noFill/>
          <a:ln/>
        </p:spPr>
        <p:txBody>
          <a:bodyPr wrap="square" lIns="0" tIns="0" rIns="0" bIns="0" rtlCol="0" anchor="ctr"/>
          <a:lstStyle/>
          <a:p>
            <a:pPr indent="0" marL="0">
              <a:buNone/>
            </a:pPr>
            <a:r>
              <a:rPr lang="en-US" sz="900" dirty="0">
                <a:solidFill>
                  <a:srgbClr val="5D6B7A"/>
                </a:solidFill>
                <a:latin typeface="Calibri" pitchFamily="34" charset="0"/>
                <a:ea typeface="Calibri" pitchFamily="34" charset="-122"/>
                <a:cs typeface="Calibri" pitchFamily="34" charset="-120"/>
              </a:rPr>
              <a:t>where to resume</a:t>
            </a:r>
            <a:endParaRPr lang="en-US" sz="900" dirty="0"/>
          </a:p>
        </p:txBody>
      </p:sp>
      <p:sp>
        <p:nvSpPr>
          <p:cNvPr id="17" name="Shape 15"/>
          <p:cNvSpPr/>
          <p:nvPr/>
        </p:nvSpPr>
        <p:spPr>
          <a:xfrm>
            <a:off x="5102352" y="2331720"/>
            <a:ext cx="3291840" cy="384048"/>
          </a:xfrm>
          <a:prstGeom prst="roundRect">
            <a:avLst>
              <a:gd name="adj" fmla="val 11905"/>
            </a:avLst>
          </a:prstGeom>
          <a:solidFill>
            <a:srgbClr val="DCE6EB"/>
          </a:solidFill>
          <a:ln w="12700">
            <a:solidFill>
              <a:srgbClr val="C3D0D8"/>
            </a:solidFill>
            <a:prstDash val="solid"/>
          </a:ln>
        </p:spPr>
      </p:sp>
      <p:sp>
        <p:nvSpPr>
          <p:cNvPr id="18" name="Text 16"/>
          <p:cNvSpPr/>
          <p:nvPr/>
        </p:nvSpPr>
        <p:spPr>
          <a:xfrm>
            <a:off x="5175504" y="2331720"/>
            <a:ext cx="365760" cy="384048"/>
          </a:xfrm>
          <a:prstGeom prst="rect">
            <a:avLst/>
          </a:prstGeom>
          <a:noFill/>
          <a:ln/>
        </p:spPr>
        <p:txBody>
          <a:bodyPr wrap="square" lIns="0" tIns="0" rIns="0" bIns="0" rtlCol="0" anchor="ctr"/>
          <a:lstStyle/>
          <a:p>
            <a:pPr indent="0" marL="0">
              <a:buNone/>
            </a:pPr>
            <a:r>
              <a:rPr lang="en-US" sz="950" dirty="0">
                <a:solidFill>
                  <a:srgbClr val="C4622D"/>
                </a:solidFill>
                <a:latin typeface="Courier New" pitchFamily="34" charset="0"/>
                <a:ea typeface="Courier New" pitchFamily="34" charset="-122"/>
                <a:cs typeface="Courier New" pitchFamily="34" charset="-120"/>
              </a:rPr>
              <a:t>+1</a:t>
            </a:r>
            <a:endParaRPr lang="en-US" sz="950" dirty="0"/>
          </a:p>
        </p:txBody>
      </p:sp>
      <p:sp>
        <p:nvSpPr>
          <p:cNvPr id="19" name="Text 17"/>
          <p:cNvSpPr/>
          <p:nvPr/>
        </p:nvSpPr>
        <p:spPr>
          <a:xfrm>
            <a:off x="5577840" y="2331720"/>
            <a:ext cx="1371600" cy="384048"/>
          </a:xfrm>
          <a:prstGeom prst="rect">
            <a:avLst/>
          </a:prstGeom>
          <a:noFill/>
          <a:ln/>
        </p:spPr>
        <p:txBody>
          <a:bodyPr wrap="square" lIns="0" tIns="0" rIns="0" bIns="0" rtlCol="0" anchor="ctr"/>
          <a:lstStyle/>
          <a:p>
            <a:pPr indent="0" marL="0">
              <a:buNone/>
            </a:pPr>
            <a:r>
              <a:rPr lang="en-US" sz="1050" b="1" dirty="0">
                <a:solidFill>
                  <a:srgbClr val="0F2233"/>
                </a:solidFill>
                <a:latin typeface="Calibri" pitchFamily="34" charset="0"/>
                <a:ea typeface="Calibri" pitchFamily="34" charset="-122"/>
                <a:cs typeface="Calibri" pitchFamily="34" charset="-120"/>
              </a:rPr>
              <a:t>control link</a:t>
            </a:r>
            <a:endParaRPr lang="en-US" sz="1050" dirty="0"/>
          </a:p>
        </p:txBody>
      </p:sp>
      <p:sp>
        <p:nvSpPr>
          <p:cNvPr id="20" name="Text 18"/>
          <p:cNvSpPr/>
          <p:nvPr/>
        </p:nvSpPr>
        <p:spPr>
          <a:xfrm>
            <a:off x="6949440" y="2331720"/>
            <a:ext cx="1371600" cy="384048"/>
          </a:xfrm>
          <a:prstGeom prst="rect">
            <a:avLst/>
          </a:prstGeom>
          <a:noFill/>
          <a:ln/>
        </p:spPr>
        <p:txBody>
          <a:bodyPr wrap="square" lIns="0" tIns="0" rIns="0" bIns="0" rtlCol="0" anchor="ctr"/>
          <a:lstStyle/>
          <a:p>
            <a:pPr indent="0" marL="0">
              <a:buNone/>
            </a:pPr>
            <a:r>
              <a:rPr lang="en-US" sz="900" dirty="0">
                <a:solidFill>
                  <a:srgbClr val="5D6B7A"/>
                </a:solidFill>
                <a:latin typeface="Calibri" pitchFamily="34" charset="0"/>
                <a:ea typeface="Calibri" pitchFamily="34" charset="-122"/>
                <a:cs typeface="Calibri" pitchFamily="34" charset="-120"/>
              </a:rPr>
              <a:t>the caller's frame</a:t>
            </a:r>
            <a:endParaRPr lang="en-US" sz="900" dirty="0"/>
          </a:p>
        </p:txBody>
      </p:sp>
      <p:sp>
        <p:nvSpPr>
          <p:cNvPr id="21" name="Shape 19"/>
          <p:cNvSpPr/>
          <p:nvPr/>
        </p:nvSpPr>
        <p:spPr>
          <a:xfrm>
            <a:off x="5102352" y="2788920"/>
            <a:ext cx="3291840" cy="384048"/>
          </a:xfrm>
          <a:prstGeom prst="roundRect">
            <a:avLst>
              <a:gd name="adj" fmla="val 11905"/>
            </a:avLst>
          </a:prstGeom>
          <a:solidFill>
            <a:srgbClr val="FFFFFF"/>
          </a:solidFill>
          <a:ln w="12700">
            <a:solidFill>
              <a:srgbClr val="C3D0D8"/>
            </a:solidFill>
            <a:prstDash val="solid"/>
          </a:ln>
        </p:spPr>
      </p:sp>
      <p:sp>
        <p:nvSpPr>
          <p:cNvPr id="22" name="Text 20"/>
          <p:cNvSpPr/>
          <p:nvPr/>
        </p:nvSpPr>
        <p:spPr>
          <a:xfrm>
            <a:off x="5175504" y="2788920"/>
            <a:ext cx="365760" cy="384048"/>
          </a:xfrm>
          <a:prstGeom prst="rect">
            <a:avLst/>
          </a:prstGeom>
          <a:noFill/>
          <a:ln/>
        </p:spPr>
        <p:txBody>
          <a:bodyPr wrap="square" lIns="0" tIns="0" rIns="0" bIns="0" rtlCol="0" anchor="ctr"/>
          <a:lstStyle/>
          <a:p>
            <a:pPr indent="0" marL="0">
              <a:buNone/>
            </a:pPr>
            <a:r>
              <a:rPr lang="en-US" sz="950" dirty="0">
                <a:solidFill>
                  <a:srgbClr val="C4622D"/>
                </a:solidFill>
                <a:latin typeface="Courier New" pitchFamily="34" charset="0"/>
                <a:ea typeface="Courier New" pitchFamily="34" charset="-122"/>
                <a:cs typeface="Courier New" pitchFamily="34" charset="-120"/>
              </a:rPr>
              <a:t>+2</a:t>
            </a:r>
            <a:endParaRPr lang="en-US" sz="950" dirty="0"/>
          </a:p>
        </p:txBody>
      </p:sp>
      <p:sp>
        <p:nvSpPr>
          <p:cNvPr id="23" name="Text 21"/>
          <p:cNvSpPr/>
          <p:nvPr/>
        </p:nvSpPr>
        <p:spPr>
          <a:xfrm>
            <a:off x="5577840" y="2788920"/>
            <a:ext cx="1371600" cy="384048"/>
          </a:xfrm>
          <a:prstGeom prst="rect">
            <a:avLst/>
          </a:prstGeom>
          <a:noFill/>
          <a:ln/>
        </p:spPr>
        <p:txBody>
          <a:bodyPr wrap="square" lIns="0" tIns="0" rIns="0" bIns="0" rtlCol="0" anchor="ctr"/>
          <a:lstStyle/>
          <a:p>
            <a:pPr indent="0" marL="0">
              <a:buNone/>
            </a:pPr>
            <a:r>
              <a:rPr lang="en-US" sz="1050" b="1" dirty="0">
                <a:solidFill>
                  <a:srgbClr val="0F2233"/>
                </a:solidFill>
                <a:latin typeface="Calibri" pitchFamily="34" charset="0"/>
                <a:ea typeface="Calibri" pitchFamily="34" charset="-122"/>
                <a:cs typeface="Calibri" pitchFamily="34" charset="-120"/>
              </a:rPr>
              <a:t>parameter n</a:t>
            </a:r>
            <a:endParaRPr lang="en-US" sz="1050" dirty="0"/>
          </a:p>
        </p:txBody>
      </p:sp>
      <p:sp>
        <p:nvSpPr>
          <p:cNvPr id="24" name="Text 22"/>
          <p:cNvSpPr/>
          <p:nvPr/>
        </p:nvSpPr>
        <p:spPr>
          <a:xfrm>
            <a:off x="6949440" y="2788920"/>
            <a:ext cx="1371600" cy="384048"/>
          </a:xfrm>
          <a:prstGeom prst="rect">
            <a:avLst/>
          </a:prstGeom>
          <a:noFill/>
          <a:ln/>
        </p:spPr>
        <p:txBody>
          <a:bodyPr wrap="square" lIns="0" tIns="0" rIns="0" bIns="0" rtlCol="0" anchor="ctr"/>
          <a:lstStyle/>
          <a:p>
            <a:pPr indent="0" marL="0">
              <a:buNone/>
            </a:pPr>
            <a:r>
              <a:rPr lang="en-US" sz="900" dirty="0">
                <a:solidFill>
                  <a:srgbClr val="5D6B7A"/>
                </a:solidFill>
                <a:latin typeface="Calibri" pitchFamily="34" charset="0"/>
                <a:ea typeface="Calibri" pitchFamily="34" charset="-122"/>
                <a:cs typeface="Calibri" pitchFamily="34" charset="-120"/>
              </a:rPr>
              <a:t>passed by the caller</a:t>
            </a:r>
            <a:endParaRPr lang="en-US" sz="900" dirty="0"/>
          </a:p>
        </p:txBody>
      </p:sp>
      <p:sp>
        <p:nvSpPr>
          <p:cNvPr id="25" name="Shape 23"/>
          <p:cNvSpPr/>
          <p:nvPr/>
        </p:nvSpPr>
        <p:spPr>
          <a:xfrm>
            <a:off x="5102352" y="3246120"/>
            <a:ext cx="3291840" cy="384048"/>
          </a:xfrm>
          <a:prstGeom prst="roundRect">
            <a:avLst>
              <a:gd name="adj" fmla="val 11905"/>
            </a:avLst>
          </a:prstGeom>
          <a:solidFill>
            <a:srgbClr val="FFFFFF"/>
          </a:solidFill>
          <a:ln w="12700">
            <a:solidFill>
              <a:srgbClr val="C3D0D8"/>
            </a:solidFill>
            <a:prstDash val="solid"/>
          </a:ln>
        </p:spPr>
      </p:sp>
      <p:sp>
        <p:nvSpPr>
          <p:cNvPr id="26" name="Text 24"/>
          <p:cNvSpPr/>
          <p:nvPr/>
        </p:nvSpPr>
        <p:spPr>
          <a:xfrm>
            <a:off x="5175504" y="3246120"/>
            <a:ext cx="365760" cy="384048"/>
          </a:xfrm>
          <a:prstGeom prst="rect">
            <a:avLst/>
          </a:prstGeom>
          <a:noFill/>
          <a:ln/>
        </p:spPr>
        <p:txBody>
          <a:bodyPr wrap="square" lIns="0" tIns="0" rIns="0" bIns="0" rtlCol="0" anchor="ctr"/>
          <a:lstStyle/>
          <a:p>
            <a:pPr indent="0" marL="0">
              <a:buNone/>
            </a:pPr>
            <a:r>
              <a:rPr lang="en-US" sz="950" dirty="0">
                <a:solidFill>
                  <a:srgbClr val="C4622D"/>
                </a:solidFill>
                <a:latin typeface="Courier New" pitchFamily="34" charset="0"/>
                <a:ea typeface="Courier New" pitchFamily="34" charset="-122"/>
                <a:cs typeface="Courier New" pitchFamily="34" charset="-120"/>
              </a:rPr>
              <a:t>+3</a:t>
            </a:r>
            <a:endParaRPr lang="en-US" sz="950" dirty="0"/>
          </a:p>
        </p:txBody>
      </p:sp>
      <p:sp>
        <p:nvSpPr>
          <p:cNvPr id="27" name="Text 25"/>
          <p:cNvSpPr/>
          <p:nvPr/>
        </p:nvSpPr>
        <p:spPr>
          <a:xfrm>
            <a:off x="5577840" y="3246120"/>
            <a:ext cx="1371600" cy="384048"/>
          </a:xfrm>
          <a:prstGeom prst="rect">
            <a:avLst/>
          </a:prstGeom>
          <a:noFill/>
          <a:ln/>
        </p:spPr>
        <p:txBody>
          <a:bodyPr wrap="square" lIns="0" tIns="0" rIns="0" bIns="0" rtlCol="0" anchor="ctr"/>
          <a:lstStyle/>
          <a:p>
            <a:pPr indent="0" marL="0">
              <a:buNone/>
            </a:pPr>
            <a:r>
              <a:rPr lang="en-US" sz="1050" b="1" dirty="0">
                <a:solidFill>
                  <a:srgbClr val="0F2233"/>
                </a:solidFill>
                <a:latin typeface="Calibri" pitchFamily="34" charset="0"/>
                <a:ea typeface="Calibri" pitchFamily="34" charset="-122"/>
                <a:cs typeface="Calibri" pitchFamily="34" charset="-120"/>
              </a:rPr>
              <a:t>local total</a:t>
            </a:r>
            <a:endParaRPr lang="en-US" sz="1050" dirty="0"/>
          </a:p>
        </p:txBody>
      </p:sp>
      <p:sp>
        <p:nvSpPr>
          <p:cNvPr id="28" name="Text 26"/>
          <p:cNvSpPr/>
          <p:nvPr/>
        </p:nvSpPr>
        <p:spPr>
          <a:xfrm>
            <a:off x="6949440" y="3246120"/>
            <a:ext cx="1371600" cy="384048"/>
          </a:xfrm>
          <a:prstGeom prst="rect">
            <a:avLst/>
          </a:prstGeom>
          <a:noFill/>
          <a:ln/>
        </p:spPr>
        <p:txBody>
          <a:bodyPr wrap="square" lIns="0" tIns="0" rIns="0" bIns="0" rtlCol="0" anchor="ctr"/>
          <a:lstStyle/>
          <a:p>
            <a:pPr indent="0" marL="0">
              <a:buNone/>
            </a:pPr>
            <a:r>
              <a:rPr lang="en-US" sz="900" dirty="0">
                <a:solidFill>
                  <a:srgbClr val="5D6B7A"/>
                </a:solidFill>
                <a:latin typeface="Calibri" pitchFamily="34" charset="0"/>
                <a:ea typeface="Calibri" pitchFamily="34" charset="-122"/>
                <a:cs typeface="Calibri" pitchFamily="34" charset="-120"/>
              </a:rPr>
              <a:t>this call's own copy</a:t>
            </a:r>
            <a:endParaRPr lang="en-US" sz="900" dirty="0"/>
          </a:p>
        </p:txBody>
      </p:sp>
      <p:sp>
        <p:nvSpPr>
          <p:cNvPr id="29" name="Shape 27"/>
          <p:cNvSpPr/>
          <p:nvPr/>
        </p:nvSpPr>
        <p:spPr>
          <a:xfrm>
            <a:off x="5102352" y="3703320"/>
            <a:ext cx="3291840" cy="384048"/>
          </a:xfrm>
          <a:prstGeom prst="roundRect">
            <a:avLst>
              <a:gd name="adj" fmla="val 11905"/>
            </a:avLst>
          </a:prstGeom>
          <a:solidFill>
            <a:srgbClr val="FFFFFF"/>
          </a:solidFill>
          <a:ln w="12700">
            <a:solidFill>
              <a:srgbClr val="C3D0D8"/>
            </a:solidFill>
            <a:prstDash val="solid"/>
          </a:ln>
        </p:spPr>
      </p:sp>
      <p:sp>
        <p:nvSpPr>
          <p:cNvPr id="30" name="Text 28"/>
          <p:cNvSpPr/>
          <p:nvPr/>
        </p:nvSpPr>
        <p:spPr>
          <a:xfrm>
            <a:off x="5175504" y="3703320"/>
            <a:ext cx="365760" cy="384048"/>
          </a:xfrm>
          <a:prstGeom prst="rect">
            <a:avLst/>
          </a:prstGeom>
          <a:noFill/>
          <a:ln/>
        </p:spPr>
        <p:txBody>
          <a:bodyPr wrap="square" lIns="0" tIns="0" rIns="0" bIns="0" rtlCol="0" anchor="ctr"/>
          <a:lstStyle/>
          <a:p>
            <a:pPr indent="0" marL="0">
              <a:buNone/>
            </a:pPr>
            <a:r>
              <a:rPr lang="en-US" sz="950" dirty="0">
                <a:solidFill>
                  <a:srgbClr val="C4622D"/>
                </a:solidFill>
                <a:latin typeface="Courier New" pitchFamily="34" charset="0"/>
                <a:ea typeface="Courier New" pitchFamily="34" charset="-122"/>
                <a:cs typeface="Courier New" pitchFamily="34" charset="-120"/>
              </a:rPr>
              <a:t>+4</a:t>
            </a:r>
            <a:endParaRPr lang="en-US" sz="950" dirty="0"/>
          </a:p>
        </p:txBody>
      </p:sp>
      <p:sp>
        <p:nvSpPr>
          <p:cNvPr id="31" name="Text 29"/>
          <p:cNvSpPr/>
          <p:nvPr/>
        </p:nvSpPr>
        <p:spPr>
          <a:xfrm>
            <a:off x="5577840" y="3703320"/>
            <a:ext cx="1371600" cy="384048"/>
          </a:xfrm>
          <a:prstGeom prst="rect">
            <a:avLst/>
          </a:prstGeom>
          <a:noFill/>
          <a:ln/>
        </p:spPr>
        <p:txBody>
          <a:bodyPr wrap="square" lIns="0" tIns="0" rIns="0" bIns="0" rtlCol="0" anchor="ctr"/>
          <a:lstStyle/>
          <a:p>
            <a:pPr indent="0" marL="0">
              <a:buNone/>
            </a:pPr>
            <a:r>
              <a:rPr lang="en-US" sz="1050" b="1" dirty="0">
                <a:solidFill>
                  <a:srgbClr val="0F2233"/>
                </a:solidFill>
                <a:latin typeface="Calibri" pitchFamily="34" charset="0"/>
                <a:ea typeface="Calibri" pitchFamily="34" charset="-122"/>
                <a:cs typeface="Calibri" pitchFamily="34" charset="-120"/>
              </a:rPr>
              <a:t>temporary t0</a:t>
            </a:r>
            <a:endParaRPr lang="en-US" sz="1050" dirty="0"/>
          </a:p>
        </p:txBody>
      </p:sp>
      <p:sp>
        <p:nvSpPr>
          <p:cNvPr id="32" name="Text 30"/>
          <p:cNvSpPr/>
          <p:nvPr/>
        </p:nvSpPr>
        <p:spPr>
          <a:xfrm>
            <a:off x="6949440" y="3703320"/>
            <a:ext cx="1371600" cy="384048"/>
          </a:xfrm>
          <a:prstGeom prst="rect">
            <a:avLst/>
          </a:prstGeom>
          <a:noFill/>
          <a:ln/>
        </p:spPr>
        <p:txBody>
          <a:bodyPr wrap="square" lIns="0" tIns="0" rIns="0" bIns="0" rtlCol="0" anchor="ctr"/>
          <a:lstStyle/>
          <a:p>
            <a:pPr indent="0" marL="0">
              <a:buNone/>
            </a:pPr>
            <a:r>
              <a:rPr lang="en-US" sz="900" dirty="0">
                <a:solidFill>
                  <a:srgbClr val="5D6B7A"/>
                </a:solidFill>
                <a:latin typeface="Calibri" pitchFamily="34" charset="0"/>
                <a:ea typeface="Calibri" pitchFamily="34" charset="-122"/>
                <a:cs typeface="Calibri" pitchFamily="34" charset="-120"/>
              </a:rPr>
              <a:t>the compiler's scratch</a:t>
            </a:r>
            <a:endParaRPr lang="en-US" sz="900" dirty="0"/>
          </a:p>
        </p:txBody>
      </p:sp>
      <p:sp>
        <p:nvSpPr>
          <p:cNvPr id="33" name="Text 31"/>
          <p:cNvSpPr/>
          <p:nvPr/>
        </p:nvSpPr>
        <p:spPr>
          <a:xfrm>
            <a:off x="5102352" y="4114800"/>
            <a:ext cx="3291840" cy="320040"/>
          </a:xfrm>
          <a:prstGeom prst="rect">
            <a:avLst/>
          </a:prstGeom>
          <a:noFill/>
          <a:ln/>
        </p:spPr>
        <p:txBody>
          <a:bodyPr wrap="square" lIns="0" tIns="0" rIns="0" bIns="0" rtlCol="0" anchor="ctr"/>
          <a:lstStyle/>
          <a:p>
            <a:pPr indent="0" marL="0">
              <a:lnSpc>
                <a:spcPts val="1200"/>
              </a:lnSpc>
              <a:buNone/>
            </a:pPr>
            <a:r>
              <a:rPr lang="en-US" sz="1000" i="1" dirty="0">
                <a:solidFill>
                  <a:srgbClr val="5D6B7A"/>
                </a:solidFill>
                <a:latin typeface="Calibri" pitchFamily="34" charset="0"/>
                <a:ea typeface="Calibri" pitchFamily="34" charset="-122"/>
                <a:cs typeface="Calibri" pitchFamily="34" charset="-120"/>
              </a:rPr>
              <a:t>Recursion works because each call gets its own copy of this. At the bottom of fib(9) there are ten of them stacked up.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13</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SSA: every variable written exactly once</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So a use has exactly one definition - and optimisation gets much easier.</a:t>
            </a:r>
            <a:endParaRPr lang="en-US" sz="1350" dirty="0"/>
          </a:p>
        </p:txBody>
      </p:sp>
      <p:sp>
        <p:nvSpPr>
          <p:cNvPr id="7" name="Shape 5"/>
          <p:cNvSpPr/>
          <p:nvPr/>
        </p:nvSpPr>
        <p:spPr>
          <a:xfrm>
            <a:off x="502920" y="1417320"/>
            <a:ext cx="3657600" cy="1371600"/>
          </a:xfrm>
          <a:prstGeom prst="roundRect">
            <a:avLst>
              <a:gd name="adj" fmla="val 5333"/>
            </a:avLst>
          </a:prstGeom>
          <a:solidFill>
            <a:srgbClr val="0F2233"/>
          </a:solidFill>
          <a:ln/>
        </p:spPr>
      </p:sp>
      <p:sp>
        <p:nvSpPr>
          <p:cNvPr id="8" name="Text 6"/>
          <p:cNvSpPr/>
          <p:nvPr/>
        </p:nvSpPr>
        <p:spPr>
          <a:xfrm>
            <a:off x="649224" y="1490472"/>
            <a:ext cx="336499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BEFORE</a:t>
            </a:r>
            <a:endParaRPr lang="en-US" sz="950" dirty="0"/>
          </a:p>
        </p:txBody>
      </p:sp>
      <p:sp>
        <p:nvSpPr>
          <p:cNvPr id="9" name="Text 7"/>
          <p:cNvSpPr/>
          <p:nvPr/>
        </p:nvSpPr>
        <p:spPr>
          <a:xfrm>
            <a:off x="649224" y="1728216"/>
            <a:ext cx="3364992" cy="95097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i = 0</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loop:</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 = i + 1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if i &lt; 5 goto loop</a:t>
            </a:r>
            <a:endParaRPr lang="en-US" sz="1100" dirty="0"/>
          </a:p>
        </p:txBody>
      </p:sp>
      <p:sp>
        <p:nvSpPr>
          <p:cNvPr id="10" name="Shape 8"/>
          <p:cNvSpPr/>
          <p:nvPr/>
        </p:nvSpPr>
        <p:spPr>
          <a:xfrm>
            <a:off x="502920" y="2971800"/>
            <a:ext cx="3657600" cy="1463040"/>
          </a:xfrm>
          <a:prstGeom prst="roundRect">
            <a:avLst>
              <a:gd name="adj" fmla="val 5000"/>
            </a:avLst>
          </a:prstGeom>
          <a:solidFill>
            <a:srgbClr val="0F2233"/>
          </a:solidFill>
          <a:ln/>
        </p:spPr>
      </p:sp>
      <p:sp>
        <p:nvSpPr>
          <p:cNvPr id="11" name="Text 9"/>
          <p:cNvSpPr/>
          <p:nvPr/>
        </p:nvSpPr>
        <p:spPr>
          <a:xfrm>
            <a:off x="649224" y="3044952"/>
            <a:ext cx="336499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AFTER</a:t>
            </a:r>
            <a:endParaRPr lang="en-US" sz="950" dirty="0"/>
          </a:p>
        </p:txBody>
      </p:sp>
      <p:sp>
        <p:nvSpPr>
          <p:cNvPr id="12" name="Text 10"/>
          <p:cNvSpPr/>
          <p:nvPr/>
        </p:nvSpPr>
        <p:spPr>
          <a:xfrm>
            <a:off x="649224" y="3282696"/>
            <a:ext cx="3364992" cy="1042416"/>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i1 = 0</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loop:</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i2 = phi(i1, i3)</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i3 = i2 + 1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  if i3 &lt; 5 goto loop</a:t>
            </a:r>
            <a:endParaRPr lang="en-US" sz="1100" dirty="0"/>
          </a:p>
        </p:txBody>
      </p:sp>
      <p:sp>
        <p:nvSpPr>
          <p:cNvPr id="13" name="Shape 11"/>
          <p:cNvSpPr/>
          <p:nvPr/>
        </p:nvSpPr>
        <p:spPr>
          <a:xfrm>
            <a:off x="4480560" y="1417320"/>
            <a:ext cx="4160520" cy="1417320"/>
          </a:xfrm>
          <a:prstGeom prst="roundRect">
            <a:avLst>
              <a:gd name="adj" fmla="val 5161"/>
            </a:avLst>
          </a:prstGeom>
          <a:solidFill>
            <a:srgbClr val="E8F2EF"/>
          </a:solidFill>
          <a:ln/>
          <a:effectLst>
            <a:outerShdw sx="100000" sy="100000" kx="0" ky="0" algn="bl" rotWithShape="0" blurRad="101600" dist="25400" dir="5400000">
              <a:srgbClr val="9AACB8">
                <a:alpha val="35000"/>
              </a:srgbClr>
            </a:outerShdw>
          </a:effectLst>
        </p:spPr>
      </p:sp>
      <p:sp>
        <p:nvSpPr>
          <p:cNvPr id="14" name="Text 12"/>
          <p:cNvSpPr/>
          <p:nvPr/>
        </p:nvSpPr>
        <p:spPr>
          <a:xfrm>
            <a:off x="4681728" y="1527048"/>
            <a:ext cx="3749040" cy="274320"/>
          </a:xfrm>
          <a:prstGeom prst="rect">
            <a:avLst/>
          </a:prstGeom>
          <a:noFill/>
          <a:ln/>
        </p:spPr>
        <p:txBody>
          <a:bodyPr wrap="square" lIns="0" tIns="0" rIns="0" bIns="0" rtlCol="0" anchor="ctr"/>
          <a:lstStyle/>
          <a:p>
            <a:pPr indent="0" marL="0">
              <a:buNone/>
            </a:pPr>
            <a:r>
              <a:rPr lang="en-US" sz="1300" b="1" dirty="0">
                <a:solidFill>
                  <a:srgbClr val="0E7C66"/>
                </a:solidFill>
                <a:latin typeface="Cambria" pitchFamily="34" charset="0"/>
                <a:ea typeface="Cambria" pitchFamily="34" charset="-122"/>
                <a:cs typeface="Cambria" pitchFamily="34" charset="-120"/>
              </a:rPr>
              <a:t>What is a phi function?</a:t>
            </a:r>
            <a:endParaRPr lang="en-US" sz="1300" dirty="0"/>
          </a:p>
        </p:txBody>
      </p:sp>
      <p:sp>
        <p:nvSpPr>
          <p:cNvPr id="15" name="Text 13"/>
          <p:cNvSpPr/>
          <p:nvPr/>
        </p:nvSpPr>
        <p:spPr>
          <a:xfrm>
            <a:off x="4681728" y="1828800"/>
            <a:ext cx="3749040" cy="914400"/>
          </a:xfrm>
          <a:prstGeom prst="rect">
            <a:avLst/>
          </a:prstGeom>
          <a:noFill/>
          <a:ln/>
        </p:spPr>
        <p:txBody>
          <a:bodyPr wrap="square" lIns="0" tIns="0" rIns="0" bIns="0" rtlCol="0" anchor="ctr"/>
          <a:lstStyle/>
          <a:p>
            <a:pPr indent="0" marL="0">
              <a:lnSpc>
                <a:spcPts val="1350"/>
              </a:lnSpc>
              <a:buNone/>
            </a:pPr>
            <a:r>
              <a:rPr lang="en-US" sz="1100" dirty="0">
                <a:solidFill>
                  <a:srgbClr val="0F2233"/>
                </a:solidFill>
                <a:latin typeface="Calibri" pitchFamily="34" charset="0"/>
                <a:ea typeface="Calibri" pitchFamily="34" charset="-122"/>
                <a:cs typeface="Calibri" pitchFamily="34" charset="-120"/>
              </a:rPr>
              <a:t>Where two paths meet, the value of i depends on which path you came in on. phi(i1, i3) says exactly that: take i1 if you arrived from the entry, i3 if you came round the loop.</a:t>
            </a:r>
            <a:endParaRPr lang="en-US" sz="1100" dirty="0"/>
          </a:p>
        </p:txBody>
      </p:sp>
      <p:sp>
        <p:nvSpPr>
          <p:cNvPr id="16" name="Shape 14"/>
          <p:cNvSpPr/>
          <p:nvPr/>
        </p:nvSpPr>
        <p:spPr>
          <a:xfrm>
            <a:off x="4480560" y="2971800"/>
            <a:ext cx="4160520" cy="1463040"/>
          </a:xfrm>
          <a:prstGeom prst="roundRect">
            <a:avLst>
              <a:gd name="adj" fmla="val 5000"/>
            </a:avLst>
          </a:prstGeom>
          <a:solidFill>
            <a:srgbClr val="EEF3F6"/>
          </a:solidFill>
          <a:ln/>
          <a:effectLst>
            <a:outerShdw sx="100000" sy="100000" kx="0" ky="0" algn="bl" rotWithShape="0" blurRad="101600" dist="25400" dir="5400000">
              <a:srgbClr val="9AACB8">
                <a:alpha val="35000"/>
              </a:srgbClr>
            </a:outerShdw>
          </a:effectLst>
        </p:spPr>
      </p:sp>
      <p:sp>
        <p:nvSpPr>
          <p:cNvPr id="17" name="Text 15"/>
          <p:cNvSpPr/>
          <p:nvPr/>
        </p:nvSpPr>
        <p:spPr>
          <a:xfrm>
            <a:off x="4681728" y="3081528"/>
            <a:ext cx="3749040" cy="274320"/>
          </a:xfrm>
          <a:prstGeom prst="rect">
            <a:avLst/>
          </a:prstGeom>
          <a:noFill/>
          <a:ln/>
        </p:spPr>
        <p:txBody>
          <a:bodyPr wrap="square" lIns="0" tIns="0" rIns="0" bIns="0" rtlCol="0" anchor="ctr"/>
          <a:lstStyle/>
          <a:p>
            <a:pPr indent="0" marL="0">
              <a:buNone/>
            </a:pPr>
            <a:r>
              <a:rPr lang="en-US" sz="1250" b="1" dirty="0">
                <a:solidFill>
                  <a:srgbClr val="0F2233"/>
                </a:solidFill>
                <a:latin typeface="Cambria" pitchFamily="34" charset="0"/>
                <a:ea typeface="Cambria" pitchFamily="34" charset="-122"/>
                <a:cs typeface="Cambria" pitchFamily="34" charset="-120"/>
              </a:rPr>
              <a:t>Where do they go? The dominance frontier.</a:t>
            </a:r>
            <a:endParaRPr lang="en-US" sz="1250" dirty="0"/>
          </a:p>
        </p:txBody>
      </p:sp>
      <p:sp>
        <p:nvSpPr>
          <p:cNvPr id="18" name="Text 16"/>
          <p:cNvSpPr/>
          <p:nvPr/>
        </p:nvSpPr>
        <p:spPr>
          <a:xfrm>
            <a:off x="4681728" y="3383280"/>
            <a:ext cx="3749040" cy="960120"/>
          </a:xfrm>
          <a:prstGeom prst="rect">
            <a:avLst/>
          </a:prstGeom>
          <a:noFill/>
          <a:ln/>
        </p:spPr>
        <p:txBody>
          <a:bodyPr wrap="square" lIns="0" tIns="0" rIns="0" bIns="0" rtlCol="0" anchor="ctr"/>
          <a:lstStyle/>
          <a:p>
            <a:pPr indent="0" marL="0">
              <a:lnSpc>
                <a:spcPts val="1300"/>
              </a:lnSpc>
              <a:buNone/>
            </a:pPr>
            <a:r>
              <a:rPr lang="en-US" sz="1050" dirty="0">
                <a:solidFill>
                  <a:srgbClr val="5D6B7A"/>
                </a:solidFill>
                <a:latin typeface="Calibri" pitchFamily="34" charset="0"/>
                <a:ea typeface="Calibri" pitchFamily="34" charset="-122"/>
                <a:cs typeface="Calibri" pitchFamily="34" charset="-120"/>
              </a:rPr>
              <a:t>A block dominates another if every path to it passes through the first. The dominance frontier is the boundary where a definition stops being the only possibility - and that is precisely where a phi function is needed. We compute the frontiers, insert 3 phi functions for this program, then rename.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14</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Which loops could run in parallel?</a:t>
            </a:r>
            <a:endParaRPr lang="en-US" sz="3000" dirty="0"/>
          </a:p>
        </p:txBody>
      </p:sp>
      <p:sp>
        <p:nvSpPr>
          <p:cNvPr id="6" name="Text 4"/>
          <p:cNvSpPr/>
          <p:nvPr/>
        </p:nvSpPr>
        <p:spPr>
          <a:xfrm>
            <a:off x="1115568" y="804672"/>
            <a:ext cx="7571232"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Three loops that look almost identical. Only one of them is sequential.</a:t>
            </a:r>
            <a:endParaRPr lang="en-US" sz="1350" dirty="0"/>
          </a:p>
        </p:txBody>
      </p:sp>
      <p:sp>
        <p:nvSpPr>
          <p:cNvPr id="7" name="Shape 5"/>
          <p:cNvSpPr/>
          <p:nvPr/>
        </p:nvSpPr>
        <p:spPr>
          <a:xfrm>
            <a:off x="502920" y="1371600"/>
            <a:ext cx="2560320" cy="3063240"/>
          </a:xfrm>
          <a:prstGeom prst="roundRect">
            <a:avLst>
              <a:gd name="adj" fmla="val 2857"/>
            </a:avLst>
          </a:prstGeom>
          <a:solidFill>
            <a:srgbClr val="EEF3F6"/>
          </a:solidFill>
          <a:ln/>
          <a:effectLst>
            <a:outerShdw sx="100000" sy="100000" kx="0" ky="0" algn="bl" rotWithShape="0" blurRad="101600" dist="25400" dir="5400000">
              <a:srgbClr val="9AACB8">
                <a:alpha val="35000"/>
              </a:srgbClr>
            </a:outerShdw>
          </a:effectLst>
        </p:spPr>
      </p:sp>
      <p:sp>
        <p:nvSpPr>
          <p:cNvPr id="8" name="Shape 6"/>
          <p:cNvSpPr/>
          <p:nvPr/>
        </p:nvSpPr>
        <p:spPr>
          <a:xfrm>
            <a:off x="685800" y="1536192"/>
            <a:ext cx="2194560" cy="457200"/>
          </a:xfrm>
          <a:prstGeom prst="roundRect">
            <a:avLst>
              <a:gd name="adj" fmla="val 12000"/>
            </a:avLst>
          </a:prstGeom>
          <a:solidFill>
            <a:srgbClr val="0F2233"/>
          </a:solidFill>
          <a:ln/>
        </p:spPr>
      </p:sp>
      <p:sp>
        <p:nvSpPr>
          <p:cNvPr id="9" name="Text 7"/>
          <p:cNvSpPr/>
          <p:nvPr/>
        </p:nvSpPr>
        <p:spPr>
          <a:xfrm>
            <a:off x="685800" y="1536192"/>
            <a:ext cx="2194560" cy="457200"/>
          </a:xfrm>
          <a:prstGeom prst="rect">
            <a:avLst/>
          </a:prstGeom>
          <a:noFill/>
          <a:ln/>
        </p:spPr>
        <p:txBody>
          <a:bodyPr wrap="square" lIns="0" tIns="0" rIns="0" bIns="0" rtlCol="0" anchor="ctr"/>
          <a:lstStyle/>
          <a:p>
            <a:pPr algn="ctr" indent="0" marL="0">
              <a:buNone/>
            </a:pPr>
            <a:r>
              <a:rPr lang="en-US" sz="1150" dirty="0">
                <a:solidFill>
                  <a:srgbClr val="DCE7EE"/>
                </a:solidFill>
                <a:latin typeface="Courier New" pitchFamily="34" charset="0"/>
                <a:ea typeface="Courier New" pitchFamily="34" charset="-122"/>
                <a:cs typeface="Courier New" pitchFamily="34" charset="-120"/>
              </a:rPr>
              <a:t>a = i * 2;</a:t>
            </a:r>
            <a:endParaRPr lang="en-US" sz="1150" dirty="0"/>
          </a:p>
        </p:txBody>
      </p:sp>
      <p:sp>
        <p:nvSpPr>
          <p:cNvPr id="10" name="Text 8"/>
          <p:cNvSpPr/>
          <p:nvPr/>
        </p:nvSpPr>
        <p:spPr>
          <a:xfrm>
            <a:off x="685800" y="2148840"/>
            <a:ext cx="2194560" cy="320040"/>
          </a:xfrm>
          <a:prstGeom prst="rect">
            <a:avLst/>
          </a:prstGeom>
          <a:noFill/>
          <a:ln/>
        </p:spPr>
        <p:txBody>
          <a:bodyPr wrap="square" lIns="0" tIns="0" rIns="0" bIns="0" rtlCol="0" anchor="ctr"/>
          <a:lstStyle/>
          <a:p>
            <a:pPr algn="ctr" indent="0" marL="0">
              <a:buNone/>
            </a:pPr>
            <a:r>
              <a:rPr lang="en-US" sz="1300" b="1" dirty="0">
                <a:solidFill>
                  <a:srgbClr val="0E7C66"/>
                </a:solidFill>
                <a:latin typeface="Cambria" pitchFamily="34" charset="0"/>
                <a:ea typeface="Cambria" pitchFamily="34" charset="-122"/>
                <a:cs typeface="Cambria" pitchFamily="34" charset="-120"/>
              </a:rPr>
              <a:t>VECTORISABLE</a:t>
            </a:r>
            <a:endParaRPr lang="en-US" sz="1300" dirty="0"/>
          </a:p>
        </p:txBody>
      </p:sp>
      <p:sp>
        <p:nvSpPr>
          <p:cNvPr id="11" name="Text 9"/>
          <p:cNvSpPr/>
          <p:nvPr/>
        </p:nvSpPr>
        <p:spPr>
          <a:xfrm>
            <a:off x="731520" y="2560320"/>
            <a:ext cx="2103120" cy="1737360"/>
          </a:xfrm>
          <a:prstGeom prst="rect">
            <a:avLst/>
          </a:prstGeom>
          <a:noFill/>
          <a:ln/>
        </p:spPr>
        <p:txBody>
          <a:bodyPr wrap="square" lIns="0" tIns="0" rIns="0" bIns="0" rtlCol="0" anchor="ctr"/>
          <a:lstStyle/>
          <a:p>
            <a:pPr indent="0" marL="0">
              <a:lnSpc>
                <a:spcPts val="1350"/>
              </a:lnSpc>
              <a:buNone/>
            </a:pPr>
            <a:r>
              <a:rPr lang="en-US" sz="1050" dirty="0">
                <a:solidFill>
                  <a:srgbClr val="5D6B7A"/>
                </a:solidFill>
                <a:latin typeface="Calibri" pitchFamily="34" charset="0"/>
                <a:ea typeface="Calibri" pitchFamily="34" charset="-122"/>
                <a:cs typeface="Calibri" pitchFamily="34" charset="-120"/>
              </a:rPr>
              <a:t>Nothing written in one iteration is read by the next. Every iteration could run at the same time, on different cores or in one vector instruction.</a:t>
            </a:r>
            <a:endParaRPr lang="en-US" sz="1050" dirty="0"/>
          </a:p>
        </p:txBody>
      </p:sp>
      <p:sp>
        <p:nvSpPr>
          <p:cNvPr id="12" name="Shape 10"/>
          <p:cNvSpPr/>
          <p:nvPr/>
        </p:nvSpPr>
        <p:spPr>
          <a:xfrm>
            <a:off x="3291840" y="1371600"/>
            <a:ext cx="2560320" cy="3063240"/>
          </a:xfrm>
          <a:prstGeom prst="roundRect">
            <a:avLst>
              <a:gd name="adj" fmla="val 2857"/>
            </a:avLst>
          </a:prstGeom>
          <a:solidFill>
            <a:srgbClr val="EEF3F6"/>
          </a:solidFill>
          <a:ln/>
          <a:effectLst>
            <a:outerShdw sx="100000" sy="100000" kx="0" ky="0" algn="bl" rotWithShape="0" blurRad="101600" dist="25400" dir="5400000">
              <a:srgbClr val="9AACB8">
                <a:alpha val="35000"/>
              </a:srgbClr>
            </a:outerShdw>
          </a:effectLst>
        </p:spPr>
      </p:sp>
      <p:sp>
        <p:nvSpPr>
          <p:cNvPr id="13" name="Shape 11"/>
          <p:cNvSpPr/>
          <p:nvPr/>
        </p:nvSpPr>
        <p:spPr>
          <a:xfrm>
            <a:off x="3474720" y="1536192"/>
            <a:ext cx="2194560" cy="457200"/>
          </a:xfrm>
          <a:prstGeom prst="roundRect">
            <a:avLst>
              <a:gd name="adj" fmla="val 12000"/>
            </a:avLst>
          </a:prstGeom>
          <a:solidFill>
            <a:srgbClr val="0F2233"/>
          </a:solidFill>
          <a:ln/>
        </p:spPr>
      </p:sp>
      <p:sp>
        <p:nvSpPr>
          <p:cNvPr id="14" name="Text 12"/>
          <p:cNvSpPr/>
          <p:nvPr/>
        </p:nvSpPr>
        <p:spPr>
          <a:xfrm>
            <a:off x="3474720" y="1536192"/>
            <a:ext cx="2194560" cy="457200"/>
          </a:xfrm>
          <a:prstGeom prst="rect">
            <a:avLst/>
          </a:prstGeom>
          <a:noFill/>
          <a:ln/>
        </p:spPr>
        <p:txBody>
          <a:bodyPr wrap="square" lIns="0" tIns="0" rIns="0" bIns="0" rtlCol="0" anchor="ctr"/>
          <a:lstStyle/>
          <a:p>
            <a:pPr algn="ctr" indent="0" marL="0">
              <a:buNone/>
            </a:pPr>
            <a:r>
              <a:rPr lang="en-US" sz="1150" dirty="0">
                <a:solidFill>
                  <a:srgbClr val="DCE7EE"/>
                </a:solidFill>
                <a:latin typeface="Courier New" pitchFamily="34" charset="0"/>
                <a:ea typeface="Courier New" pitchFamily="34" charset="-122"/>
                <a:cs typeface="Courier New" pitchFamily="34" charset="-120"/>
              </a:rPr>
              <a:t>b = b + i;</a:t>
            </a:r>
            <a:endParaRPr lang="en-US" sz="1150" dirty="0"/>
          </a:p>
        </p:txBody>
      </p:sp>
      <p:sp>
        <p:nvSpPr>
          <p:cNvPr id="15" name="Text 13"/>
          <p:cNvSpPr/>
          <p:nvPr/>
        </p:nvSpPr>
        <p:spPr>
          <a:xfrm>
            <a:off x="3474720" y="2148840"/>
            <a:ext cx="2194560" cy="320040"/>
          </a:xfrm>
          <a:prstGeom prst="rect">
            <a:avLst/>
          </a:prstGeom>
          <a:noFill/>
          <a:ln/>
        </p:spPr>
        <p:txBody>
          <a:bodyPr wrap="square" lIns="0" tIns="0" rIns="0" bIns="0" rtlCol="0" anchor="ctr"/>
          <a:lstStyle/>
          <a:p>
            <a:pPr algn="ctr" indent="0" marL="0">
              <a:buNone/>
            </a:pPr>
            <a:r>
              <a:rPr lang="en-US" sz="1300" b="1" dirty="0">
                <a:solidFill>
                  <a:srgbClr val="C4622D"/>
                </a:solidFill>
                <a:latin typeface="Cambria" pitchFamily="34" charset="0"/>
                <a:ea typeface="Cambria" pitchFamily="34" charset="-122"/>
                <a:cs typeface="Cambria" pitchFamily="34" charset="-120"/>
              </a:rPr>
              <a:t>A REDUCTION</a:t>
            </a:r>
            <a:endParaRPr lang="en-US" sz="1300" dirty="0"/>
          </a:p>
        </p:txBody>
      </p:sp>
      <p:sp>
        <p:nvSpPr>
          <p:cNvPr id="16" name="Text 14"/>
          <p:cNvSpPr/>
          <p:nvPr/>
        </p:nvSpPr>
        <p:spPr>
          <a:xfrm>
            <a:off x="3520440" y="2560320"/>
            <a:ext cx="2103120" cy="1737360"/>
          </a:xfrm>
          <a:prstGeom prst="rect">
            <a:avLst/>
          </a:prstGeom>
          <a:noFill/>
          <a:ln/>
        </p:spPr>
        <p:txBody>
          <a:bodyPr wrap="square" lIns="0" tIns="0" rIns="0" bIns="0" rtlCol="0" anchor="ctr"/>
          <a:lstStyle/>
          <a:p>
            <a:pPr indent="0" marL="0">
              <a:lnSpc>
                <a:spcPts val="1350"/>
              </a:lnSpc>
              <a:buNone/>
            </a:pPr>
            <a:r>
              <a:rPr lang="en-US" sz="1050" dirty="0">
                <a:solidFill>
                  <a:srgbClr val="5D6B7A"/>
                </a:solidFill>
                <a:latin typeface="Calibri" pitchFamily="34" charset="0"/>
                <a:ea typeface="Calibri" pitchFamily="34" charset="-122"/>
                <a:cs typeface="Calibri" pitchFamily="34" charset="-120"/>
              </a:rPr>
              <a:t>Iterations do depend on each other - but only through an accumulator, and addition is associative. Split the range, add the partial sums.</a:t>
            </a:r>
            <a:endParaRPr lang="en-US" sz="1050" dirty="0"/>
          </a:p>
        </p:txBody>
      </p:sp>
      <p:sp>
        <p:nvSpPr>
          <p:cNvPr id="17" name="Shape 15"/>
          <p:cNvSpPr/>
          <p:nvPr/>
        </p:nvSpPr>
        <p:spPr>
          <a:xfrm>
            <a:off x="6080760" y="1371600"/>
            <a:ext cx="2560320" cy="3063240"/>
          </a:xfrm>
          <a:prstGeom prst="roundRect">
            <a:avLst>
              <a:gd name="adj" fmla="val 2857"/>
            </a:avLst>
          </a:prstGeom>
          <a:solidFill>
            <a:srgbClr val="EEF3F6"/>
          </a:solidFill>
          <a:ln/>
          <a:effectLst>
            <a:outerShdw sx="100000" sy="100000" kx="0" ky="0" algn="bl" rotWithShape="0" blurRad="101600" dist="25400" dir="5400000">
              <a:srgbClr val="9AACB8">
                <a:alpha val="35000"/>
              </a:srgbClr>
            </a:outerShdw>
          </a:effectLst>
        </p:spPr>
      </p:sp>
      <p:sp>
        <p:nvSpPr>
          <p:cNvPr id="18" name="Shape 16"/>
          <p:cNvSpPr/>
          <p:nvPr/>
        </p:nvSpPr>
        <p:spPr>
          <a:xfrm>
            <a:off x="6263640" y="1536192"/>
            <a:ext cx="2194560" cy="457200"/>
          </a:xfrm>
          <a:prstGeom prst="roundRect">
            <a:avLst>
              <a:gd name="adj" fmla="val 12000"/>
            </a:avLst>
          </a:prstGeom>
          <a:solidFill>
            <a:srgbClr val="0F2233"/>
          </a:solidFill>
          <a:ln/>
        </p:spPr>
      </p:sp>
      <p:sp>
        <p:nvSpPr>
          <p:cNvPr id="19" name="Text 17"/>
          <p:cNvSpPr/>
          <p:nvPr/>
        </p:nvSpPr>
        <p:spPr>
          <a:xfrm>
            <a:off x="6263640" y="1536192"/>
            <a:ext cx="2194560" cy="457200"/>
          </a:xfrm>
          <a:prstGeom prst="rect">
            <a:avLst/>
          </a:prstGeom>
          <a:noFill/>
          <a:ln/>
        </p:spPr>
        <p:txBody>
          <a:bodyPr wrap="square" lIns="0" tIns="0" rIns="0" bIns="0" rtlCol="0" anchor="ctr"/>
          <a:lstStyle/>
          <a:p>
            <a:pPr algn="ctr" indent="0" marL="0">
              <a:buNone/>
            </a:pPr>
            <a:r>
              <a:rPr lang="en-US" sz="1150" dirty="0">
                <a:solidFill>
                  <a:srgbClr val="DCE7EE"/>
                </a:solidFill>
                <a:latin typeface="Courier New" pitchFamily="34" charset="0"/>
                <a:ea typeface="Courier New" pitchFamily="34" charset="-122"/>
                <a:cs typeface="Courier New" pitchFamily="34" charset="-120"/>
              </a:rPr>
              <a:t>c = c * 3 - i;</a:t>
            </a:r>
            <a:endParaRPr lang="en-US" sz="1150" dirty="0"/>
          </a:p>
        </p:txBody>
      </p:sp>
      <p:sp>
        <p:nvSpPr>
          <p:cNvPr id="20" name="Text 18"/>
          <p:cNvSpPr/>
          <p:nvPr/>
        </p:nvSpPr>
        <p:spPr>
          <a:xfrm>
            <a:off x="6263640" y="2148840"/>
            <a:ext cx="2194560" cy="320040"/>
          </a:xfrm>
          <a:prstGeom prst="rect">
            <a:avLst/>
          </a:prstGeom>
          <a:noFill/>
          <a:ln/>
        </p:spPr>
        <p:txBody>
          <a:bodyPr wrap="square" lIns="0" tIns="0" rIns="0" bIns="0" rtlCol="0" anchor="ctr"/>
          <a:lstStyle/>
          <a:p>
            <a:pPr algn="ctr" indent="0" marL="0">
              <a:buNone/>
            </a:pPr>
            <a:r>
              <a:rPr lang="en-US" sz="1300" b="1" dirty="0">
                <a:solidFill>
                  <a:srgbClr val="A11C1C"/>
                </a:solidFill>
                <a:latin typeface="Cambria" pitchFamily="34" charset="0"/>
                <a:ea typeface="Cambria" pitchFamily="34" charset="-122"/>
                <a:cs typeface="Cambria" pitchFamily="34" charset="-120"/>
              </a:rPr>
              <a:t>SEQUENTIAL</a:t>
            </a:r>
            <a:endParaRPr lang="en-US" sz="1300" dirty="0"/>
          </a:p>
        </p:txBody>
      </p:sp>
      <p:sp>
        <p:nvSpPr>
          <p:cNvPr id="21" name="Text 19"/>
          <p:cNvSpPr/>
          <p:nvPr/>
        </p:nvSpPr>
        <p:spPr>
          <a:xfrm>
            <a:off x="6309360" y="2560320"/>
            <a:ext cx="2103120" cy="1737360"/>
          </a:xfrm>
          <a:prstGeom prst="rect">
            <a:avLst/>
          </a:prstGeom>
          <a:noFill/>
          <a:ln/>
        </p:spPr>
        <p:txBody>
          <a:bodyPr wrap="square" lIns="0" tIns="0" rIns="0" bIns="0" rtlCol="0" anchor="ctr"/>
          <a:lstStyle/>
          <a:p>
            <a:pPr indent="0" marL="0">
              <a:lnSpc>
                <a:spcPts val="1350"/>
              </a:lnSpc>
              <a:buNone/>
            </a:pPr>
            <a:r>
              <a:rPr lang="en-US" sz="1050" dirty="0">
                <a:solidFill>
                  <a:srgbClr val="5D6B7A"/>
                </a:solidFill>
                <a:latin typeface="Calibri" pitchFamily="34" charset="0"/>
                <a:ea typeface="Calibri" pitchFamily="34" charset="-122"/>
                <a:cs typeface="Calibri" pitchFamily="34" charset="-120"/>
              </a:rPr>
              <a:t>Each iteration needs the value the previous one produced, and the operation is not associative. No amount of hardware makes this faster.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5F7A8C"/>
                </a:solidFill>
                <a:latin typeface="Calibri" pitchFamily="34" charset="0"/>
                <a:ea typeface="Calibri" pitchFamily="34" charset="-122"/>
                <a:cs typeface="Calibri" pitchFamily="34" charset="-120"/>
              </a:rPr>
              <a:t>15</a:t>
            </a:r>
            <a:endParaRPr lang="en-US" sz="900" dirty="0"/>
          </a:p>
        </p:txBody>
      </p:sp>
      <p:sp>
        <p:nvSpPr>
          <p:cNvPr id="3" name="Shape 1"/>
          <p:cNvSpPr/>
          <p:nvPr/>
        </p:nvSpPr>
        <p:spPr>
          <a:xfrm>
            <a:off x="502920" y="310896"/>
            <a:ext cx="475488" cy="475488"/>
          </a:xfrm>
          <a:prstGeom prst="ellipse">
            <a:avLst/>
          </a:prstGeom>
          <a:solidFill>
            <a:srgbClr val="C4622D"/>
          </a:solidFill>
          <a:ln/>
        </p:spPr>
      </p:sp>
      <p:sp>
        <p:nvSpPr>
          <p:cNvPr id="4" name="Text 2"/>
          <p:cNvSpPr/>
          <p:nvPr/>
        </p:nvSpPr>
        <p:spPr>
          <a:xfrm>
            <a:off x="50292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5" name="Text 3"/>
          <p:cNvSpPr/>
          <p:nvPr/>
        </p:nvSpPr>
        <p:spPr>
          <a:xfrm>
            <a:off x="1115568" y="274320"/>
            <a:ext cx="757123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We do not trust our own output</a:t>
            </a:r>
            <a:endParaRPr lang="en-US" sz="3000" dirty="0"/>
          </a:p>
        </p:txBody>
      </p:sp>
      <p:sp>
        <p:nvSpPr>
          <p:cNvPr id="6" name="Text 4"/>
          <p:cNvSpPr/>
          <p:nvPr/>
        </p:nvSpPr>
        <p:spPr>
          <a:xfrm>
            <a:off x="1115568" y="804672"/>
            <a:ext cx="7498080" cy="365760"/>
          </a:xfrm>
          <a:prstGeom prst="rect">
            <a:avLst/>
          </a:prstGeom>
          <a:noFill/>
          <a:ln/>
        </p:spPr>
        <p:txBody>
          <a:bodyPr wrap="square" lIns="0" tIns="0" rIns="0" bIns="0" rtlCol="0" anchor="ctr"/>
          <a:lstStyle/>
          <a:p>
            <a:pPr indent="0" marL="0">
              <a:buNone/>
            </a:pPr>
            <a:r>
              <a:rPr lang="en-US" sz="1350" i="1" dirty="0">
                <a:solidFill>
                  <a:srgbClr val="9FBACB"/>
                </a:solidFill>
                <a:latin typeface="Calibri" pitchFamily="34" charset="0"/>
                <a:ea typeface="Calibri" pitchFamily="34" charset="-122"/>
                <a:cs typeface="Calibri" pitchFamily="34" charset="-120"/>
              </a:rPr>
              <a:t>Before a single instruction runs, the verifier walks the bytecode with types instead of values and proves it cannot misbehave. Then we attacked it.</a:t>
            </a:r>
            <a:endParaRPr lang="en-US" sz="1350" dirty="0"/>
          </a:p>
        </p:txBody>
      </p:sp>
      <p:sp>
        <p:nvSpPr>
          <p:cNvPr id="7" name="Shape 5"/>
          <p:cNvSpPr/>
          <p:nvPr/>
        </p:nvSpPr>
        <p:spPr>
          <a:xfrm>
            <a:off x="502920" y="1371600"/>
            <a:ext cx="2880360" cy="457200"/>
          </a:xfrm>
          <a:prstGeom prst="roundRect">
            <a:avLst>
              <a:gd name="adj" fmla="val 12000"/>
            </a:avLst>
          </a:prstGeom>
          <a:solidFill>
            <a:srgbClr val="1B3648"/>
          </a:solidFill>
          <a:ln/>
        </p:spPr>
      </p:sp>
      <p:sp>
        <p:nvSpPr>
          <p:cNvPr id="8" name="Shape 6"/>
          <p:cNvSpPr/>
          <p:nvPr/>
        </p:nvSpPr>
        <p:spPr>
          <a:xfrm>
            <a:off x="640080" y="1508760"/>
            <a:ext cx="182880" cy="182880"/>
          </a:xfrm>
          <a:prstGeom prst="ellipse">
            <a:avLst/>
          </a:prstGeom>
          <a:solidFill>
            <a:srgbClr val="0E7C66"/>
          </a:solidFill>
          <a:ln/>
        </p:spPr>
      </p:sp>
      <p:sp>
        <p:nvSpPr>
          <p:cNvPr id="9" name="Text 7"/>
          <p:cNvSpPr/>
          <p:nvPr/>
        </p:nvSpPr>
        <p:spPr>
          <a:xfrm>
            <a:off x="914400" y="1371600"/>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Jump outside the code</a:t>
            </a:r>
            <a:endParaRPr lang="en-US" sz="1050" dirty="0"/>
          </a:p>
        </p:txBody>
      </p:sp>
      <p:sp>
        <p:nvSpPr>
          <p:cNvPr id="10" name="Shape 8"/>
          <p:cNvSpPr/>
          <p:nvPr/>
        </p:nvSpPr>
        <p:spPr>
          <a:xfrm>
            <a:off x="3566160" y="1371600"/>
            <a:ext cx="2880360" cy="457200"/>
          </a:xfrm>
          <a:prstGeom prst="roundRect">
            <a:avLst>
              <a:gd name="adj" fmla="val 12000"/>
            </a:avLst>
          </a:prstGeom>
          <a:solidFill>
            <a:srgbClr val="1B3648"/>
          </a:solidFill>
          <a:ln/>
        </p:spPr>
      </p:sp>
      <p:sp>
        <p:nvSpPr>
          <p:cNvPr id="11" name="Shape 9"/>
          <p:cNvSpPr/>
          <p:nvPr/>
        </p:nvSpPr>
        <p:spPr>
          <a:xfrm>
            <a:off x="3703320" y="1508760"/>
            <a:ext cx="182880" cy="182880"/>
          </a:xfrm>
          <a:prstGeom prst="ellipse">
            <a:avLst/>
          </a:prstGeom>
          <a:solidFill>
            <a:srgbClr val="0E7C66"/>
          </a:solidFill>
          <a:ln/>
        </p:spPr>
      </p:sp>
      <p:sp>
        <p:nvSpPr>
          <p:cNvPr id="12" name="Text 10"/>
          <p:cNvSpPr/>
          <p:nvPr/>
        </p:nvSpPr>
        <p:spPr>
          <a:xfrm>
            <a:off x="3977640" y="1371600"/>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Operand-stack underflow</a:t>
            </a:r>
            <a:endParaRPr lang="en-US" sz="1050" dirty="0"/>
          </a:p>
        </p:txBody>
      </p:sp>
      <p:sp>
        <p:nvSpPr>
          <p:cNvPr id="13" name="Shape 11"/>
          <p:cNvSpPr/>
          <p:nvPr/>
        </p:nvSpPr>
        <p:spPr>
          <a:xfrm>
            <a:off x="502920" y="1938528"/>
            <a:ext cx="2880360" cy="457200"/>
          </a:xfrm>
          <a:prstGeom prst="roundRect">
            <a:avLst>
              <a:gd name="adj" fmla="val 12000"/>
            </a:avLst>
          </a:prstGeom>
          <a:solidFill>
            <a:srgbClr val="1B3648"/>
          </a:solidFill>
          <a:ln/>
        </p:spPr>
      </p:sp>
      <p:sp>
        <p:nvSpPr>
          <p:cNvPr id="14" name="Shape 12"/>
          <p:cNvSpPr/>
          <p:nvPr/>
        </p:nvSpPr>
        <p:spPr>
          <a:xfrm>
            <a:off x="640080" y="2075688"/>
            <a:ext cx="182880" cy="182880"/>
          </a:xfrm>
          <a:prstGeom prst="ellipse">
            <a:avLst/>
          </a:prstGeom>
          <a:solidFill>
            <a:srgbClr val="0E7C66"/>
          </a:solidFill>
          <a:ln/>
        </p:spPr>
      </p:sp>
      <p:sp>
        <p:nvSpPr>
          <p:cNvPr id="15" name="Text 13"/>
          <p:cNvSpPr/>
          <p:nvPr/>
        </p:nvSpPr>
        <p:spPr>
          <a:xfrm>
            <a:off x="914400" y="1938528"/>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Inconsistent stack at a merge</a:t>
            </a:r>
            <a:endParaRPr lang="en-US" sz="1050" dirty="0"/>
          </a:p>
        </p:txBody>
      </p:sp>
      <p:sp>
        <p:nvSpPr>
          <p:cNvPr id="16" name="Shape 14"/>
          <p:cNvSpPr/>
          <p:nvPr/>
        </p:nvSpPr>
        <p:spPr>
          <a:xfrm>
            <a:off x="3566160" y="1938528"/>
            <a:ext cx="2880360" cy="457200"/>
          </a:xfrm>
          <a:prstGeom prst="roundRect">
            <a:avLst>
              <a:gd name="adj" fmla="val 12000"/>
            </a:avLst>
          </a:prstGeom>
          <a:solidFill>
            <a:srgbClr val="1B3648"/>
          </a:solidFill>
          <a:ln/>
        </p:spPr>
      </p:sp>
      <p:sp>
        <p:nvSpPr>
          <p:cNvPr id="17" name="Shape 15"/>
          <p:cNvSpPr/>
          <p:nvPr/>
        </p:nvSpPr>
        <p:spPr>
          <a:xfrm>
            <a:off x="3703320" y="2075688"/>
            <a:ext cx="182880" cy="182880"/>
          </a:xfrm>
          <a:prstGeom prst="ellipse">
            <a:avLst/>
          </a:prstGeom>
          <a:solidFill>
            <a:srgbClr val="0E7C66"/>
          </a:solidFill>
          <a:ln/>
        </p:spPr>
      </p:sp>
      <p:sp>
        <p:nvSpPr>
          <p:cNvPr id="18" name="Text 16"/>
          <p:cNvSpPr/>
          <p:nvPr/>
        </p:nvSpPr>
        <p:spPr>
          <a:xfrm>
            <a:off x="3977640" y="1938528"/>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Type confusion: string x int</a:t>
            </a:r>
            <a:endParaRPr lang="en-US" sz="1050" dirty="0"/>
          </a:p>
        </p:txBody>
      </p:sp>
      <p:sp>
        <p:nvSpPr>
          <p:cNvPr id="19" name="Shape 17"/>
          <p:cNvSpPr/>
          <p:nvPr/>
        </p:nvSpPr>
        <p:spPr>
          <a:xfrm>
            <a:off x="502920" y="2505456"/>
            <a:ext cx="2880360" cy="457200"/>
          </a:xfrm>
          <a:prstGeom prst="roundRect">
            <a:avLst>
              <a:gd name="adj" fmla="val 12000"/>
            </a:avLst>
          </a:prstGeom>
          <a:solidFill>
            <a:srgbClr val="1B3648"/>
          </a:solidFill>
          <a:ln/>
        </p:spPr>
      </p:sp>
      <p:sp>
        <p:nvSpPr>
          <p:cNvPr id="20" name="Shape 18"/>
          <p:cNvSpPr/>
          <p:nvPr/>
        </p:nvSpPr>
        <p:spPr>
          <a:xfrm>
            <a:off x="640080" y="2642616"/>
            <a:ext cx="182880" cy="182880"/>
          </a:xfrm>
          <a:prstGeom prst="ellipse">
            <a:avLst/>
          </a:prstGeom>
          <a:solidFill>
            <a:srgbClr val="0E7C66"/>
          </a:solidFill>
          <a:ln/>
        </p:spPr>
      </p:sp>
      <p:sp>
        <p:nvSpPr>
          <p:cNvPr id="21" name="Text 19"/>
          <p:cNvSpPr/>
          <p:nvPr/>
        </p:nvSpPr>
        <p:spPr>
          <a:xfrm>
            <a:off x="914400" y="2505456"/>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Uninitialised local read</a:t>
            </a:r>
            <a:endParaRPr lang="en-US" sz="1050" dirty="0"/>
          </a:p>
        </p:txBody>
      </p:sp>
      <p:sp>
        <p:nvSpPr>
          <p:cNvPr id="22" name="Shape 20"/>
          <p:cNvSpPr/>
          <p:nvPr/>
        </p:nvSpPr>
        <p:spPr>
          <a:xfrm>
            <a:off x="3566160" y="2505456"/>
            <a:ext cx="2880360" cy="457200"/>
          </a:xfrm>
          <a:prstGeom prst="roundRect">
            <a:avLst>
              <a:gd name="adj" fmla="val 12000"/>
            </a:avLst>
          </a:prstGeom>
          <a:solidFill>
            <a:srgbClr val="1B3648"/>
          </a:solidFill>
          <a:ln/>
        </p:spPr>
      </p:sp>
      <p:sp>
        <p:nvSpPr>
          <p:cNvPr id="23" name="Shape 21"/>
          <p:cNvSpPr/>
          <p:nvPr/>
        </p:nvSpPr>
        <p:spPr>
          <a:xfrm>
            <a:off x="3703320" y="2642616"/>
            <a:ext cx="182880" cy="182880"/>
          </a:xfrm>
          <a:prstGeom prst="ellipse">
            <a:avLst/>
          </a:prstGeom>
          <a:solidFill>
            <a:srgbClr val="0E7C66"/>
          </a:solidFill>
          <a:ln/>
        </p:spPr>
      </p:sp>
      <p:sp>
        <p:nvSpPr>
          <p:cNvPr id="24" name="Text 22"/>
          <p:cNvSpPr/>
          <p:nvPr/>
        </p:nvSpPr>
        <p:spPr>
          <a:xfrm>
            <a:off x="3977640" y="2505456"/>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Escape from the activation record</a:t>
            </a:r>
            <a:endParaRPr lang="en-US" sz="1050" dirty="0"/>
          </a:p>
        </p:txBody>
      </p:sp>
      <p:sp>
        <p:nvSpPr>
          <p:cNvPr id="25" name="Shape 23"/>
          <p:cNvSpPr/>
          <p:nvPr/>
        </p:nvSpPr>
        <p:spPr>
          <a:xfrm>
            <a:off x="502920" y="3072384"/>
            <a:ext cx="2880360" cy="457200"/>
          </a:xfrm>
          <a:prstGeom prst="roundRect">
            <a:avLst>
              <a:gd name="adj" fmla="val 12000"/>
            </a:avLst>
          </a:prstGeom>
          <a:solidFill>
            <a:srgbClr val="1B3648"/>
          </a:solidFill>
          <a:ln/>
        </p:spPr>
      </p:sp>
      <p:sp>
        <p:nvSpPr>
          <p:cNvPr id="26" name="Shape 24"/>
          <p:cNvSpPr/>
          <p:nvPr/>
        </p:nvSpPr>
        <p:spPr>
          <a:xfrm>
            <a:off x="640080" y="3209544"/>
            <a:ext cx="182880" cy="182880"/>
          </a:xfrm>
          <a:prstGeom prst="ellipse">
            <a:avLst/>
          </a:prstGeom>
          <a:solidFill>
            <a:srgbClr val="0E7C66"/>
          </a:solidFill>
          <a:ln/>
        </p:spPr>
      </p:sp>
      <p:sp>
        <p:nvSpPr>
          <p:cNvPr id="27" name="Text 25"/>
          <p:cNvSpPr/>
          <p:nvPr/>
        </p:nvSpPr>
        <p:spPr>
          <a:xfrm>
            <a:off x="914400" y="3072384"/>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Infinite loop</a:t>
            </a:r>
            <a:endParaRPr lang="en-US" sz="1050" dirty="0"/>
          </a:p>
        </p:txBody>
      </p:sp>
      <p:sp>
        <p:nvSpPr>
          <p:cNvPr id="28" name="Shape 26"/>
          <p:cNvSpPr/>
          <p:nvPr/>
        </p:nvSpPr>
        <p:spPr>
          <a:xfrm>
            <a:off x="3566160" y="3072384"/>
            <a:ext cx="2880360" cy="457200"/>
          </a:xfrm>
          <a:prstGeom prst="roundRect">
            <a:avLst>
              <a:gd name="adj" fmla="val 12000"/>
            </a:avLst>
          </a:prstGeom>
          <a:solidFill>
            <a:srgbClr val="1B3648"/>
          </a:solidFill>
          <a:ln/>
        </p:spPr>
      </p:sp>
      <p:sp>
        <p:nvSpPr>
          <p:cNvPr id="29" name="Shape 27"/>
          <p:cNvSpPr/>
          <p:nvPr/>
        </p:nvSpPr>
        <p:spPr>
          <a:xfrm>
            <a:off x="3703320" y="3209544"/>
            <a:ext cx="182880" cy="182880"/>
          </a:xfrm>
          <a:prstGeom prst="ellipse">
            <a:avLst/>
          </a:prstGeom>
          <a:solidFill>
            <a:srgbClr val="0E7C66"/>
          </a:solidFill>
          <a:ln/>
        </p:spPr>
      </p:sp>
      <p:sp>
        <p:nvSpPr>
          <p:cNvPr id="30" name="Text 28"/>
          <p:cNvSpPr/>
          <p:nvPr/>
        </p:nvSpPr>
        <p:spPr>
          <a:xfrm>
            <a:off x="3977640" y="3072384"/>
            <a:ext cx="2377440" cy="457200"/>
          </a:xfrm>
          <a:prstGeom prst="rect">
            <a:avLst/>
          </a:prstGeom>
          <a:noFill/>
          <a:ln/>
        </p:spPr>
        <p:txBody>
          <a:bodyPr wrap="square" lIns="0" tIns="0" rIns="0" bIns="0" rtlCol="0" anchor="ctr"/>
          <a:lstStyle/>
          <a:p>
            <a:pPr indent="0" marL="0">
              <a:buNone/>
            </a:pPr>
            <a:r>
              <a:rPr lang="en-US" sz="1050" dirty="0">
                <a:solidFill>
                  <a:srgbClr val="DCE7EE"/>
                </a:solidFill>
                <a:latin typeface="Calibri" pitchFamily="34" charset="0"/>
                <a:ea typeface="Calibri" pitchFamily="34" charset="-122"/>
                <a:cs typeface="Calibri" pitchFamily="34" charset="-120"/>
              </a:rPr>
              <a:t>Runaway recursion</a:t>
            </a:r>
            <a:endParaRPr lang="en-US" sz="1050" dirty="0"/>
          </a:p>
        </p:txBody>
      </p:sp>
      <p:sp>
        <p:nvSpPr>
          <p:cNvPr id="31" name="Shape 29"/>
          <p:cNvSpPr/>
          <p:nvPr/>
        </p:nvSpPr>
        <p:spPr>
          <a:xfrm>
            <a:off x="6675120" y="1371600"/>
            <a:ext cx="1965960" cy="2157984"/>
          </a:xfrm>
          <a:prstGeom prst="roundRect">
            <a:avLst>
              <a:gd name="adj" fmla="val 3721"/>
            </a:avLst>
          </a:prstGeom>
          <a:solidFill>
            <a:srgbClr val="0E7C66"/>
          </a:solidFill>
          <a:ln/>
        </p:spPr>
      </p:sp>
      <p:sp>
        <p:nvSpPr>
          <p:cNvPr id="32" name="Text 30"/>
          <p:cNvSpPr/>
          <p:nvPr/>
        </p:nvSpPr>
        <p:spPr>
          <a:xfrm>
            <a:off x="6675120" y="1600200"/>
            <a:ext cx="196596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8/8</a:t>
            </a:r>
            <a:endParaRPr lang="en-US" sz="5400" dirty="0"/>
          </a:p>
        </p:txBody>
      </p:sp>
      <p:sp>
        <p:nvSpPr>
          <p:cNvPr id="33" name="Text 31"/>
          <p:cNvSpPr/>
          <p:nvPr/>
        </p:nvSpPr>
        <p:spPr>
          <a:xfrm>
            <a:off x="6675120" y="2514600"/>
            <a:ext cx="1965960" cy="640080"/>
          </a:xfrm>
          <a:prstGeom prst="rect">
            <a:avLst/>
          </a:prstGeom>
          <a:noFill/>
          <a:ln/>
        </p:spPr>
        <p:txBody>
          <a:bodyPr wrap="square" lIns="0" tIns="0" rIns="0" bIns="0" rtlCol="0" anchor="ctr"/>
          <a:lstStyle/>
          <a:p>
            <a:pPr algn="ctr" indent="0" marL="0">
              <a:lnSpc>
                <a:spcPts val="1500"/>
              </a:lnSpc>
              <a:buNone/>
            </a:pPr>
            <a:r>
              <a:rPr lang="en-US" sz="1200" dirty="0">
                <a:solidFill>
                  <a:srgbClr val="D6F0E7"/>
                </a:solidFill>
                <a:latin typeface="Calibri" pitchFamily="34" charset="0"/>
                <a:ea typeface="Calibri" pitchFamily="34" charset="-122"/>
                <a:cs typeface="Calibri" pitchFamily="34" charset="-120"/>
              </a:rPr>
              <a:t>hostile programs</a:t>
            </a:r>
            <a:endParaRPr lang="en-US" sz="1200" dirty="0"/>
          </a:p>
          <a:p>
            <a:pPr algn="ctr" indent="0" marL="0">
              <a:lnSpc>
                <a:spcPts val="1500"/>
              </a:lnSpc>
              <a:buNone/>
            </a:pPr>
            <a:r>
              <a:rPr lang="en-US" sz="1200" dirty="0">
                <a:solidFill>
                  <a:srgbClr val="D6F0E7"/>
                </a:solidFill>
                <a:latin typeface="Calibri" pitchFamily="34" charset="0"/>
                <a:ea typeface="Calibri" pitchFamily="34" charset="-122"/>
                <a:cs typeface="Calibri" pitchFamily="34" charset="-120"/>
              </a:rPr>
              <a:t>stopped</a:t>
            </a:r>
            <a:endParaRPr lang="en-US" sz="1200" dirty="0"/>
          </a:p>
        </p:txBody>
      </p:sp>
      <p:sp>
        <p:nvSpPr>
          <p:cNvPr id="34" name="Shape 32"/>
          <p:cNvSpPr/>
          <p:nvPr/>
        </p:nvSpPr>
        <p:spPr>
          <a:xfrm>
            <a:off x="502920" y="3657600"/>
            <a:ext cx="8138160" cy="868680"/>
          </a:xfrm>
          <a:prstGeom prst="roundRect">
            <a:avLst>
              <a:gd name="adj" fmla="val 8421"/>
            </a:avLst>
          </a:prstGeom>
          <a:solidFill>
            <a:srgbClr val="0F2233"/>
          </a:solidFill>
          <a:ln/>
        </p:spPr>
      </p:sp>
      <p:sp>
        <p:nvSpPr>
          <p:cNvPr id="35" name="Text 33"/>
          <p:cNvSpPr/>
          <p:nvPr/>
        </p:nvSpPr>
        <p:spPr>
          <a:xfrm>
            <a:off x="649224" y="3785616"/>
            <a:ext cx="7845552" cy="612648"/>
          </a:xfrm>
          <a:prstGeom prst="rect">
            <a:avLst/>
          </a:prstGeom>
          <a:noFill/>
          <a:ln/>
        </p:spPr>
        <p:txBody>
          <a:bodyPr wrap="square" lIns="0" tIns="0" rIns="0" bIns="0" rtlCol="0" anchor="t"/>
          <a:lstStyle/>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main[0] LOAD: slot 40 is outside the activation record (0..1)</a:t>
            </a:r>
            <a:endParaRPr lang="en-US" sz="1100" dirty="0"/>
          </a:p>
          <a:p>
            <a:pPr indent="0" marL="0">
              <a:lnSpc>
                <a:spcPts val="1485"/>
              </a:lnSpc>
              <a:buNone/>
            </a:pPr>
            <a:r>
              <a:rPr lang="en-US" sz="1100" dirty="0">
                <a:solidFill>
                  <a:srgbClr val="DCE7EE"/>
                </a:solidFill>
                <a:latin typeface="Courier New" pitchFamily="34" charset="0"/>
                <a:ea typeface="Courier New" pitchFamily="34" charset="-122"/>
                <a:cs typeface="Courier New" pitchFamily="34" charset="-120"/>
              </a:rPr>
              <a:t>main[2] MUL : arithmetic on a string value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16</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Two layers, because one is not enough</a:t>
            </a:r>
            <a:endParaRPr lang="en-US" sz="3000" dirty="0"/>
          </a:p>
        </p:txBody>
      </p:sp>
      <p:sp>
        <p:nvSpPr>
          <p:cNvPr id="4" name="Text 2"/>
          <p:cNvSpPr/>
          <p:nvPr/>
        </p:nvSpPr>
        <p:spPr>
          <a:xfrm>
            <a:off x="502920" y="804672"/>
            <a:ext cx="8183880"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The same division of labour as the JVM, WebAssembly and eBPF.</a:t>
            </a:r>
            <a:endParaRPr lang="en-US" sz="1350" dirty="0"/>
          </a:p>
        </p:txBody>
      </p:sp>
      <p:sp>
        <p:nvSpPr>
          <p:cNvPr id="5" name="Shape 3"/>
          <p:cNvSpPr/>
          <p:nvPr/>
        </p:nvSpPr>
        <p:spPr>
          <a:xfrm>
            <a:off x="502920" y="1371600"/>
            <a:ext cx="3977640" cy="3063240"/>
          </a:xfrm>
          <a:prstGeom prst="roundRect">
            <a:avLst>
              <a:gd name="adj" fmla="val 2388"/>
            </a:avLst>
          </a:prstGeom>
          <a:solidFill>
            <a:srgbClr val="EEF3F6"/>
          </a:solidFill>
          <a:ln/>
          <a:effectLst>
            <a:outerShdw sx="100000" sy="100000" kx="0" ky="0" algn="bl" rotWithShape="0" blurRad="101600" dist="25400" dir="5400000">
              <a:srgbClr val="9AACB8">
                <a:alpha val="35000"/>
              </a:srgbClr>
            </a:outerShdw>
          </a:effectLst>
        </p:spPr>
      </p:sp>
      <p:sp>
        <p:nvSpPr>
          <p:cNvPr id="6" name="Shape 4"/>
          <p:cNvSpPr/>
          <p:nvPr/>
        </p:nvSpPr>
        <p:spPr>
          <a:xfrm>
            <a:off x="731520" y="1572768"/>
            <a:ext cx="384048" cy="384048"/>
          </a:xfrm>
          <a:prstGeom prst="ellipse">
            <a:avLst/>
          </a:prstGeom>
          <a:solidFill>
            <a:srgbClr val="C4622D"/>
          </a:solidFill>
          <a:ln/>
        </p:spPr>
      </p:sp>
      <p:sp>
        <p:nvSpPr>
          <p:cNvPr id="7" name="Text 5"/>
          <p:cNvSpPr/>
          <p:nvPr/>
        </p:nvSpPr>
        <p:spPr>
          <a:xfrm>
            <a:off x="73152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8" name="Text 6"/>
          <p:cNvSpPr/>
          <p:nvPr/>
        </p:nvSpPr>
        <p:spPr>
          <a:xfrm>
            <a:off x="1234440" y="1572768"/>
            <a:ext cx="2926080" cy="38404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Static verification</a:t>
            </a:r>
            <a:endParaRPr lang="en-US" sz="1500" dirty="0"/>
          </a:p>
        </p:txBody>
      </p:sp>
      <p:sp>
        <p:nvSpPr>
          <p:cNvPr id="9" name="Text 7"/>
          <p:cNvSpPr/>
          <p:nvPr/>
        </p:nvSpPr>
        <p:spPr>
          <a:xfrm>
            <a:off x="1234440" y="1938528"/>
            <a:ext cx="2926080" cy="228600"/>
          </a:xfrm>
          <a:prstGeom prst="rect">
            <a:avLst/>
          </a:prstGeom>
          <a:noFill/>
          <a:ln/>
        </p:spPr>
        <p:txBody>
          <a:bodyPr wrap="square" lIns="0" tIns="0" rIns="0" bIns="0" rtlCol="0" anchor="ctr"/>
          <a:lstStyle/>
          <a:p>
            <a:pPr indent="0" marL="0">
              <a:buNone/>
            </a:pPr>
            <a:r>
              <a:rPr lang="en-US" sz="1000" i="1" dirty="0">
                <a:solidFill>
                  <a:srgbClr val="C4622D"/>
                </a:solidFill>
                <a:latin typeface="Calibri" pitchFamily="34" charset="0"/>
                <a:ea typeface="Calibri" pitchFamily="34" charset="-122"/>
                <a:cs typeface="Calibri" pitchFamily="34" charset="-120"/>
              </a:rPr>
              <a:t>Before anything runs</a:t>
            </a:r>
            <a:endParaRPr lang="en-US" sz="1000" dirty="0"/>
          </a:p>
        </p:txBody>
      </p:sp>
      <p:sp>
        <p:nvSpPr>
          <p:cNvPr id="10" name="Text 8"/>
          <p:cNvSpPr/>
          <p:nvPr/>
        </p:nvSpPr>
        <p:spPr>
          <a:xfrm>
            <a:off x="777240" y="228600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Walks the code with types in place of values</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Proves the stack depth is the same on every path to every instruction</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Proves every jump lands on a real instruction</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Proves no variable is read before it is written</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Proves no access escapes the activation record</a:t>
            </a:r>
            <a:endParaRPr lang="en-US" sz="1050" dirty="0"/>
          </a:p>
          <a:p>
            <a:pPr marL="342900" indent="-342900">
              <a:spcAft>
                <a:spcPts val="800"/>
              </a:spcAft>
              <a:buSzPct val="100000"/>
              <a:buChar char="•"/>
            </a:pPr>
            <a:r>
              <a:rPr lang="en-US" sz="1050" dirty="0">
                <a:solidFill>
                  <a:srgbClr val="5D6B7A"/>
                </a:solidFill>
                <a:latin typeface="Calibri" pitchFamily="34" charset="0"/>
                <a:ea typeface="Calibri" pitchFamily="34" charset="-122"/>
                <a:cs typeface="Calibri" pitchFamily="34" charset="-120"/>
              </a:rPr>
              <a:t>Cost: milliseconds, paid once</a:t>
            </a:r>
            <a:endParaRPr lang="en-US" sz="1050" dirty="0"/>
          </a:p>
        </p:txBody>
      </p:sp>
      <p:sp>
        <p:nvSpPr>
          <p:cNvPr id="11" name="Shape 9"/>
          <p:cNvSpPr/>
          <p:nvPr/>
        </p:nvSpPr>
        <p:spPr>
          <a:xfrm>
            <a:off x="4663440" y="1371600"/>
            <a:ext cx="3977640" cy="3063240"/>
          </a:xfrm>
          <a:prstGeom prst="roundRect">
            <a:avLst>
              <a:gd name="adj" fmla="val 2388"/>
            </a:avLst>
          </a:prstGeom>
          <a:solidFill>
            <a:srgbClr val="E8F2EF"/>
          </a:solidFill>
          <a:ln/>
          <a:effectLst>
            <a:outerShdw sx="100000" sy="100000" kx="0" ky="0" algn="bl" rotWithShape="0" blurRad="101600" dist="25400" dir="5400000">
              <a:srgbClr val="9AACB8">
                <a:alpha val="35000"/>
              </a:srgbClr>
            </a:outerShdw>
          </a:effectLst>
        </p:spPr>
      </p:sp>
      <p:sp>
        <p:nvSpPr>
          <p:cNvPr id="12" name="Shape 10"/>
          <p:cNvSpPr/>
          <p:nvPr/>
        </p:nvSpPr>
        <p:spPr>
          <a:xfrm>
            <a:off x="4892040" y="1572768"/>
            <a:ext cx="384048" cy="384048"/>
          </a:xfrm>
          <a:prstGeom prst="ellipse">
            <a:avLst/>
          </a:prstGeom>
          <a:solidFill>
            <a:srgbClr val="0E7C66"/>
          </a:solidFill>
          <a:ln/>
        </p:spPr>
      </p:sp>
      <p:sp>
        <p:nvSpPr>
          <p:cNvPr id="13" name="Text 11"/>
          <p:cNvSpPr/>
          <p:nvPr/>
        </p:nvSpPr>
        <p:spPr>
          <a:xfrm>
            <a:off x="4892040"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4" name="Text 12"/>
          <p:cNvSpPr/>
          <p:nvPr/>
        </p:nvSpPr>
        <p:spPr>
          <a:xfrm>
            <a:off x="5394960" y="1572768"/>
            <a:ext cx="2926080" cy="384048"/>
          </a:xfrm>
          <a:prstGeom prst="rect">
            <a:avLst/>
          </a:prstGeom>
          <a:noFill/>
          <a:ln/>
        </p:spPr>
        <p:txBody>
          <a:bodyPr wrap="square" lIns="0" tIns="0" rIns="0" bIns="0" rtlCol="0" anchor="ctr"/>
          <a:lstStyle/>
          <a:p>
            <a:pPr indent="0" marL="0">
              <a:buNone/>
            </a:pPr>
            <a:r>
              <a:rPr lang="en-US" sz="1500" b="1" dirty="0">
                <a:solidFill>
                  <a:srgbClr val="0F2233"/>
                </a:solidFill>
                <a:latin typeface="Cambria" pitchFamily="34" charset="0"/>
                <a:ea typeface="Cambria" pitchFamily="34" charset="-122"/>
                <a:cs typeface="Cambria" pitchFamily="34" charset="-120"/>
              </a:rPr>
              <a:t>The sandbox</a:t>
            </a:r>
            <a:endParaRPr lang="en-US" sz="1500" dirty="0"/>
          </a:p>
        </p:txBody>
      </p:sp>
      <p:sp>
        <p:nvSpPr>
          <p:cNvPr id="15" name="Text 13"/>
          <p:cNvSpPr/>
          <p:nvPr/>
        </p:nvSpPr>
        <p:spPr>
          <a:xfrm>
            <a:off x="5394960" y="1938528"/>
            <a:ext cx="2926080" cy="228600"/>
          </a:xfrm>
          <a:prstGeom prst="rect">
            <a:avLst/>
          </a:prstGeom>
          <a:noFill/>
          <a:ln/>
        </p:spPr>
        <p:txBody>
          <a:bodyPr wrap="square" lIns="0" tIns="0" rIns="0" bIns="0" rtlCol="0" anchor="ctr"/>
          <a:lstStyle/>
          <a:p>
            <a:pPr indent="0" marL="0">
              <a:buNone/>
            </a:pPr>
            <a:r>
              <a:rPr lang="en-US" sz="1000" i="1" dirty="0">
                <a:solidFill>
                  <a:srgbClr val="0E7C66"/>
                </a:solidFill>
                <a:latin typeface="Calibri" pitchFamily="34" charset="0"/>
                <a:ea typeface="Calibri" pitchFamily="34" charset="-122"/>
                <a:cs typeface="Calibri" pitchFamily="34" charset="-120"/>
              </a:rPr>
              <a:t>While it runs</a:t>
            </a:r>
            <a:endParaRPr lang="en-US" sz="1000" dirty="0"/>
          </a:p>
        </p:txBody>
      </p:sp>
      <p:sp>
        <p:nvSpPr>
          <p:cNvPr id="16" name="Text 14"/>
          <p:cNvSpPr/>
          <p:nvPr/>
        </p:nvSpPr>
        <p:spPr>
          <a:xfrm>
            <a:off x="4937760" y="228600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Caps the number of instructions executed</a:t>
            </a:r>
            <a:endParaRPr lang="en-US" sz="1050" dirty="0"/>
          </a:p>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Caps how deep the call stack may grow</a:t>
            </a:r>
            <a:endParaRPr lang="en-US" sz="1050" dirty="0"/>
          </a:p>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Caps the operand stack</a:t>
            </a:r>
            <a:endParaRPr lang="en-US" sz="1050" dirty="0"/>
          </a:p>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Catches what no static analysis can: does this program ever stop?</a:t>
            </a:r>
            <a:endParaRPr lang="en-US" sz="1050" dirty="0"/>
          </a:p>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Reports a policy violation instead of hanging or crashing</a:t>
            </a:r>
            <a:endParaRPr lang="en-US" sz="1050" dirty="0"/>
          </a:p>
          <a:p>
            <a:pPr marL="342900" indent="-342900">
              <a:spcAft>
                <a:spcPts val="800"/>
              </a:spcAft>
              <a:buSzPct val="100000"/>
              <a:buChar char="•"/>
            </a:pPr>
            <a:r>
              <a:rPr lang="en-US" sz="1050" dirty="0">
                <a:solidFill>
                  <a:srgbClr val="0F2233"/>
                </a:solidFill>
                <a:latin typeface="Calibri" pitchFamily="34" charset="0"/>
                <a:ea typeface="Calibri" pitchFamily="34" charset="-122"/>
                <a:cs typeface="Calibri" pitchFamily="34" charset="-120"/>
              </a:rPr>
              <a:t>Cost: one comparison per instruction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17</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How do we know any of it is correct?</a:t>
            </a:r>
            <a:endParaRPr lang="en-US" sz="3000" dirty="0"/>
          </a:p>
        </p:txBody>
      </p:sp>
      <p:sp>
        <p:nvSpPr>
          <p:cNvPr id="4" name="Text 2"/>
          <p:cNvSpPr/>
          <p:nvPr/>
        </p:nvSpPr>
        <p:spPr>
          <a:xfrm>
            <a:off x="502920" y="804672"/>
            <a:ext cx="8183880"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Because a compiler that produces the wrong answer quickly is worthless.</a:t>
            </a:r>
            <a:endParaRPr lang="en-US" sz="1350" dirty="0"/>
          </a:p>
        </p:txBody>
      </p:sp>
      <p:sp>
        <p:nvSpPr>
          <p:cNvPr id="5" name="Shape 3"/>
          <p:cNvSpPr/>
          <p:nvPr/>
        </p:nvSpPr>
        <p:spPr>
          <a:xfrm>
            <a:off x="502920" y="1325880"/>
            <a:ext cx="5120640" cy="1600200"/>
          </a:xfrm>
          <a:prstGeom prst="roundRect">
            <a:avLst>
              <a:gd name="adj" fmla="val 4571"/>
            </a:avLst>
          </a:prstGeom>
          <a:solidFill>
            <a:srgbClr val="EEF3F6"/>
          </a:solidFill>
          <a:ln/>
          <a:effectLst>
            <a:outerShdw sx="100000" sy="100000" kx="0" ky="0" algn="bl" rotWithShape="0" blurRad="101600" dist="25400" dir="5400000">
              <a:srgbClr val="9AACB8">
                <a:alpha val="35000"/>
              </a:srgbClr>
            </a:outerShdw>
          </a:effectLst>
        </p:spPr>
      </p:sp>
      <p:sp>
        <p:nvSpPr>
          <p:cNvPr id="6" name="Text 4"/>
          <p:cNvSpPr/>
          <p:nvPr/>
        </p:nvSpPr>
        <p:spPr>
          <a:xfrm>
            <a:off x="731520" y="1435608"/>
            <a:ext cx="4663440" cy="274320"/>
          </a:xfrm>
          <a:prstGeom prst="rect">
            <a:avLst/>
          </a:prstGeom>
          <a:noFill/>
          <a:ln/>
        </p:spPr>
        <p:txBody>
          <a:bodyPr wrap="square" lIns="0" tIns="0" rIns="0" bIns="0" rtlCol="0" anchor="ctr"/>
          <a:lstStyle/>
          <a:p>
            <a:pPr indent="0" marL="0">
              <a:buNone/>
            </a:pPr>
            <a:r>
              <a:rPr lang="en-US" sz="1350" b="1" dirty="0">
                <a:solidFill>
                  <a:srgbClr val="0F2233"/>
                </a:solidFill>
                <a:latin typeface="Cambria" pitchFamily="34" charset="0"/>
                <a:ea typeface="Cambria" pitchFamily="34" charset="-122"/>
                <a:cs typeface="Cambria" pitchFamily="34" charset="-120"/>
              </a:rPr>
              <a:t>Every program is run three ways</a:t>
            </a:r>
            <a:endParaRPr lang="en-US" sz="1350" dirty="0"/>
          </a:p>
        </p:txBody>
      </p:sp>
      <p:sp>
        <p:nvSpPr>
          <p:cNvPr id="7" name="Shape 5"/>
          <p:cNvSpPr/>
          <p:nvPr/>
        </p:nvSpPr>
        <p:spPr>
          <a:xfrm>
            <a:off x="777240" y="1783080"/>
            <a:ext cx="1463040" cy="658368"/>
          </a:xfrm>
          <a:prstGeom prst="roundRect">
            <a:avLst>
              <a:gd name="adj" fmla="val 8333"/>
            </a:avLst>
          </a:prstGeom>
          <a:solidFill>
            <a:srgbClr val="FFFFFF"/>
          </a:solidFill>
          <a:ln w="12700">
            <a:solidFill>
              <a:srgbClr val="C3D0D8"/>
            </a:solidFill>
            <a:prstDash val="solid"/>
          </a:ln>
        </p:spPr>
      </p:sp>
      <p:sp>
        <p:nvSpPr>
          <p:cNvPr id="8" name="Text 6"/>
          <p:cNvSpPr/>
          <p:nvPr/>
        </p:nvSpPr>
        <p:spPr>
          <a:xfrm>
            <a:off x="777240" y="1783080"/>
            <a:ext cx="1463040" cy="658368"/>
          </a:xfrm>
          <a:prstGeom prst="rect">
            <a:avLst/>
          </a:prstGeom>
          <a:noFill/>
          <a:ln/>
        </p:spPr>
        <p:txBody>
          <a:bodyPr wrap="square" lIns="0" tIns="0" rIns="0" bIns="0" rtlCol="0" anchor="ctr"/>
          <a:lstStyle/>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unoptimised</a:t>
            </a:r>
            <a:endParaRPr lang="en-US" sz="1000" dirty="0"/>
          </a:p>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bytecode</a:t>
            </a:r>
            <a:endParaRPr lang="en-US" sz="1000" dirty="0"/>
          </a:p>
        </p:txBody>
      </p:sp>
      <p:sp>
        <p:nvSpPr>
          <p:cNvPr id="9" name="Text 7"/>
          <p:cNvSpPr/>
          <p:nvPr/>
        </p:nvSpPr>
        <p:spPr>
          <a:xfrm>
            <a:off x="2240280" y="1783080"/>
            <a:ext cx="182880" cy="658368"/>
          </a:xfrm>
          <a:prstGeom prst="rect">
            <a:avLst/>
          </a:prstGeom>
          <a:noFill/>
          <a:ln/>
        </p:spPr>
        <p:txBody>
          <a:bodyPr wrap="square" lIns="0" tIns="0" rIns="0" bIns="0" rtlCol="0" anchor="ctr"/>
          <a:lstStyle/>
          <a:p>
            <a:pPr algn="ctr" indent="0" marL="0">
              <a:buNone/>
            </a:pPr>
            <a:r>
              <a:rPr lang="en-US" sz="1600" b="1" dirty="0">
                <a:solidFill>
                  <a:srgbClr val="C4622D"/>
                </a:solidFill>
              </a:rPr>
              <a:t>=</a:t>
            </a:r>
            <a:endParaRPr lang="en-US" sz="1600" dirty="0"/>
          </a:p>
        </p:txBody>
      </p:sp>
      <p:sp>
        <p:nvSpPr>
          <p:cNvPr id="10" name="Shape 8"/>
          <p:cNvSpPr/>
          <p:nvPr/>
        </p:nvSpPr>
        <p:spPr>
          <a:xfrm>
            <a:off x="2423160" y="1783080"/>
            <a:ext cx="1463040" cy="658368"/>
          </a:xfrm>
          <a:prstGeom prst="roundRect">
            <a:avLst>
              <a:gd name="adj" fmla="val 8333"/>
            </a:avLst>
          </a:prstGeom>
          <a:solidFill>
            <a:srgbClr val="FFFFFF"/>
          </a:solidFill>
          <a:ln w="12700">
            <a:solidFill>
              <a:srgbClr val="C3D0D8"/>
            </a:solidFill>
            <a:prstDash val="solid"/>
          </a:ln>
        </p:spPr>
      </p:sp>
      <p:sp>
        <p:nvSpPr>
          <p:cNvPr id="11" name="Text 9"/>
          <p:cNvSpPr/>
          <p:nvPr/>
        </p:nvSpPr>
        <p:spPr>
          <a:xfrm>
            <a:off x="2423160" y="1783080"/>
            <a:ext cx="1463040" cy="658368"/>
          </a:xfrm>
          <a:prstGeom prst="rect">
            <a:avLst/>
          </a:prstGeom>
          <a:noFill/>
          <a:ln/>
        </p:spPr>
        <p:txBody>
          <a:bodyPr wrap="square" lIns="0" tIns="0" rIns="0" bIns="0" rtlCol="0" anchor="ctr"/>
          <a:lstStyle/>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optimised</a:t>
            </a:r>
            <a:endParaRPr lang="en-US" sz="1000" dirty="0"/>
          </a:p>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bytecode</a:t>
            </a:r>
            <a:endParaRPr lang="en-US" sz="1000" dirty="0"/>
          </a:p>
        </p:txBody>
      </p:sp>
      <p:sp>
        <p:nvSpPr>
          <p:cNvPr id="12" name="Text 10"/>
          <p:cNvSpPr/>
          <p:nvPr/>
        </p:nvSpPr>
        <p:spPr>
          <a:xfrm>
            <a:off x="3886200" y="1783080"/>
            <a:ext cx="182880" cy="658368"/>
          </a:xfrm>
          <a:prstGeom prst="rect">
            <a:avLst/>
          </a:prstGeom>
          <a:noFill/>
          <a:ln/>
        </p:spPr>
        <p:txBody>
          <a:bodyPr wrap="square" lIns="0" tIns="0" rIns="0" bIns="0" rtlCol="0" anchor="ctr"/>
          <a:lstStyle/>
          <a:p>
            <a:pPr algn="ctr" indent="0" marL="0">
              <a:buNone/>
            </a:pPr>
            <a:r>
              <a:rPr lang="en-US" sz="1600" b="1" dirty="0">
                <a:solidFill>
                  <a:srgbClr val="C4622D"/>
                </a:solidFill>
              </a:rPr>
              <a:t>=</a:t>
            </a:r>
            <a:endParaRPr lang="en-US" sz="1600" dirty="0"/>
          </a:p>
        </p:txBody>
      </p:sp>
      <p:sp>
        <p:nvSpPr>
          <p:cNvPr id="13" name="Shape 11"/>
          <p:cNvSpPr/>
          <p:nvPr/>
        </p:nvSpPr>
        <p:spPr>
          <a:xfrm>
            <a:off x="4069080" y="1783080"/>
            <a:ext cx="1463040" cy="658368"/>
          </a:xfrm>
          <a:prstGeom prst="roundRect">
            <a:avLst>
              <a:gd name="adj" fmla="val 8333"/>
            </a:avLst>
          </a:prstGeom>
          <a:solidFill>
            <a:srgbClr val="FFFFFF"/>
          </a:solidFill>
          <a:ln w="12700">
            <a:solidFill>
              <a:srgbClr val="C3D0D8"/>
            </a:solidFill>
            <a:prstDash val="solid"/>
          </a:ln>
        </p:spPr>
      </p:sp>
      <p:sp>
        <p:nvSpPr>
          <p:cNvPr id="14" name="Text 12"/>
          <p:cNvSpPr/>
          <p:nvPr/>
        </p:nvSpPr>
        <p:spPr>
          <a:xfrm>
            <a:off x="4069080" y="1783080"/>
            <a:ext cx="1463040" cy="658368"/>
          </a:xfrm>
          <a:prstGeom prst="rect">
            <a:avLst/>
          </a:prstGeom>
          <a:noFill/>
          <a:ln/>
        </p:spPr>
        <p:txBody>
          <a:bodyPr wrap="square" lIns="0" tIns="0" rIns="0" bIns="0" rtlCol="0" anchor="ctr"/>
          <a:lstStyle/>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the register</a:t>
            </a:r>
            <a:endParaRPr lang="en-US" sz="1000" dirty="0"/>
          </a:p>
          <a:p>
            <a:pPr algn="ctr" indent="0" marL="0">
              <a:lnSpc>
                <a:spcPts val="1200"/>
              </a:lnSpc>
              <a:buNone/>
            </a:pPr>
            <a:r>
              <a:rPr lang="en-US" sz="1000" dirty="0">
                <a:solidFill>
                  <a:srgbClr val="0F2233"/>
                </a:solidFill>
                <a:latin typeface="Calibri" pitchFamily="34" charset="0"/>
                <a:ea typeface="Calibri" pitchFamily="34" charset="-122"/>
                <a:cs typeface="Calibri" pitchFamily="34" charset="-120"/>
              </a:rPr>
              <a:t>machine</a:t>
            </a:r>
            <a:endParaRPr lang="en-US" sz="1000" dirty="0"/>
          </a:p>
        </p:txBody>
      </p:sp>
      <p:sp>
        <p:nvSpPr>
          <p:cNvPr id="15" name="Text 13"/>
          <p:cNvSpPr/>
          <p:nvPr/>
        </p:nvSpPr>
        <p:spPr>
          <a:xfrm>
            <a:off x="777240" y="2514600"/>
            <a:ext cx="4663440" cy="274320"/>
          </a:xfrm>
          <a:prstGeom prst="rect">
            <a:avLst/>
          </a:prstGeom>
          <a:noFill/>
          <a:ln/>
        </p:spPr>
        <p:txBody>
          <a:bodyPr wrap="square" lIns="0" tIns="0" rIns="0" bIns="0" rtlCol="0" anchor="ctr"/>
          <a:lstStyle/>
          <a:p>
            <a:pPr indent="0" marL="0">
              <a:buNone/>
            </a:pPr>
            <a:r>
              <a:rPr lang="en-US" sz="1050" i="1" dirty="0">
                <a:solidFill>
                  <a:srgbClr val="5D6B7A"/>
                </a:solidFill>
                <a:latin typeface="Calibri" pitchFamily="34" charset="0"/>
                <a:ea typeface="Calibri" pitchFamily="34" charset="-122"/>
                <a:cs typeface="Calibri" pitchFamily="34" charset="-120"/>
              </a:rPr>
              <a:t>All three must print exactly the same thing, on every example, every time.</a:t>
            </a:r>
            <a:endParaRPr lang="en-US" sz="1050" dirty="0"/>
          </a:p>
        </p:txBody>
      </p:sp>
      <p:sp>
        <p:nvSpPr>
          <p:cNvPr id="16" name="Shape 14"/>
          <p:cNvSpPr/>
          <p:nvPr/>
        </p:nvSpPr>
        <p:spPr>
          <a:xfrm>
            <a:off x="502920" y="3063240"/>
            <a:ext cx="5120640" cy="1371600"/>
          </a:xfrm>
          <a:prstGeom prst="roundRect">
            <a:avLst>
              <a:gd name="adj" fmla="val 5333"/>
            </a:avLst>
          </a:prstGeom>
          <a:solidFill>
            <a:srgbClr val="F7EAE3"/>
          </a:solidFill>
          <a:ln/>
          <a:effectLst>
            <a:outerShdw sx="100000" sy="100000" kx="0" ky="0" algn="bl" rotWithShape="0" blurRad="101600" dist="25400" dir="5400000">
              <a:srgbClr val="9AACB8">
                <a:alpha val="35000"/>
              </a:srgbClr>
            </a:outerShdw>
          </a:effectLst>
        </p:spPr>
      </p:sp>
      <p:sp>
        <p:nvSpPr>
          <p:cNvPr id="17" name="Text 15"/>
          <p:cNvSpPr/>
          <p:nvPr/>
        </p:nvSpPr>
        <p:spPr>
          <a:xfrm>
            <a:off x="731520" y="3172968"/>
            <a:ext cx="4663440" cy="274320"/>
          </a:xfrm>
          <a:prstGeom prst="rect">
            <a:avLst/>
          </a:prstGeom>
          <a:noFill/>
          <a:ln/>
        </p:spPr>
        <p:txBody>
          <a:bodyPr wrap="square" lIns="0" tIns="0" rIns="0" bIns="0" rtlCol="0" anchor="ctr"/>
          <a:lstStyle/>
          <a:p>
            <a:pPr indent="0" marL="0">
              <a:buNone/>
            </a:pPr>
            <a:r>
              <a:rPr lang="en-US" sz="1350" b="1" dirty="0">
                <a:solidFill>
                  <a:srgbClr val="C4622D"/>
                </a:solidFill>
                <a:latin typeface="Cambria" pitchFamily="34" charset="0"/>
                <a:ea typeface="Cambria" pitchFamily="34" charset="-122"/>
                <a:cs typeface="Cambria" pitchFamily="34" charset="-120"/>
              </a:rPr>
              <a:t>It caught a real bug</a:t>
            </a:r>
            <a:endParaRPr lang="en-US" sz="1350" dirty="0"/>
          </a:p>
        </p:txBody>
      </p:sp>
      <p:sp>
        <p:nvSpPr>
          <p:cNvPr id="18" name="Text 16"/>
          <p:cNvSpPr/>
          <p:nvPr/>
        </p:nvSpPr>
        <p:spPr>
          <a:xfrm>
            <a:off x="731520" y="3456432"/>
            <a:ext cx="4709160" cy="914400"/>
          </a:xfrm>
          <a:prstGeom prst="rect">
            <a:avLst/>
          </a:prstGeom>
          <a:noFill/>
          <a:ln/>
        </p:spPr>
        <p:txBody>
          <a:bodyPr wrap="square" lIns="0" tIns="0" rIns="0" bIns="0" rtlCol="0" anchor="ctr"/>
          <a:lstStyle/>
          <a:p>
            <a:pPr indent="0" marL="0">
              <a:lnSpc>
                <a:spcPts val="1300"/>
              </a:lnSpc>
              <a:buNone/>
            </a:pPr>
            <a:r>
              <a:rPr lang="en-US" sz="1050" dirty="0">
                <a:solidFill>
                  <a:srgbClr val="0F2233"/>
                </a:solidFill>
                <a:latin typeface="Calibri" pitchFamily="34" charset="0"/>
                <a:ea typeface="Calibri" pitchFamily="34" charset="-122"/>
                <a:cs typeface="Calibri" pitchFamily="34" charset="-120"/>
              </a:rPr>
              <a:t>Copy propagation was replacing t with b inside Euclid's algorithm - but b is reassigned on the very next line, so the copy had already been killed. gcd returned 0. The fix was to compute available copies properly, as a data-flow analysis. The three-way check is what exposed it.</a:t>
            </a:r>
            <a:endParaRPr lang="en-US" sz="1050" dirty="0"/>
          </a:p>
        </p:txBody>
      </p:sp>
      <p:sp>
        <p:nvSpPr>
          <p:cNvPr id="19" name="Shape 17"/>
          <p:cNvSpPr/>
          <p:nvPr/>
        </p:nvSpPr>
        <p:spPr>
          <a:xfrm>
            <a:off x="5852160" y="1325880"/>
            <a:ext cx="2788920" cy="3108960"/>
          </a:xfrm>
          <a:prstGeom prst="roundRect">
            <a:avLst>
              <a:gd name="adj" fmla="val 2623"/>
            </a:avLst>
          </a:prstGeom>
          <a:solidFill>
            <a:srgbClr val="E8F2EF"/>
          </a:solidFill>
          <a:ln/>
          <a:effectLst>
            <a:outerShdw sx="100000" sy="100000" kx="0" ky="0" algn="bl" rotWithShape="0" blurRad="101600" dist="25400" dir="5400000">
              <a:srgbClr val="9AACB8">
                <a:alpha val="35000"/>
              </a:srgbClr>
            </a:outerShdw>
          </a:effectLst>
        </p:spPr>
      </p:sp>
      <p:sp>
        <p:nvSpPr>
          <p:cNvPr id="20" name="Text 18"/>
          <p:cNvSpPr/>
          <p:nvPr/>
        </p:nvSpPr>
        <p:spPr>
          <a:xfrm>
            <a:off x="6053328" y="1444752"/>
            <a:ext cx="2377440" cy="274320"/>
          </a:xfrm>
          <a:prstGeom prst="rect">
            <a:avLst/>
          </a:prstGeom>
          <a:noFill/>
          <a:ln/>
        </p:spPr>
        <p:txBody>
          <a:bodyPr wrap="square" lIns="0" tIns="0" rIns="0" bIns="0" rtlCol="0" anchor="ctr"/>
          <a:lstStyle/>
          <a:p>
            <a:pPr indent="0" marL="0">
              <a:buNone/>
            </a:pPr>
            <a:r>
              <a:rPr lang="en-US" sz="1300" b="1" dirty="0">
                <a:solidFill>
                  <a:srgbClr val="0E7C66"/>
                </a:solidFill>
                <a:latin typeface="Cambria" pitchFamily="34" charset="0"/>
                <a:ea typeface="Cambria" pitchFamily="34" charset="-122"/>
                <a:cs typeface="Cambria" pitchFamily="34" charset="-120"/>
              </a:rPr>
              <a:t>Self-tests</a:t>
            </a:r>
            <a:endParaRPr lang="en-US" sz="1300" dirty="0"/>
          </a:p>
        </p:txBody>
      </p:sp>
      <p:sp>
        <p:nvSpPr>
          <p:cNvPr id="21" name="Text 19"/>
          <p:cNvSpPr/>
          <p:nvPr/>
        </p:nvSpPr>
        <p:spPr>
          <a:xfrm>
            <a:off x="6053328" y="1737360"/>
            <a:ext cx="2377440" cy="777240"/>
          </a:xfrm>
          <a:prstGeom prst="rect">
            <a:avLst/>
          </a:prstGeom>
          <a:noFill/>
          <a:ln/>
        </p:spPr>
        <p:txBody>
          <a:bodyPr wrap="square" lIns="0" tIns="0" rIns="0" bIns="0" rtlCol="0" anchor="ctr"/>
          <a:lstStyle/>
          <a:p>
            <a:pPr indent="0" marL="0">
              <a:buNone/>
            </a:pPr>
            <a:r>
              <a:rPr lang="en-US" sz="5200" b="1" dirty="0">
                <a:solidFill>
                  <a:srgbClr val="0E7C66"/>
                </a:solidFill>
                <a:latin typeface="Cambria" pitchFamily="34" charset="0"/>
                <a:ea typeface="Cambria" pitchFamily="34" charset="-122"/>
                <a:cs typeface="Cambria" pitchFamily="34" charset="-120"/>
              </a:rPr>
              <a:t>26</a:t>
            </a:r>
            <a:endParaRPr lang="en-US" sz="5200" dirty="0"/>
          </a:p>
        </p:txBody>
      </p:sp>
      <p:sp>
        <p:nvSpPr>
          <p:cNvPr id="22" name="Text 20"/>
          <p:cNvSpPr/>
          <p:nvPr/>
        </p:nvSpPr>
        <p:spPr>
          <a:xfrm>
            <a:off x="6053328" y="2487168"/>
            <a:ext cx="2377440" cy="274320"/>
          </a:xfrm>
          <a:prstGeom prst="rect">
            <a:avLst/>
          </a:prstGeom>
          <a:noFill/>
          <a:ln/>
        </p:spPr>
        <p:txBody>
          <a:bodyPr wrap="square" lIns="0" tIns="0" rIns="0" bIns="0" rtlCol="0" anchor="ctr"/>
          <a:lstStyle/>
          <a:p>
            <a:pPr indent="0" marL="0">
              <a:buNone/>
            </a:pPr>
            <a:r>
              <a:rPr lang="en-US" sz="1100" dirty="0">
                <a:solidFill>
                  <a:srgbClr val="5D6B7A"/>
                </a:solidFill>
                <a:latin typeface="Calibri" pitchFamily="34" charset="0"/>
                <a:ea typeface="Calibri" pitchFamily="34" charset="-122"/>
                <a:cs typeface="Calibri" pitchFamily="34" charset="-120"/>
              </a:rPr>
              <a:t>passing, 0 failing</a:t>
            </a:r>
            <a:endParaRPr lang="en-US" sz="1100" dirty="0"/>
          </a:p>
        </p:txBody>
      </p:sp>
      <p:sp>
        <p:nvSpPr>
          <p:cNvPr id="23" name="Text 21"/>
          <p:cNvSpPr/>
          <p:nvPr/>
        </p:nvSpPr>
        <p:spPr>
          <a:xfrm>
            <a:off x="6053328" y="2834640"/>
            <a:ext cx="2468880" cy="14630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0F2233"/>
                </a:solidFill>
                <a:latin typeface="Calibri" pitchFamily="34" charset="0"/>
                <a:ea typeface="Calibri" pitchFamily="34" charset="-122"/>
                <a:cs typeface="Calibri" pitchFamily="34" charset="-120"/>
              </a:rPr>
              <a:t>(a|b)*abb really has 4 states</a:t>
            </a:r>
            <a:endParaRPr lang="en-US" sz="1000" dirty="0"/>
          </a:p>
          <a:p>
            <a:pPr marL="342900" indent="-342900">
              <a:spcAft>
                <a:spcPts val="800"/>
              </a:spcAft>
              <a:buSzPct val="100000"/>
              <a:buChar char="•"/>
            </a:pPr>
            <a:r>
              <a:rPr lang="en-US" sz="1000" dirty="0">
                <a:solidFill>
                  <a:srgbClr val="0F2233"/>
                </a:solidFill>
                <a:latin typeface="Calibri" pitchFamily="34" charset="0"/>
                <a:ea typeface="Calibri" pitchFamily="34" charset="-122"/>
                <a:cs typeface="Calibri" pitchFamily="34" charset="-120"/>
              </a:rPr>
              <a:t>the ambiguous grammar really conflicts</a:t>
            </a:r>
            <a:endParaRPr lang="en-US" sz="1000" dirty="0"/>
          </a:p>
          <a:p>
            <a:pPr marL="342900" indent="-342900">
              <a:spcAft>
                <a:spcPts val="800"/>
              </a:spcAft>
              <a:buSzPct val="100000"/>
              <a:buChar char="•"/>
            </a:pPr>
            <a:r>
              <a:rPr lang="en-US" sz="1000" dirty="0">
                <a:solidFill>
                  <a:srgbClr val="0F2233"/>
                </a:solidFill>
                <a:latin typeface="Calibri" pitchFamily="34" charset="0"/>
                <a:ea typeface="Calibri" pitchFamily="34" charset="-122"/>
                <a:cs typeface="Calibri" pitchFamily="34" charset="-120"/>
              </a:rPr>
              <a:t>no unpatched jump survives</a:t>
            </a:r>
            <a:endParaRPr lang="en-US" sz="1000" dirty="0"/>
          </a:p>
          <a:p>
            <a:pPr marL="342900" indent="-342900">
              <a:spcAft>
                <a:spcPts val="800"/>
              </a:spcAft>
              <a:buSzPct val="100000"/>
              <a:buChar char="•"/>
            </a:pPr>
            <a:r>
              <a:rPr lang="en-US" sz="1000" dirty="0">
                <a:solidFill>
                  <a:srgbClr val="0F2233"/>
                </a:solidFill>
                <a:latin typeface="Calibri" pitchFamily="34" charset="0"/>
                <a:ea typeface="Calibri" pitchFamily="34" charset="-122"/>
                <a:cs typeface="Calibri" pitchFamily="34" charset="-120"/>
              </a:rPr>
              <a:t>every attack is still blocked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18</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The Glass-Box viewer</a:t>
            </a:r>
            <a:endParaRPr lang="en-US" sz="3000" dirty="0"/>
          </a:p>
        </p:txBody>
      </p:sp>
      <p:sp>
        <p:nvSpPr>
          <p:cNvPr id="4" name="Text 2"/>
          <p:cNvSpPr/>
          <p:nvPr/>
        </p:nvSpPr>
        <p:spPr>
          <a:xfrm>
            <a:off x="502920" y="804672"/>
            <a:ext cx="8183880" cy="329184"/>
          </a:xfrm>
          <a:prstGeom prst="rect">
            <a:avLst/>
          </a:prstGeom>
          <a:noFill/>
          <a:ln/>
        </p:spPr>
        <p:txBody>
          <a:bodyPr wrap="square" lIns="0" tIns="0" rIns="0" bIns="0" rtlCol="0" anchor="ctr"/>
          <a:lstStyle/>
          <a:p>
            <a:pPr indent="0" marL="0">
              <a:buNone/>
            </a:pPr>
            <a:r>
              <a:rPr lang="en-US" sz="1350" i="1" dirty="0">
                <a:solidFill>
                  <a:srgbClr val="5D6B7A"/>
                </a:solidFill>
                <a:latin typeface="Calibri" pitchFamily="34" charset="0"/>
                <a:ea typeface="Calibri" pitchFamily="34" charset="-122"/>
                <a:cs typeface="Calibri" pitchFamily="34" charset="-120"/>
              </a:rPr>
              <a:t>One tab per phase. Double-click run.bat - there is nothing to install.</a:t>
            </a:r>
            <a:endParaRPr lang="en-US" sz="1350" dirty="0"/>
          </a:p>
        </p:txBody>
      </p:sp>
      <p:sp>
        <p:nvSpPr>
          <p:cNvPr id="5" name="Shape 3"/>
          <p:cNvSpPr/>
          <p:nvPr/>
        </p:nvSpPr>
        <p:spPr>
          <a:xfrm>
            <a:off x="502920" y="1325880"/>
            <a:ext cx="8138160" cy="3108960"/>
          </a:xfrm>
          <a:prstGeom prst="roundRect">
            <a:avLst>
              <a:gd name="adj" fmla="val 2353"/>
            </a:avLst>
          </a:prstGeom>
          <a:solidFill>
            <a:srgbClr val="EEF3F6"/>
          </a:solidFill>
          <a:ln/>
          <a:effectLst>
            <a:outerShdw sx="100000" sy="100000" kx="0" ky="0" algn="bl" rotWithShape="0" blurRad="101600" dist="25400" dir="5400000">
              <a:srgbClr val="9AACB8">
                <a:alpha val="35000"/>
              </a:srgbClr>
            </a:outerShdw>
          </a:effectLst>
        </p:spPr>
      </p:sp>
      <p:sp>
        <p:nvSpPr>
          <p:cNvPr id="6" name="Shape 4"/>
          <p:cNvSpPr/>
          <p:nvPr/>
        </p:nvSpPr>
        <p:spPr>
          <a:xfrm>
            <a:off x="640080" y="1463040"/>
            <a:ext cx="914400" cy="310896"/>
          </a:xfrm>
          <a:prstGeom prst="roundRect">
            <a:avLst>
              <a:gd name="adj" fmla="val 14706"/>
            </a:avLst>
          </a:prstGeom>
          <a:solidFill>
            <a:srgbClr val="DCE6EB"/>
          </a:solidFill>
          <a:ln/>
        </p:spPr>
      </p:sp>
      <p:sp>
        <p:nvSpPr>
          <p:cNvPr id="7" name="Text 5"/>
          <p:cNvSpPr/>
          <p:nvPr/>
        </p:nvSpPr>
        <p:spPr>
          <a:xfrm>
            <a:off x="640080"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Source</a:t>
            </a:r>
            <a:endParaRPr lang="en-US" sz="850" dirty="0"/>
          </a:p>
        </p:txBody>
      </p:sp>
      <p:sp>
        <p:nvSpPr>
          <p:cNvPr id="8" name="Shape 6"/>
          <p:cNvSpPr/>
          <p:nvPr/>
        </p:nvSpPr>
        <p:spPr>
          <a:xfrm>
            <a:off x="1636776" y="1463040"/>
            <a:ext cx="914400" cy="310896"/>
          </a:xfrm>
          <a:prstGeom prst="roundRect">
            <a:avLst>
              <a:gd name="adj" fmla="val 14706"/>
            </a:avLst>
          </a:prstGeom>
          <a:solidFill>
            <a:srgbClr val="DCE6EB"/>
          </a:solidFill>
          <a:ln/>
        </p:spPr>
      </p:sp>
      <p:sp>
        <p:nvSpPr>
          <p:cNvPr id="9" name="Text 7"/>
          <p:cNvSpPr/>
          <p:nvPr/>
        </p:nvSpPr>
        <p:spPr>
          <a:xfrm>
            <a:off x="1636776"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Tokens</a:t>
            </a:r>
            <a:endParaRPr lang="en-US" sz="850" dirty="0"/>
          </a:p>
        </p:txBody>
      </p:sp>
      <p:sp>
        <p:nvSpPr>
          <p:cNvPr id="10" name="Shape 8"/>
          <p:cNvSpPr/>
          <p:nvPr/>
        </p:nvSpPr>
        <p:spPr>
          <a:xfrm>
            <a:off x="2633472" y="1463040"/>
            <a:ext cx="914400" cy="310896"/>
          </a:xfrm>
          <a:prstGeom prst="roundRect">
            <a:avLst>
              <a:gd name="adj" fmla="val 14706"/>
            </a:avLst>
          </a:prstGeom>
          <a:solidFill>
            <a:srgbClr val="DCE6EB"/>
          </a:solidFill>
          <a:ln/>
        </p:spPr>
      </p:sp>
      <p:sp>
        <p:nvSpPr>
          <p:cNvPr id="11" name="Text 9"/>
          <p:cNvSpPr/>
          <p:nvPr/>
        </p:nvSpPr>
        <p:spPr>
          <a:xfrm>
            <a:off x="2633472"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DFA</a:t>
            </a:r>
            <a:endParaRPr lang="en-US" sz="850" dirty="0"/>
          </a:p>
        </p:txBody>
      </p:sp>
      <p:sp>
        <p:nvSpPr>
          <p:cNvPr id="12" name="Shape 10"/>
          <p:cNvSpPr/>
          <p:nvPr/>
        </p:nvSpPr>
        <p:spPr>
          <a:xfrm>
            <a:off x="3630168" y="1463040"/>
            <a:ext cx="914400" cy="310896"/>
          </a:xfrm>
          <a:prstGeom prst="roundRect">
            <a:avLst>
              <a:gd name="adj" fmla="val 14706"/>
            </a:avLst>
          </a:prstGeom>
          <a:solidFill>
            <a:srgbClr val="DCE6EB"/>
          </a:solidFill>
          <a:ln/>
        </p:spPr>
      </p:sp>
      <p:sp>
        <p:nvSpPr>
          <p:cNvPr id="13" name="Text 11"/>
          <p:cNvSpPr/>
          <p:nvPr/>
        </p:nvSpPr>
        <p:spPr>
          <a:xfrm>
            <a:off x="3630168"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Grammar</a:t>
            </a:r>
            <a:endParaRPr lang="en-US" sz="850" dirty="0"/>
          </a:p>
        </p:txBody>
      </p:sp>
      <p:sp>
        <p:nvSpPr>
          <p:cNvPr id="14" name="Shape 12"/>
          <p:cNvSpPr/>
          <p:nvPr/>
        </p:nvSpPr>
        <p:spPr>
          <a:xfrm>
            <a:off x="4626864" y="1463040"/>
            <a:ext cx="914400" cy="310896"/>
          </a:xfrm>
          <a:prstGeom prst="roundRect">
            <a:avLst>
              <a:gd name="adj" fmla="val 14706"/>
            </a:avLst>
          </a:prstGeom>
          <a:solidFill>
            <a:srgbClr val="DCE6EB"/>
          </a:solidFill>
          <a:ln/>
        </p:spPr>
      </p:sp>
      <p:sp>
        <p:nvSpPr>
          <p:cNvPr id="15" name="Text 13"/>
          <p:cNvSpPr/>
          <p:nvPr/>
        </p:nvSpPr>
        <p:spPr>
          <a:xfrm>
            <a:off x="4626864"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LR tables</a:t>
            </a:r>
            <a:endParaRPr lang="en-US" sz="850" dirty="0"/>
          </a:p>
        </p:txBody>
      </p:sp>
      <p:sp>
        <p:nvSpPr>
          <p:cNvPr id="16" name="Shape 14"/>
          <p:cNvSpPr/>
          <p:nvPr/>
        </p:nvSpPr>
        <p:spPr>
          <a:xfrm>
            <a:off x="5623560" y="1463040"/>
            <a:ext cx="914400" cy="310896"/>
          </a:xfrm>
          <a:prstGeom prst="roundRect">
            <a:avLst>
              <a:gd name="adj" fmla="val 14706"/>
            </a:avLst>
          </a:prstGeom>
          <a:solidFill>
            <a:srgbClr val="DCE6EB"/>
          </a:solidFill>
          <a:ln/>
        </p:spPr>
      </p:sp>
      <p:sp>
        <p:nvSpPr>
          <p:cNvPr id="17" name="Text 15"/>
          <p:cNvSpPr/>
          <p:nvPr/>
        </p:nvSpPr>
        <p:spPr>
          <a:xfrm>
            <a:off x="5623560"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Parse</a:t>
            </a:r>
            <a:endParaRPr lang="en-US" sz="850" dirty="0"/>
          </a:p>
        </p:txBody>
      </p:sp>
      <p:sp>
        <p:nvSpPr>
          <p:cNvPr id="18" name="Shape 16"/>
          <p:cNvSpPr/>
          <p:nvPr/>
        </p:nvSpPr>
        <p:spPr>
          <a:xfrm>
            <a:off x="6620256" y="1463040"/>
            <a:ext cx="914400" cy="310896"/>
          </a:xfrm>
          <a:prstGeom prst="roundRect">
            <a:avLst>
              <a:gd name="adj" fmla="val 14706"/>
            </a:avLst>
          </a:prstGeom>
          <a:solidFill>
            <a:srgbClr val="DCE6EB"/>
          </a:solidFill>
          <a:ln/>
        </p:spPr>
      </p:sp>
      <p:sp>
        <p:nvSpPr>
          <p:cNvPr id="19" name="Text 17"/>
          <p:cNvSpPr/>
          <p:nvPr/>
        </p:nvSpPr>
        <p:spPr>
          <a:xfrm>
            <a:off x="6620256"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Symbols</a:t>
            </a:r>
            <a:endParaRPr lang="en-US" sz="850" dirty="0"/>
          </a:p>
        </p:txBody>
      </p:sp>
      <p:sp>
        <p:nvSpPr>
          <p:cNvPr id="20" name="Shape 18"/>
          <p:cNvSpPr/>
          <p:nvPr/>
        </p:nvSpPr>
        <p:spPr>
          <a:xfrm>
            <a:off x="7616952" y="1463040"/>
            <a:ext cx="914400" cy="310896"/>
          </a:xfrm>
          <a:prstGeom prst="roundRect">
            <a:avLst>
              <a:gd name="adj" fmla="val 14706"/>
            </a:avLst>
          </a:prstGeom>
          <a:solidFill>
            <a:srgbClr val="DCE6EB"/>
          </a:solidFill>
          <a:ln/>
        </p:spPr>
      </p:sp>
      <p:sp>
        <p:nvSpPr>
          <p:cNvPr id="21" name="Text 19"/>
          <p:cNvSpPr/>
          <p:nvPr/>
        </p:nvSpPr>
        <p:spPr>
          <a:xfrm>
            <a:off x="7616952" y="1463040"/>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TAC</a:t>
            </a:r>
            <a:endParaRPr lang="en-US" sz="850" dirty="0"/>
          </a:p>
        </p:txBody>
      </p:sp>
      <p:sp>
        <p:nvSpPr>
          <p:cNvPr id="22" name="Shape 20"/>
          <p:cNvSpPr/>
          <p:nvPr/>
        </p:nvSpPr>
        <p:spPr>
          <a:xfrm>
            <a:off x="640080" y="1847088"/>
            <a:ext cx="914400" cy="310896"/>
          </a:xfrm>
          <a:prstGeom prst="roundRect">
            <a:avLst>
              <a:gd name="adj" fmla="val 14706"/>
            </a:avLst>
          </a:prstGeom>
          <a:solidFill>
            <a:srgbClr val="DCE6EB"/>
          </a:solidFill>
          <a:ln/>
        </p:spPr>
      </p:sp>
      <p:sp>
        <p:nvSpPr>
          <p:cNvPr id="23" name="Text 21"/>
          <p:cNvSpPr/>
          <p:nvPr/>
        </p:nvSpPr>
        <p:spPr>
          <a:xfrm>
            <a:off x="640080"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Flow graph</a:t>
            </a:r>
            <a:endParaRPr lang="en-US" sz="850" dirty="0"/>
          </a:p>
        </p:txBody>
      </p:sp>
      <p:sp>
        <p:nvSpPr>
          <p:cNvPr id="24" name="Shape 22"/>
          <p:cNvSpPr/>
          <p:nvPr/>
        </p:nvSpPr>
        <p:spPr>
          <a:xfrm>
            <a:off x="1636776" y="1847088"/>
            <a:ext cx="914400" cy="310896"/>
          </a:xfrm>
          <a:prstGeom prst="roundRect">
            <a:avLst>
              <a:gd name="adj" fmla="val 14706"/>
            </a:avLst>
          </a:prstGeom>
          <a:solidFill>
            <a:srgbClr val="C4622D"/>
          </a:solidFill>
          <a:ln/>
        </p:spPr>
      </p:sp>
      <p:sp>
        <p:nvSpPr>
          <p:cNvPr id="25" name="Text 23"/>
          <p:cNvSpPr/>
          <p:nvPr/>
        </p:nvSpPr>
        <p:spPr>
          <a:xfrm>
            <a:off x="1636776" y="1847088"/>
            <a:ext cx="91440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Optimiser</a:t>
            </a:r>
            <a:endParaRPr lang="en-US" sz="850" dirty="0"/>
          </a:p>
        </p:txBody>
      </p:sp>
      <p:sp>
        <p:nvSpPr>
          <p:cNvPr id="26" name="Shape 24"/>
          <p:cNvSpPr/>
          <p:nvPr/>
        </p:nvSpPr>
        <p:spPr>
          <a:xfrm>
            <a:off x="2633472" y="1847088"/>
            <a:ext cx="914400" cy="310896"/>
          </a:xfrm>
          <a:prstGeom prst="roundRect">
            <a:avLst>
              <a:gd name="adj" fmla="val 14706"/>
            </a:avLst>
          </a:prstGeom>
          <a:solidFill>
            <a:srgbClr val="DCE6EB"/>
          </a:solidFill>
          <a:ln/>
        </p:spPr>
      </p:sp>
      <p:sp>
        <p:nvSpPr>
          <p:cNvPr id="27" name="Text 25"/>
          <p:cNvSpPr/>
          <p:nvPr/>
        </p:nvSpPr>
        <p:spPr>
          <a:xfrm>
            <a:off x="2633472"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Data flow</a:t>
            </a:r>
            <a:endParaRPr lang="en-US" sz="850" dirty="0"/>
          </a:p>
        </p:txBody>
      </p:sp>
      <p:sp>
        <p:nvSpPr>
          <p:cNvPr id="28" name="Shape 26"/>
          <p:cNvSpPr/>
          <p:nvPr/>
        </p:nvSpPr>
        <p:spPr>
          <a:xfrm>
            <a:off x="3630168" y="1847088"/>
            <a:ext cx="914400" cy="310896"/>
          </a:xfrm>
          <a:prstGeom prst="roundRect">
            <a:avLst>
              <a:gd name="adj" fmla="val 14706"/>
            </a:avLst>
          </a:prstGeom>
          <a:solidFill>
            <a:srgbClr val="DCE6EB"/>
          </a:solidFill>
          <a:ln/>
        </p:spPr>
      </p:sp>
      <p:sp>
        <p:nvSpPr>
          <p:cNvPr id="29" name="Text 27"/>
          <p:cNvSpPr/>
          <p:nvPr/>
        </p:nvSpPr>
        <p:spPr>
          <a:xfrm>
            <a:off x="3630168"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Target</a:t>
            </a:r>
            <a:endParaRPr lang="en-US" sz="850" dirty="0"/>
          </a:p>
        </p:txBody>
      </p:sp>
      <p:sp>
        <p:nvSpPr>
          <p:cNvPr id="30" name="Shape 28"/>
          <p:cNvSpPr/>
          <p:nvPr/>
        </p:nvSpPr>
        <p:spPr>
          <a:xfrm>
            <a:off x="4626864" y="1847088"/>
            <a:ext cx="914400" cy="310896"/>
          </a:xfrm>
          <a:prstGeom prst="roundRect">
            <a:avLst>
              <a:gd name="adj" fmla="val 14706"/>
            </a:avLst>
          </a:prstGeom>
          <a:solidFill>
            <a:srgbClr val="DCE6EB"/>
          </a:solidFill>
          <a:ln/>
        </p:spPr>
      </p:sp>
      <p:sp>
        <p:nvSpPr>
          <p:cNvPr id="31" name="Text 29"/>
          <p:cNvSpPr/>
          <p:nvPr/>
        </p:nvSpPr>
        <p:spPr>
          <a:xfrm>
            <a:off x="4626864"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SSA</a:t>
            </a:r>
            <a:endParaRPr lang="en-US" sz="850" dirty="0"/>
          </a:p>
        </p:txBody>
      </p:sp>
      <p:sp>
        <p:nvSpPr>
          <p:cNvPr id="32" name="Shape 30"/>
          <p:cNvSpPr/>
          <p:nvPr/>
        </p:nvSpPr>
        <p:spPr>
          <a:xfrm>
            <a:off x="5623560" y="1847088"/>
            <a:ext cx="914400" cy="310896"/>
          </a:xfrm>
          <a:prstGeom prst="roundRect">
            <a:avLst>
              <a:gd name="adj" fmla="val 14706"/>
            </a:avLst>
          </a:prstGeom>
          <a:solidFill>
            <a:srgbClr val="DCE6EB"/>
          </a:solidFill>
          <a:ln/>
        </p:spPr>
      </p:sp>
      <p:sp>
        <p:nvSpPr>
          <p:cNvPr id="33" name="Text 31"/>
          <p:cNvSpPr/>
          <p:nvPr/>
        </p:nvSpPr>
        <p:spPr>
          <a:xfrm>
            <a:off x="5623560"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Bytecode</a:t>
            </a:r>
            <a:endParaRPr lang="en-US" sz="850" dirty="0"/>
          </a:p>
        </p:txBody>
      </p:sp>
      <p:sp>
        <p:nvSpPr>
          <p:cNvPr id="34" name="Shape 32"/>
          <p:cNvSpPr/>
          <p:nvPr/>
        </p:nvSpPr>
        <p:spPr>
          <a:xfrm>
            <a:off x="6620256" y="1847088"/>
            <a:ext cx="914400" cy="310896"/>
          </a:xfrm>
          <a:prstGeom prst="roundRect">
            <a:avLst>
              <a:gd name="adj" fmla="val 14706"/>
            </a:avLst>
          </a:prstGeom>
          <a:solidFill>
            <a:srgbClr val="DCE6EB"/>
          </a:solidFill>
          <a:ln/>
        </p:spPr>
      </p:sp>
      <p:sp>
        <p:nvSpPr>
          <p:cNvPr id="35" name="Text 33"/>
          <p:cNvSpPr/>
          <p:nvPr/>
        </p:nvSpPr>
        <p:spPr>
          <a:xfrm>
            <a:off x="6620256"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Verifier</a:t>
            </a:r>
            <a:endParaRPr lang="en-US" sz="850" dirty="0"/>
          </a:p>
        </p:txBody>
      </p:sp>
      <p:sp>
        <p:nvSpPr>
          <p:cNvPr id="36" name="Shape 34"/>
          <p:cNvSpPr/>
          <p:nvPr/>
        </p:nvSpPr>
        <p:spPr>
          <a:xfrm>
            <a:off x="7616952" y="1847088"/>
            <a:ext cx="914400" cy="310896"/>
          </a:xfrm>
          <a:prstGeom prst="roundRect">
            <a:avLst>
              <a:gd name="adj" fmla="val 14706"/>
            </a:avLst>
          </a:prstGeom>
          <a:solidFill>
            <a:srgbClr val="DCE6EB"/>
          </a:solidFill>
          <a:ln/>
        </p:spPr>
      </p:sp>
      <p:sp>
        <p:nvSpPr>
          <p:cNvPr id="37" name="Text 35"/>
          <p:cNvSpPr/>
          <p:nvPr/>
        </p:nvSpPr>
        <p:spPr>
          <a:xfrm>
            <a:off x="7616952" y="1847088"/>
            <a:ext cx="914400" cy="310896"/>
          </a:xfrm>
          <a:prstGeom prst="rect">
            <a:avLst/>
          </a:prstGeom>
          <a:noFill/>
          <a:ln/>
        </p:spPr>
        <p:txBody>
          <a:bodyPr wrap="square" lIns="0" tIns="0" rIns="0" bIns="0" rtlCol="0" anchor="ctr"/>
          <a:lstStyle/>
          <a:p>
            <a:pPr algn="ctr" indent="0" marL="0">
              <a:buNone/>
            </a:pPr>
            <a:r>
              <a:rPr lang="en-US" sz="850" dirty="0">
                <a:solidFill>
                  <a:srgbClr val="5D6B7A"/>
                </a:solidFill>
                <a:latin typeface="Calibri" pitchFamily="34" charset="0"/>
                <a:ea typeface="Calibri" pitchFamily="34" charset="-122"/>
                <a:cs typeface="Calibri" pitchFamily="34" charset="-120"/>
              </a:rPr>
              <a:t>Run</a:t>
            </a:r>
            <a:endParaRPr lang="en-US" sz="850" dirty="0"/>
          </a:p>
        </p:txBody>
      </p:sp>
      <p:sp>
        <p:nvSpPr>
          <p:cNvPr id="38" name="Shape 36"/>
          <p:cNvSpPr/>
          <p:nvPr/>
        </p:nvSpPr>
        <p:spPr>
          <a:xfrm>
            <a:off x="640080" y="2286000"/>
            <a:ext cx="7863840" cy="2011680"/>
          </a:xfrm>
          <a:prstGeom prst="roundRect">
            <a:avLst>
              <a:gd name="adj" fmla="val 3636"/>
            </a:avLst>
          </a:prstGeom>
          <a:solidFill>
            <a:srgbClr val="0F2233"/>
          </a:solidFill>
          <a:ln/>
        </p:spPr>
      </p:sp>
      <p:sp>
        <p:nvSpPr>
          <p:cNvPr id="39" name="Text 37"/>
          <p:cNvSpPr/>
          <p:nvPr/>
        </p:nvSpPr>
        <p:spPr>
          <a:xfrm>
            <a:off x="786384" y="2359152"/>
            <a:ext cx="757123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OPTIMISER TAB - WHAT YOU ACTUALLY SEE</a:t>
            </a:r>
            <a:endParaRPr lang="en-US" sz="950" dirty="0"/>
          </a:p>
        </p:txBody>
      </p:sp>
      <p:sp>
        <p:nvSpPr>
          <p:cNvPr id="40" name="Text 38"/>
          <p:cNvSpPr/>
          <p:nvPr/>
        </p:nvSpPr>
        <p:spPr>
          <a:xfrm>
            <a:off x="786384" y="2596896"/>
            <a:ext cx="7571232" cy="1591056"/>
          </a:xfrm>
          <a:prstGeom prst="rect">
            <a:avLst/>
          </a:prstGeom>
          <a:noFill/>
          <a:ln/>
        </p:spPr>
        <p:txBody>
          <a:bodyPr wrap="square" lIns="0" tIns="0" rIns="0" bIns="0" rtlCol="0" anchor="t"/>
          <a:lstStyle/>
          <a:p>
            <a:pPr indent="0" marL="0">
              <a:lnSpc>
                <a:spcPts val="1215"/>
              </a:lnSpc>
              <a:buNone/>
            </a:pPr>
            <a:r>
              <a:rPr lang="en-US" sz="900" dirty="0">
                <a:solidFill>
                  <a:srgbClr val="DCE7EE"/>
                </a:solidFill>
                <a:latin typeface="Courier New" pitchFamily="34" charset="0"/>
                <a:ea typeface="Courier New" pitchFamily="34" charset="-122"/>
                <a:cs typeface="Courier New" pitchFamily="34" charset="-120"/>
              </a:rPr>
              <a:t>pass                              before  after  removed  what it did</a:t>
            </a:r>
            <a:endParaRPr lang="en-US" sz="900" dirty="0"/>
          </a:p>
          <a:p>
            <a:pPr indent="0" marL="0">
              <a:lnSpc>
                <a:spcPts val="1215"/>
              </a:lnSpc>
              <a:buNone/>
            </a:pPr>
            <a:r>
              <a:rPr lang="en-US" sz="900" dirty="0">
                <a:solidFill>
                  <a:srgbClr val="DCE7EE"/>
                </a:solidFill>
                <a:latin typeface="Courier New" pitchFamily="34" charset="0"/>
                <a:ea typeface="Courier New" pitchFamily="34" charset="-122"/>
                <a:cs typeface="Courier New" pitchFamily="34" charset="-120"/>
              </a:rPr>
              <a:t>Local value numbering / DAG           20     20        0  1 sub-expression reused, 1 constant folded</a:t>
            </a:r>
            <a:endParaRPr lang="en-US" sz="900" dirty="0"/>
          </a:p>
          <a:p>
            <a:pPr indent="0" marL="0">
              <a:lnSpc>
                <a:spcPts val="1215"/>
              </a:lnSpc>
              <a:buNone/>
            </a:pPr>
            <a:r>
              <a:rPr lang="en-US" sz="900" dirty="0">
                <a:solidFill>
                  <a:srgbClr val="DCE7EE"/>
                </a:solidFill>
                <a:latin typeface="Courier New" pitchFamily="34" charset="0"/>
                <a:ea typeface="Courier New" pitchFamily="34" charset="-122"/>
                <a:cs typeface="Courier New" pitchFamily="34" charset="-120"/>
              </a:rPr>
              <a:t>Loop-invariant code motion            20     20        0  hoisted 'area = width * height' out of B1</a:t>
            </a:r>
            <a:endParaRPr lang="en-US" sz="900" dirty="0"/>
          </a:p>
          <a:p>
            <a:pPr indent="0" marL="0">
              <a:lnSpc>
                <a:spcPts val="1215"/>
              </a:lnSpc>
              <a:buNone/>
            </a:pPr>
            <a:r>
              <a:rPr lang="en-US" sz="900" dirty="0">
                <a:solidFill>
                  <a:srgbClr val="DCE7EE"/>
                </a:solidFill>
                <a:latin typeface="Courier New" pitchFamily="34" charset="0"/>
                <a:ea typeface="Courier New" pitchFamily="34" charset="-122"/>
                <a:cs typeface="Courier New" pitchFamily="34" charset="-120"/>
              </a:rPr>
              <a:t>Strength reduction                    20     21       -1  'scaled = i * 8' -&gt; an addition of 8 per pass</a:t>
            </a:r>
            <a:endParaRPr lang="en-US" sz="900" dirty="0"/>
          </a:p>
          <a:p>
            <a:pPr indent="0" marL="0">
              <a:lnSpc>
                <a:spcPts val="1215"/>
              </a:lnSpc>
              <a:buNone/>
            </a:pPr>
            <a:r>
              <a:rPr lang="en-US" sz="900" dirty="0">
                <a:solidFill>
                  <a:srgbClr val="DCE7EE"/>
                </a:solidFill>
                <a:latin typeface="Courier New" pitchFamily="34" charset="0"/>
                <a:ea typeface="Courier New" pitchFamily="34" charset="-122"/>
                <a:cs typeface="Courier New" pitchFamily="34" charset="-120"/>
              </a:rPr>
              <a:t>Dead-code elimination                 21     18        3  results nobody ever reads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A9B8C2"/>
                </a:solidFill>
                <a:latin typeface="Calibri" pitchFamily="34" charset="0"/>
                <a:ea typeface="Calibri" pitchFamily="34" charset="-122"/>
                <a:cs typeface="Calibri" pitchFamily="34" charset="-120"/>
              </a:rPr>
              <a:t>19</a:t>
            </a:r>
            <a:endParaRPr lang="en-US" sz="900" dirty="0"/>
          </a:p>
        </p:txBody>
      </p:sp>
      <p:sp>
        <p:nvSpPr>
          <p:cNvPr id="3" name="Text 1"/>
          <p:cNvSpPr/>
          <p:nvPr/>
        </p:nvSpPr>
        <p:spPr>
          <a:xfrm>
            <a:off x="502920" y="274320"/>
            <a:ext cx="8183880" cy="548640"/>
          </a:xfrm>
          <a:prstGeom prst="rect">
            <a:avLst/>
          </a:prstGeom>
          <a:noFill/>
          <a:ln/>
        </p:spPr>
        <p:txBody>
          <a:bodyPr wrap="square" lIns="0" tIns="0" rIns="0" bIns="0" rtlCol="0" anchor="ctr"/>
          <a:lstStyle/>
          <a:p>
            <a:pPr indent="0" marL="0">
              <a:buNone/>
            </a:pPr>
            <a:r>
              <a:rPr lang="en-US" sz="3000" b="1" dirty="0">
                <a:solidFill>
                  <a:srgbClr val="0F2233"/>
                </a:solidFill>
                <a:latin typeface="Cambria" pitchFamily="34" charset="0"/>
                <a:ea typeface="Cambria" pitchFamily="34" charset="-122"/>
                <a:cs typeface="Cambria" pitchFamily="34" charset="-120"/>
              </a:rPr>
              <a:t>Every module of the syllabus, in working code</a:t>
            </a:r>
            <a:endParaRPr lang="en-US" sz="3000" dirty="0"/>
          </a:p>
        </p:txBody>
      </p:sp>
      <p:sp>
        <p:nvSpPr>
          <p:cNvPr id="4" name="Shape 2"/>
          <p:cNvSpPr/>
          <p:nvPr/>
        </p:nvSpPr>
        <p:spPr>
          <a:xfrm>
            <a:off x="502920" y="1207008"/>
            <a:ext cx="8138160" cy="365760"/>
          </a:xfrm>
          <a:prstGeom prst="roundRect">
            <a:avLst>
              <a:gd name="adj" fmla="val 12500"/>
            </a:avLst>
          </a:prstGeom>
          <a:solidFill>
            <a:srgbClr val="EEF3F6"/>
          </a:solidFill>
          <a:ln/>
        </p:spPr>
      </p:sp>
      <p:sp>
        <p:nvSpPr>
          <p:cNvPr id="5" name="Shape 3"/>
          <p:cNvSpPr/>
          <p:nvPr/>
        </p:nvSpPr>
        <p:spPr>
          <a:xfrm>
            <a:off x="621792" y="1280160"/>
            <a:ext cx="219456" cy="219456"/>
          </a:xfrm>
          <a:prstGeom prst="ellipse">
            <a:avLst/>
          </a:prstGeom>
          <a:solidFill>
            <a:srgbClr val="C4622D"/>
          </a:solidFill>
          <a:ln/>
        </p:spPr>
      </p:sp>
      <p:sp>
        <p:nvSpPr>
          <p:cNvPr id="6" name="Text 4"/>
          <p:cNvSpPr/>
          <p:nvPr/>
        </p:nvSpPr>
        <p:spPr>
          <a:xfrm>
            <a:off x="621792" y="128016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1</a:t>
            </a:r>
            <a:endParaRPr lang="en-US" sz="900" dirty="0"/>
          </a:p>
        </p:txBody>
      </p:sp>
      <p:sp>
        <p:nvSpPr>
          <p:cNvPr id="7" name="Text 5"/>
          <p:cNvSpPr/>
          <p:nvPr/>
        </p:nvSpPr>
        <p:spPr>
          <a:xfrm>
            <a:off x="960120" y="1207008"/>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Lexical analysis</a:t>
            </a:r>
            <a:endParaRPr lang="en-US" sz="1150" dirty="0"/>
          </a:p>
        </p:txBody>
      </p:sp>
      <p:sp>
        <p:nvSpPr>
          <p:cNvPr id="8" name="Text 6"/>
          <p:cNvSpPr/>
          <p:nvPr/>
        </p:nvSpPr>
        <p:spPr>
          <a:xfrm>
            <a:off x="3017520" y="1207008"/>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regex -&gt; DFA by the direct method, minimisation, LLVM IR</a:t>
            </a:r>
            <a:endParaRPr lang="en-US" sz="1050" dirty="0"/>
          </a:p>
        </p:txBody>
      </p:sp>
      <p:sp>
        <p:nvSpPr>
          <p:cNvPr id="9" name="Shape 7"/>
          <p:cNvSpPr/>
          <p:nvPr/>
        </p:nvSpPr>
        <p:spPr>
          <a:xfrm>
            <a:off x="502920" y="1636776"/>
            <a:ext cx="8138160" cy="365760"/>
          </a:xfrm>
          <a:prstGeom prst="roundRect">
            <a:avLst>
              <a:gd name="adj" fmla="val 12500"/>
            </a:avLst>
          </a:prstGeom>
          <a:solidFill>
            <a:srgbClr val="FFFFFF"/>
          </a:solidFill>
          <a:ln/>
        </p:spPr>
      </p:sp>
      <p:sp>
        <p:nvSpPr>
          <p:cNvPr id="10" name="Shape 8"/>
          <p:cNvSpPr/>
          <p:nvPr/>
        </p:nvSpPr>
        <p:spPr>
          <a:xfrm>
            <a:off x="621792" y="1709928"/>
            <a:ext cx="219456" cy="219456"/>
          </a:xfrm>
          <a:prstGeom prst="ellipse">
            <a:avLst/>
          </a:prstGeom>
          <a:solidFill>
            <a:srgbClr val="C4622D"/>
          </a:solidFill>
          <a:ln/>
        </p:spPr>
      </p:sp>
      <p:sp>
        <p:nvSpPr>
          <p:cNvPr id="11" name="Text 9"/>
          <p:cNvSpPr/>
          <p:nvPr/>
        </p:nvSpPr>
        <p:spPr>
          <a:xfrm>
            <a:off x="621792" y="170992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2</a:t>
            </a:r>
            <a:endParaRPr lang="en-US" sz="900" dirty="0"/>
          </a:p>
        </p:txBody>
      </p:sp>
      <p:sp>
        <p:nvSpPr>
          <p:cNvPr id="12" name="Text 10"/>
          <p:cNvSpPr/>
          <p:nvPr/>
        </p:nvSpPr>
        <p:spPr>
          <a:xfrm>
            <a:off x="960120" y="1636776"/>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Syntax analysis</a:t>
            </a:r>
            <a:endParaRPr lang="en-US" sz="1150" dirty="0"/>
          </a:p>
        </p:txBody>
      </p:sp>
      <p:sp>
        <p:nvSpPr>
          <p:cNvPr id="13" name="Text 11"/>
          <p:cNvSpPr/>
          <p:nvPr/>
        </p:nvSpPr>
        <p:spPr>
          <a:xfrm>
            <a:off x="3017520" y="1636776"/>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ambiguity, recursive descent, LL(1), SLR, CLR, LALR</a:t>
            </a:r>
            <a:endParaRPr lang="en-US" sz="1050" dirty="0"/>
          </a:p>
        </p:txBody>
      </p:sp>
      <p:sp>
        <p:nvSpPr>
          <p:cNvPr id="14" name="Shape 12"/>
          <p:cNvSpPr/>
          <p:nvPr/>
        </p:nvSpPr>
        <p:spPr>
          <a:xfrm>
            <a:off x="502920" y="2066544"/>
            <a:ext cx="8138160" cy="365760"/>
          </a:xfrm>
          <a:prstGeom prst="roundRect">
            <a:avLst>
              <a:gd name="adj" fmla="val 12500"/>
            </a:avLst>
          </a:prstGeom>
          <a:solidFill>
            <a:srgbClr val="EEF3F6"/>
          </a:solidFill>
          <a:ln/>
        </p:spPr>
      </p:sp>
      <p:sp>
        <p:nvSpPr>
          <p:cNvPr id="15" name="Shape 13"/>
          <p:cNvSpPr/>
          <p:nvPr/>
        </p:nvSpPr>
        <p:spPr>
          <a:xfrm>
            <a:off x="621792" y="2139696"/>
            <a:ext cx="219456" cy="219456"/>
          </a:xfrm>
          <a:prstGeom prst="ellipse">
            <a:avLst/>
          </a:prstGeom>
          <a:solidFill>
            <a:srgbClr val="C4622D"/>
          </a:solidFill>
          <a:ln/>
        </p:spPr>
      </p:sp>
      <p:sp>
        <p:nvSpPr>
          <p:cNvPr id="16" name="Text 14"/>
          <p:cNvSpPr/>
          <p:nvPr/>
        </p:nvSpPr>
        <p:spPr>
          <a:xfrm>
            <a:off x="621792" y="21396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3</a:t>
            </a:r>
            <a:endParaRPr lang="en-US" sz="900" dirty="0"/>
          </a:p>
        </p:txBody>
      </p:sp>
      <p:sp>
        <p:nvSpPr>
          <p:cNvPr id="17" name="Text 15"/>
          <p:cNvSpPr/>
          <p:nvPr/>
        </p:nvSpPr>
        <p:spPr>
          <a:xfrm>
            <a:off x="960120" y="2066544"/>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Semantic analysis</a:t>
            </a:r>
            <a:endParaRPr lang="en-US" sz="1150" dirty="0"/>
          </a:p>
        </p:txBody>
      </p:sp>
      <p:sp>
        <p:nvSpPr>
          <p:cNvPr id="18" name="Text 16"/>
          <p:cNvSpPr/>
          <p:nvPr/>
        </p:nvSpPr>
        <p:spPr>
          <a:xfrm>
            <a:off x="3017520" y="2066544"/>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symbol table, type checking as an L-attributed SDD</a:t>
            </a:r>
            <a:endParaRPr lang="en-US" sz="1050" dirty="0"/>
          </a:p>
        </p:txBody>
      </p:sp>
      <p:sp>
        <p:nvSpPr>
          <p:cNvPr id="19" name="Shape 17"/>
          <p:cNvSpPr/>
          <p:nvPr/>
        </p:nvSpPr>
        <p:spPr>
          <a:xfrm>
            <a:off x="502920" y="2496312"/>
            <a:ext cx="8138160" cy="365760"/>
          </a:xfrm>
          <a:prstGeom prst="roundRect">
            <a:avLst>
              <a:gd name="adj" fmla="val 12500"/>
            </a:avLst>
          </a:prstGeom>
          <a:solidFill>
            <a:srgbClr val="FFFFFF"/>
          </a:solidFill>
          <a:ln/>
        </p:spPr>
      </p:sp>
      <p:sp>
        <p:nvSpPr>
          <p:cNvPr id="20" name="Shape 18"/>
          <p:cNvSpPr/>
          <p:nvPr/>
        </p:nvSpPr>
        <p:spPr>
          <a:xfrm>
            <a:off x="621792" y="2569464"/>
            <a:ext cx="219456" cy="219456"/>
          </a:xfrm>
          <a:prstGeom prst="ellipse">
            <a:avLst/>
          </a:prstGeom>
          <a:solidFill>
            <a:srgbClr val="C4622D"/>
          </a:solidFill>
          <a:ln/>
        </p:spPr>
      </p:sp>
      <p:sp>
        <p:nvSpPr>
          <p:cNvPr id="21" name="Text 19"/>
          <p:cNvSpPr/>
          <p:nvPr/>
        </p:nvSpPr>
        <p:spPr>
          <a:xfrm>
            <a:off x="621792" y="256946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4</a:t>
            </a:r>
            <a:endParaRPr lang="en-US" sz="900" dirty="0"/>
          </a:p>
        </p:txBody>
      </p:sp>
      <p:sp>
        <p:nvSpPr>
          <p:cNvPr id="22" name="Text 20"/>
          <p:cNvSpPr/>
          <p:nvPr/>
        </p:nvSpPr>
        <p:spPr>
          <a:xfrm>
            <a:off x="960120" y="2496312"/>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Intermediate code</a:t>
            </a:r>
            <a:endParaRPr lang="en-US" sz="1150" dirty="0"/>
          </a:p>
        </p:txBody>
      </p:sp>
      <p:sp>
        <p:nvSpPr>
          <p:cNvPr id="23" name="Text 21"/>
          <p:cNvSpPr/>
          <p:nvPr/>
        </p:nvSpPr>
        <p:spPr>
          <a:xfrm>
            <a:off x="3017520" y="2496312"/>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three-address code, backpatching, jump tables</a:t>
            </a:r>
            <a:endParaRPr lang="en-US" sz="1050" dirty="0"/>
          </a:p>
        </p:txBody>
      </p:sp>
      <p:sp>
        <p:nvSpPr>
          <p:cNvPr id="24" name="Shape 22"/>
          <p:cNvSpPr/>
          <p:nvPr/>
        </p:nvSpPr>
        <p:spPr>
          <a:xfrm>
            <a:off x="502920" y="2926080"/>
            <a:ext cx="8138160" cy="365760"/>
          </a:xfrm>
          <a:prstGeom prst="roundRect">
            <a:avLst>
              <a:gd name="adj" fmla="val 12500"/>
            </a:avLst>
          </a:prstGeom>
          <a:solidFill>
            <a:srgbClr val="EEF3F6"/>
          </a:solidFill>
          <a:ln/>
        </p:spPr>
      </p:sp>
      <p:sp>
        <p:nvSpPr>
          <p:cNvPr id="25" name="Shape 23"/>
          <p:cNvSpPr/>
          <p:nvPr/>
        </p:nvSpPr>
        <p:spPr>
          <a:xfrm>
            <a:off x="621792" y="2999232"/>
            <a:ext cx="219456" cy="219456"/>
          </a:xfrm>
          <a:prstGeom prst="ellipse">
            <a:avLst/>
          </a:prstGeom>
          <a:solidFill>
            <a:srgbClr val="C4622D"/>
          </a:solidFill>
          <a:ln/>
        </p:spPr>
      </p:sp>
      <p:sp>
        <p:nvSpPr>
          <p:cNvPr id="26" name="Text 24"/>
          <p:cNvSpPr/>
          <p:nvPr/>
        </p:nvSpPr>
        <p:spPr>
          <a:xfrm>
            <a:off x="621792" y="299923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5</a:t>
            </a:r>
            <a:endParaRPr lang="en-US" sz="900" dirty="0"/>
          </a:p>
        </p:txBody>
      </p:sp>
      <p:sp>
        <p:nvSpPr>
          <p:cNvPr id="27" name="Text 25"/>
          <p:cNvSpPr/>
          <p:nvPr/>
        </p:nvSpPr>
        <p:spPr>
          <a:xfrm>
            <a:off x="960120" y="2926080"/>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Optimisation</a:t>
            </a:r>
            <a:endParaRPr lang="en-US" sz="1150" dirty="0"/>
          </a:p>
        </p:txBody>
      </p:sp>
      <p:sp>
        <p:nvSpPr>
          <p:cNvPr id="28" name="Text 26"/>
          <p:cNvSpPr/>
          <p:nvPr/>
        </p:nvSpPr>
        <p:spPr>
          <a:xfrm>
            <a:off x="3017520" y="2926080"/>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blocks, DAG, 4 data-flow analyses, 8 passes, peephole</a:t>
            </a:r>
            <a:endParaRPr lang="en-US" sz="1050" dirty="0"/>
          </a:p>
        </p:txBody>
      </p:sp>
      <p:sp>
        <p:nvSpPr>
          <p:cNvPr id="29" name="Shape 27"/>
          <p:cNvSpPr/>
          <p:nvPr/>
        </p:nvSpPr>
        <p:spPr>
          <a:xfrm>
            <a:off x="502920" y="3355848"/>
            <a:ext cx="8138160" cy="365760"/>
          </a:xfrm>
          <a:prstGeom prst="roundRect">
            <a:avLst>
              <a:gd name="adj" fmla="val 12500"/>
            </a:avLst>
          </a:prstGeom>
          <a:solidFill>
            <a:srgbClr val="FFFFFF"/>
          </a:solidFill>
          <a:ln/>
        </p:spPr>
      </p:sp>
      <p:sp>
        <p:nvSpPr>
          <p:cNvPr id="30" name="Shape 28"/>
          <p:cNvSpPr/>
          <p:nvPr/>
        </p:nvSpPr>
        <p:spPr>
          <a:xfrm>
            <a:off x="621792" y="3429000"/>
            <a:ext cx="219456" cy="219456"/>
          </a:xfrm>
          <a:prstGeom prst="ellipse">
            <a:avLst/>
          </a:prstGeom>
          <a:solidFill>
            <a:srgbClr val="C4622D"/>
          </a:solidFill>
          <a:ln/>
        </p:spPr>
      </p:sp>
      <p:sp>
        <p:nvSpPr>
          <p:cNvPr id="31" name="Text 29"/>
          <p:cNvSpPr/>
          <p:nvPr/>
        </p:nvSpPr>
        <p:spPr>
          <a:xfrm>
            <a:off x="621792" y="3429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6</a:t>
            </a:r>
            <a:endParaRPr lang="en-US" sz="900" dirty="0"/>
          </a:p>
        </p:txBody>
      </p:sp>
      <p:sp>
        <p:nvSpPr>
          <p:cNvPr id="32" name="Text 30"/>
          <p:cNvSpPr/>
          <p:nvPr/>
        </p:nvSpPr>
        <p:spPr>
          <a:xfrm>
            <a:off x="960120" y="3355848"/>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Code generation</a:t>
            </a:r>
            <a:endParaRPr lang="en-US" sz="1150" dirty="0"/>
          </a:p>
        </p:txBody>
      </p:sp>
      <p:sp>
        <p:nvSpPr>
          <p:cNvPr id="33" name="Text 31"/>
          <p:cNvSpPr/>
          <p:nvPr/>
        </p:nvSpPr>
        <p:spPr>
          <a:xfrm>
            <a:off x="3017520" y="3355848"/>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next use, register allocation, activation records</a:t>
            </a:r>
            <a:endParaRPr lang="en-US" sz="1050" dirty="0"/>
          </a:p>
        </p:txBody>
      </p:sp>
      <p:sp>
        <p:nvSpPr>
          <p:cNvPr id="34" name="Shape 32"/>
          <p:cNvSpPr/>
          <p:nvPr/>
        </p:nvSpPr>
        <p:spPr>
          <a:xfrm>
            <a:off x="502920" y="3785616"/>
            <a:ext cx="8138160" cy="365760"/>
          </a:xfrm>
          <a:prstGeom prst="roundRect">
            <a:avLst>
              <a:gd name="adj" fmla="val 12500"/>
            </a:avLst>
          </a:prstGeom>
          <a:solidFill>
            <a:srgbClr val="EEF3F6"/>
          </a:solidFill>
          <a:ln/>
        </p:spPr>
      </p:sp>
      <p:sp>
        <p:nvSpPr>
          <p:cNvPr id="35" name="Shape 33"/>
          <p:cNvSpPr/>
          <p:nvPr/>
        </p:nvSpPr>
        <p:spPr>
          <a:xfrm>
            <a:off x="621792" y="3858768"/>
            <a:ext cx="219456" cy="219456"/>
          </a:xfrm>
          <a:prstGeom prst="ellipse">
            <a:avLst/>
          </a:prstGeom>
          <a:solidFill>
            <a:srgbClr val="C4622D"/>
          </a:solidFill>
          <a:ln/>
        </p:spPr>
      </p:sp>
      <p:sp>
        <p:nvSpPr>
          <p:cNvPr id="36" name="Text 34"/>
          <p:cNvSpPr/>
          <p:nvPr/>
        </p:nvSpPr>
        <p:spPr>
          <a:xfrm>
            <a:off x="621792" y="385876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7</a:t>
            </a:r>
            <a:endParaRPr lang="en-US" sz="900" dirty="0"/>
          </a:p>
        </p:txBody>
      </p:sp>
      <p:sp>
        <p:nvSpPr>
          <p:cNvPr id="37" name="Text 35"/>
          <p:cNvSpPr/>
          <p:nvPr/>
        </p:nvSpPr>
        <p:spPr>
          <a:xfrm>
            <a:off x="960120" y="3785616"/>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Parallelism, SSA</a:t>
            </a:r>
            <a:endParaRPr lang="en-US" sz="1150" dirty="0"/>
          </a:p>
        </p:txBody>
      </p:sp>
      <p:sp>
        <p:nvSpPr>
          <p:cNvPr id="38" name="Text 36"/>
          <p:cNvSpPr/>
          <p:nvPr/>
        </p:nvSpPr>
        <p:spPr>
          <a:xfrm>
            <a:off x="3017520" y="3785616"/>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phi insertion, dominance frontiers, dependence tests</a:t>
            </a:r>
            <a:endParaRPr lang="en-US" sz="1050" dirty="0"/>
          </a:p>
        </p:txBody>
      </p:sp>
      <p:sp>
        <p:nvSpPr>
          <p:cNvPr id="39" name="Shape 37"/>
          <p:cNvSpPr/>
          <p:nvPr/>
        </p:nvSpPr>
        <p:spPr>
          <a:xfrm>
            <a:off x="502920" y="4215384"/>
            <a:ext cx="8138160" cy="365760"/>
          </a:xfrm>
          <a:prstGeom prst="roundRect">
            <a:avLst>
              <a:gd name="adj" fmla="val 12500"/>
            </a:avLst>
          </a:prstGeom>
          <a:solidFill>
            <a:srgbClr val="FFFFFF"/>
          </a:solidFill>
          <a:ln/>
        </p:spPr>
      </p:sp>
      <p:sp>
        <p:nvSpPr>
          <p:cNvPr id="40" name="Shape 38"/>
          <p:cNvSpPr/>
          <p:nvPr/>
        </p:nvSpPr>
        <p:spPr>
          <a:xfrm>
            <a:off x="621792" y="4288536"/>
            <a:ext cx="219456" cy="219456"/>
          </a:xfrm>
          <a:prstGeom prst="ellipse">
            <a:avLst/>
          </a:prstGeom>
          <a:solidFill>
            <a:srgbClr val="C4622D"/>
          </a:solidFill>
          <a:ln/>
        </p:spPr>
      </p:sp>
      <p:sp>
        <p:nvSpPr>
          <p:cNvPr id="41" name="Text 39"/>
          <p:cNvSpPr/>
          <p:nvPr/>
        </p:nvSpPr>
        <p:spPr>
          <a:xfrm>
            <a:off x="621792" y="428853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8</a:t>
            </a:r>
            <a:endParaRPr lang="en-US" sz="900" dirty="0"/>
          </a:p>
        </p:txBody>
      </p:sp>
      <p:sp>
        <p:nvSpPr>
          <p:cNvPr id="42" name="Text 40"/>
          <p:cNvSpPr/>
          <p:nvPr/>
        </p:nvSpPr>
        <p:spPr>
          <a:xfrm>
            <a:off x="960120" y="4215384"/>
            <a:ext cx="2011680" cy="365760"/>
          </a:xfrm>
          <a:prstGeom prst="rect">
            <a:avLst/>
          </a:prstGeom>
          <a:noFill/>
          <a:ln/>
        </p:spPr>
        <p:txBody>
          <a:bodyPr wrap="square" lIns="0" tIns="0" rIns="0" bIns="0" rtlCol="0" anchor="ctr"/>
          <a:lstStyle/>
          <a:p>
            <a:pPr indent="0" marL="0">
              <a:buNone/>
            </a:pPr>
            <a:r>
              <a:rPr lang="en-US" sz="1150" b="1" dirty="0">
                <a:solidFill>
                  <a:srgbClr val="0F2233"/>
                </a:solidFill>
                <a:latin typeface="Calibri" pitchFamily="34" charset="0"/>
                <a:ea typeface="Calibri" pitchFamily="34" charset="-122"/>
                <a:cs typeface="Calibri" pitchFamily="34" charset="-120"/>
              </a:rPr>
              <a:t>Contemporary</a:t>
            </a:r>
            <a:endParaRPr lang="en-US" sz="1150" dirty="0"/>
          </a:p>
        </p:txBody>
      </p:sp>
      <p:sp>
        <p:nvSpPr>
          <p:cNvPr id="43" name="Text 41"/>
          <p:cNvSpPr/>
          <p:nvPr/>
        </p:nvSpPr>
        <p:spPr>
          <a:xfrm>
            <a:off x="3017520" y="4215384"/>
            <a:ext cx="5486400" cy="365760"/>
          </a:xfrm>
          <a:prstGeom prst="rect">
            <a:avLst/>
          </a:prstGeom>
          <a:noFill/>
          <a:ln/>
        </p:spPr>
        <p:txBody>
          <a:bodyPr wrap="square" lIns="0" tIns="0" rIns="0" bIns="0" rtlCol="0" anchor="ctr"/>
          <a:lstStyle/>
          <a:p>
            <a:pPr indent="0" marL="0">
              <a:buNone/>
            </a:pPr>
            <a:r>
              <a:rPr lang="en-US" sz="1050" dirty="0">
                <a:solidFill>
                  <a:srgbClr val="5D6B7A"/>
                </a:solidFill>
                <a:latin typeface="Calibri" pitchFamily="34" charset="0"/>
                <a:ea typeface="Calibri" pitchFamily="34" charset="-122"/>
                <a:cs typeface="Calibri" pitchFamily="34" charset="-120"/>
              </a:rPr>
              <a:t>bytecode verification and a sandboxed virtual machine</a:t>
            </a:r>
            <a:endParaRPr lang="en-US" sz="1050" dirty="0"/>
          </a:p>
        </p:txBody>
      </p:sp>
      <p:sp>
        <p:nvSpPr>
          <p:cNvPr id="44" name="Text 42"/>
          <p:cNvSpPr/>
          <p:nvPr/>
        </p:nvSpPr>
        <p:spPr>
          <a:xfrm>
            <a:off x="502920" y="4654296"/>
            <a:ext cx="7589520" cy="365760"/>
          </a:xfrm>
          <a:prstGeom prst="rect">
            <a:avLst/>
          </a:prstGeom>
          <a:noFill/>
          <a:ln/>
        </p:spPr>
        <p:txBody>
          <a:bodyPr wrap="square" lIns="0" tIns="0" rIns="0" bIns="0" rtlCol="0" anchor="ctr"/>
          <a:lstStyle/>
          <a:p>
            <a:pPr algn="ctr" indent="0" marL="0">
              <a:buNone/>
            </a:pPr>
            <a:r>
              <a:rPr lang="en-US" sz="950" i="1" dirty="0">
                <a:solidFill>
                  <a:srgbClr val="5D6B7A"/>
                </a:solidFill>
                <a:latin typeface="Calibri" pitchFamily="34" charset="0"/>
                <a:ea typeface="Calibri" pitchFamily="34" charset="-122"/>
                <a:cs typeface="Calibri" pitchFamily="34" charset="-120"/>
              </a:rPr>
              <a:t>The 14 lab exercises are covered too - the lexical simulator, the symbol table, the predictive parser, source to intermediate code, three-address to assembly, common sub-expression and dead-code elimination are each a live tab rather than a separate program.</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8458200" y="4718304"/>
            <a:ext cx="457200" cy="256032"/>
          </a:xfrm>
          <a:prstGeom prst="rect">
            <a:avLst/>
          </a:prstGeom>
          <a:noFill/>
          <a:ln/>
        </p:spPr>
        <p:txBody>
          <a:bodyPr wrap="square" rtlCol="0" anchor="ctr"/>
          <a:lstStyle/>
          <a:p>
            <a:pPr algn="r" indent="0" marL="0">
              <a:buNone/>
            </a:pPr>
            <a:r>
              <a:rPr lang="en-US" sz="900" dirty="0">
                <a:solidFill>
                  <a:srgbClr val="5F7A8C"/>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548640" y="502920"/>
            <a:ext cx="80467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Try it in ten seconds</a:t>
            </a:r>
            <a:endParaRPr lang="en-US" sz="3200" dirty="0"/>
          </a:p>
        </p:txBody>
      </p:sp>
      <p:sp>
        <p:nvSpPr>
          <p:cNvPr id="4" name="Shape 2"/>
          <p:cNvSpPr/>
          <p:nvPr/>
        </p:nvSpPr>
        <p:spPr>
          <a:xfrm>
            <a:off x="548640" y="1234440"/>
            <a:ext cx="4754880" cy="2057400"/>
          </a:xfrm>
          <a:prstGeom prst="roundRect">
            <a:avLst>
              <a:gd name="adj" fmla="val 3556"/>
            </a:avLst>
          </a:prstGeom>
          <a:solidFill>
            <a:srgbClr val="0F2233"/>
          </a:solidFill>
          <a:ln/>
        </p:spPr>
      </p:sp>
      <p:sp>
        <p:nvSpPr>
          <p:cNvPr id="5" name="Text 3"/>
          <p:cNvSpPr/>
          <p:nvPr/>
        </p:nvSpPr>
        <p:spPr>
          <a:xfrm>
            <a:off x="694944" y="1307592"/>
            <a:ext cx="4462272" cy="219456"/>
          </a:xfrm>
          <a:prstGeom prst="rect">
            <a:avLst/>
          </a:prstGeom>
          <a:noFill/>
          <a:ln/>
        </p:spPr>
        <p:txBody>
          <a:bodyPr wrap="square" lIns="0" tIns="0" rIns="0" bIns="0" rtlCol="0" anchor="ctr"/>
          <a:lstStyle/>
          <a:p>
            <a:pPr indent="0" marL="0">
              <a:buNone/>
            </a:pPr>
            <a:r>
              <a:rPr lang="en-US" sz="950" b="1" spc="100" kern="0" dirty="0">
                <a:solidFill>
                  <a:srgbClr val="C4622D"/>
                </a:solidFill>
                <a:latin typeface="Calibri" pitchFamily="34" charset="0"/>
                <a:ea typeface="Calibri" pitchFamily="34" charset="-122"/>
                <a:cs typeface="Calibri" pitchFamily="34" charset="-120"/>
              </a:rPr>
              <a:t>COMMAND LINE</a:t>
            </a:r>
            <a:endParaRPr lang="en-US" sz="950" dirty="0"/>
          </a:p>
        </p:txBody>
      </p:sp>
      <p:sp>
        <p:nvSpPr>
          <p:cNvPr id="6" name="Text 4"/>
          <p:cNvSpPr/>
          <p:nvPr/>
        </p:nvSpPr>
        <p:spPr>
          <a:xfrm>
            <a:off x="694944" y="1545336"/>
            <a:ext cx="4462272" cy="1636776"/>
          </a:xfrm>
          <a:prstGeom prst="rect">
            <a:avLst/>
          </a:prstGeom>
          <a:noFill/>
          <a:ln/>
        </p:spPr>
        <p:txBody>
          <a:bodyPr wrap="square" lIns="0" tIns="0" rIns="0" bIns="0" rtlCol="0" anchor="t"/>
          <a:lstStyle/>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run.bat                            (Windows: just double-click)</a:t>
            </a:r>
            <a:endParaRPr lang="en-US" sz="950" dirty="0"/>
          </a:p>
          <a:p>
            <a:pPr indent="0" marL="0">
              <a:lnSpc>
                <a:spcPts val="1283"/>
              </a:lnSpc>
              <a:buNone/>
            </a:pPr>
            <a:endParaRPr lang="en-US" sz="950" dirty="0"/>
          </a:p>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python -m nova gui   program.nova   the Glass-Box viewer</a:t>
            </a:r>
            <a:endParaRPr lang="en-US" sz="950" dirty="0"/>
          </a:p>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python -m nova run   program.nova   compile, verify, execute</a:t>
            </a:r>
            <a:endParaRPr lang="en-US" sz="950" dirty="0"/>
          </a:p>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python -m nova report program.nova  a full HTML report</a:t>
            </a:r>
            <a:endParaRPr lang="en-US" sz="950" dirty="0"/>
          </a:p>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python -m nova attack               8 attacks vs the verifier</a:t>
            </a:r>
            <a:endParaRPr lang="en-US" sz="950" dirty="0"/>
          </a:p>
          <a:p>
            <a:pPr indent="0" marL="0">
              <a:lnSpc>
                <a:spcPts val="1283"/>
              </a:lnSpc>
              <a:buNone/>
            </a:pPr>
            <a:r>
              <a:rPr lang="en-US" sz="950" dirty="0">
                <a:solidFill>
                  <a:srgbClr val="DCE7EE"/>
                </a:solidFill>
                <a:latin typeface="Courier New" pitchFamily="34" charset="0"/>
                <a:ea typeface="Courier New" pitchFamily="34" charset="-122"/>
                <a:cs typeface="Courier New" pitchFamily="34" charset="-120"/>
              </a:rPr>
              <a:t>python -m nova test                 the 26 self-tests</a:t>
            </a:r>
            <a:endParaRPr lang="en-US" sz="950" dirty="0"/>
          </a:p>
        </p:txBody>
      </p:sp>
      <p:sp>
        <p:nvSpPr>
          <p:cNvPr id="7" name="Shape 5"/>
          <p:cNvSpPr/>
          <p:nvPr/>
        </p:nvSpPr>
        <p:spPr>
          <a:xfrm>
            <a:off x="5577840" y="1234440"/>
            <a:ext cx="3017520" cy="2057400"/>
          </a:xfrm>
          <a:prstGeom prst="roundRect">
            <a:avLst>
              <a:gd name="adj" fmla="val 3556"/>
            </a:avLst>
          </a:prstGeom>
          <a:solidFill>
            <a:srgbClr val="1B3648"/>
          </a:solidFill>
          <a:ln/>
        </p:spPr>
      </p:sp>
      <p:sp>
        <p:nvSpPr>
          <p:cNvPr id="8" name="Text 6"/>
          <p:cNvSpPr/>
          <p:nvPr/>
        </p:nvSpPr>
        <p:spPr>
          <a:xfrm>
            <a:off x="5779008" y="1371600"/>
            <a:ext cx="2651760" cy="274320"/>
          </a:xfrm>
          <a:prstGeom prst="rect">
            <a:avLst/>
          </a:prstGeom>
          <a:noFill/>
          <a:ln/>
        </p:spPr>
        <p:txBody>
          <a:bodyPr wrap="square" lIns="0" tIns="0" rIns="0" bIns="0" rtlCol="0" anchor="ctr"/>
          <a:lstStyle/>
          <a:p>
            <a:pPr indent="0" marL="0">
              <a:buNone/>
            </a:pPr>
            <a:r>
              <a:rPr lang="en-US" sz="1250" b="1" dirty="0">
                <a:solidFill>
                  <a:srgbClr val="C4622D"/>
                </a:solidFill>
                <a:latin typeface="Cambria" pitchFamily="34" charset="0"/>
                <a:ea typeface="Cambria" pitchFamily="34" charset="-122"/>
                <a:cs typeface="Cambria" pitchFamily="34" charset="-120"/>
              </a:rPr>
              <a:t>What we would add next</a:t>
            </a:r>
            <a:endParaRPr lang="en-US" sz="1250" dirty="0"/>
          </a:p>
        </p:txBody>
      </p:sp>
      <p:sp>
        <p:nvSpPr>
          <p:cNvPr id="9" name="Text 7"/>
          <p:cNvSpPr/>
          <p:nvPr/>
        </p:nvSpPr>
        <p:spPr>
          <a:xfrm>
            <a:off x="5779008" y="1691640"/>
            <a:ext cx="2651760" cy="150876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DCE7EE"/>
                </a:solidFill>
                <a:latin typeface="Calibri" pitchFamily="34" charset="0"/>
                <a:ea typeface="Calibri" pitchFamily="34" charset="-122"/>
                <a:cs typeface="Calibri" pitchFamily="34" charset="-120"/>
              </a:rPr>
              <a:t>Arrays and a heap, with bounds checks the verifier can prove away</a:t>
            </a:r>
            <a:endParaRPr lang="en-US" sz="1000" dirty="0"/>
          </a:p>
          <a:p>
            <a:pPr marL="342900" indent="-342900">
              <a:spcAft>
                <a:spcPts val="800"/>
              </a:spcAft>
              <a:buSzPct val="100000"/>
              <a:buChar char="•"/>
            </a:pPr>
            <a:r>
              <a:rPr lang="en-US" sz="1000" dirty="0">
                <a:solidFill>
                  <a:srgbClr val="DCE7EE"/>
                </a:solidFill>
                <a:latin typeface="Calibri" pitchFamily="34" charset="0"/>
                <a:ea typeface="Calibri" pitchFamily="34" charset="-122"/>
                <a:cs typeface="Calibri" pitchFamily="34" charset="-120"/>
              </a:rPr>
              <a:t>Register allocation by graph colouring, to compare against ours</a:t>
            </a:r>
            <a:endParaRPr lang="en-US" sz="1000" dirty="0"/>
          </a:p>
          <a:p>
            <a:pPr marL="342900" indent="-342900">
              <a:spcAft>
                <a:spcPts val="800"/>
              </a:spcAft>
              <a:buSzPct val="100000"/>
              <a:buChar char="•"/>
            </a:pPr>
            <a:r>
              <a:rPr lang="en-US" sz="1000" dirty="0">
                <a:solidFill>
                  <a:srgbClr val="DCE7EE"/>
                </a:solidFill>
                <a:latin typeface="Calibri" pitchFamily="34" charset="0"/>
                <a:ea typeface="Calibri" pitchFamily="34" charset="-122"/>
                <a:cs typeface="Calibri" pitchFamily="34" charset="-120"/>
              </a:rPr>
              <a:t>A real x86-64 or WASM back-end</a:t>
            </a:r>
            <a:endParaRPr lang="en-US" sz="1000" dirty="0"/>
          </a:p>
        </p:txBody>
      </p:sp>
      <p:sp>
        <p:nvSpPr>
          <p:cNvPr id="10" name="Text 8"/>
          <p:cNvSpPr/>
          <p:nvPr/>
        </p:nvSpPr>
        <p:spPr>
          <a:xfrm>
            <a:off x="548640" y="3520440"/>
            <a:ext cx="19202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7,600</a:t>
            </a:r>
            <a:endParaRPr lang="en-US" sz="2600" dirty="0"/>
          </a:p>
        </p:txBody>
      </p:sp>
      <p:sp>
        <p:nvSpPr>
          <p:cNvPr id="11" name="Text 9"/>
          <p:cNvSpPr/>
          <p:nvPr/>
        </p:nvSpPr>
        <p:spPr>
          <a:xfrm>
            <a:off x="548640" y="4023360"/>
            <a:ext cx="1920240" cy="274320"/>
          </a:xfrm>
          <a:prstGeom prst="rect">
            <a:avLst/>
          </a:prstGeom>
          <a:noFill/>
          <a:ln/>
        </p:spPr>
        <p:txBody>
          <a:bodyPr wrap="square" lIns="0" tIns="0" rIns="0" bIns="0" rtlCol="0" anchor="ctr"/>
          <a:lstStyle/>
          <a:p>
            <a:pPr indent="0" marL="0">
              <a:buNone/>
            </a:pPr>
            <a:r>
              <a:rPr lang="en-US" sz="1050" dirty="0">
                <a:solidFill>
                  <a:srgbClr val="8CA7B8"/>
                </a:solidFill>
                <a:latin typeface="Calibri" pitchFamily="34" charset="0"/>
                <a:ea typeface="Calibri" pitchFamily="34" charset="-122"/>
                <a:cs typeface="Calibri" pitchFamily="34" charset="-120"/>
              </a:rPr>
              <a:t>lines of Python</a:t>
            </a:r>
            <a:endParaRPr lang="en-US" sz="1050" dirty="0"/>
          </a:p>
        </p:txBody>
      </p:sp>
      <p:sp>
        <p:nvSpPr>
          <p:cNvPr id="12" name="Text 10"/>
          <p:cNvSpPr/>
          <p:nvPr/>
        </p:nvSpPr>
        <p:spPr>
          <a:xfrm>
            <a:off x="2596896" y="3520440"/>
            <a:ext cx="19202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13" name="Text 11"/>
          <p:cNvSpPr/>
          <p:nvPr/>
        </p:nvSpPr>
        <p:spPr>
          <a:xfrm>
            <a:off x="2596896" y="4023360"/>
            <a:ext cx="1920240" cy="274320"/>
          </a:xfrm>
          <a:prstGeom prst="rect">
            <a:avLst/>
          </a:prstGeom>
          <a:noFill/>
          <a:ln/>
        </p:spPr>
        <p:txBody>
          <a:bodyPr wrap="square" lIns="0" tIns="0" rIns="0" bIns="0" rtlCol="0" anchor="ctr"/>
          <a:lstStyle/>
          <a:p>
            <a:pPr indent="0" marL="0">
              <a:buNone/>
            </a:pPr>
            <a:r>
              <a:rPr lang="en-US" sz="1050" dirty="0">
                <a:solidFill>
                  <a:srgbClr val="8CA7B8"/>
                </a:solidFill>
                <a:latin typeface="Calibri" pitchFamily="34" charset="0"/>
                <a:ea typeface="Calibri" pitchFamily="34" charset="-122"/>
                <a:cs typeface="Calibri" pitchFamily="34" charset="-120"/>
              </a:rPr>
              <a:t>dependencies</a:t>
            </a:r>
            <a:endParaRPr lang="en-US" sz="1050" dirty="0"/>
          </a:p>
        </p:txBody>
      </p:sp>
      <p:sp>
        <p:nvSpPr>
          <p:cNvPr id="14" name="Text 12"/>
          <p:cNvSpPr/>
          <p:nvPr/>
        </p:nvSpPr>
        <p:spPr>
          <a:xfrm>
            <a:off x="4645152" y="3520440"/>
            <a:ext cx="1920240" cy="502920"/>
          </a:xfrm>
          <a:prstGeom prst="rect">
            <a:avLst/>
          </a:prstGeom>
          <a:noFill/>
          <a:ln/>
        </p:spPr>
        <p:txBody>
          <a:bodyPr wrap="square" lIns="0" tIns="0" rIns="0" bIns="0" rtlCol="0" anchor="ctr"/>
          <a:lstStyle/>
          <a:p>
            <a:pPr indent="0" marL="0">
              <a:buNone/>
            </a:pPr>
            <a:r>
              <a:rPr lang="en-US" sz="2600" b="1" dirty="0">
                <a:solidFill>
                  <a:srgbClr val="5FCBAC"/>
                </a:solidFill>
                <a:latin typeface="Cambria" pitchFamily="34" charset="0"/>
                <a:ea typeface="Cambria" pitchFamily="34" charset="-122"/>
                <a:cs typeface="Cambria" pitchFamily="34" charset="-120"/>
              </a:rPr>
              <a:t>8 / 8</a:t>
            </a:r>
            <a:endParaRPr lang="en-US" sz="2600" dirty="0"/>
          </a:p>
        </p:txBody>
      </p:sp>
      <p:sp>
        <p:nvSpPr>
          <p:cNvPr id="15" name="Text 13"/>
          <p:cNvSpPr/>
          <p:nvPr/>
        </p:nvSpPr>
        <p:spPr>
          <a:xfrm>
            <a:off x="4645152" y="4023360"/>
            <a:ext cx="1920240" cy="274320"/>
          </a:xfrm>
          <a:prstGeom prst="rect">
            <a:avLst/>
          </a:prstGeom>
          <a:noFill/>
          <a:ln/>
        </p:spPr>
        <p:txBody>
          <a:bodyPr wrap="square" lIns="0" tIns="0" rIns="0" bIns="0" rtlCol="0" anchor="ctr"/>
          <a:lstStyle/>
          <a:p>
            <a:pPr indent="0" marL="0">
              <a:buNone/>
            </a:pPr>
            <a:r>
              <a:rPr lang="en-US" sz="1050" dirty="0">
                <a:solidFill>
                  <a:srgbClr val="8CA7B8"/>
                </a:solidFill>
                <a:latin typeface="Calibri" pitchFamily="34" charset="0"/>
                <a:ea typeface="Calibri" pitchFamily="34" charset="-122"/>
                <a:cs typeface="Calibri" pitchFamily="34" charset="-120"/>
              </a:rPr>
              <a:t>attacks blocked</a:t>
            </a:r>
            <a:endParaRPr lang="en-US" sz="1050" dirty="0"/>
          </a:p>
        </p:txBody>
      </p:sp>
      <p:sp>
        <p:nvSpPr>
          <p:cNvPr id="16" name="Text 14"/>
          <p:cNvSpPr/>
          <p:nvPr/>
        </p:nvSpPr>
        <p:spPr>
          <a:xfrm>
            <a:off x="6693408" y="3520440"/>
            <a:ext cx="1920240" cy="502920"/>
          </a:xfrm>
          <a:prstGeom prst="rect">
            <a:avLst/>
          </a:prstGeom>
          <a:noFill/>
          <a:ln/>
        </p:spPr>
        <p:txBody>
          <a:bodyPr wrap="square" lIns="0" tIns="0" rIns="0" bIns="0" rtlCol="0" anchor="ctr"/>
          <a:lstStyle/>
          <a:p>
            <a:pPr indent="0" marL="0">
              <a:buNone/>
            </a:pPr>
            <a:r>
              <a:rPr lang="en-US" sz="2600" b="1" dirty="0">
                <a:solidFill>
                  <a:srgbClr val="5FCBAC"/>
                </a:solidFill>
                <a:latin typeface="Cambria" pitchFamily="34" charset="0"/>
                <a:ea typeface="Cambria" pitchFamily="34" charset="-122"/>
                <a:cs typeface="Cambria" pitchFamily="34" charset="-120"/>
              </a:rPr>
              <a:t>26 / 26</a:t>
            </a:r>
            <a:endParaRPr lang="en-US" sz="2600" dirty="0"/>
          </a:p>
        </p:txBody>
      </p:sp>
      <p:sp>
        <p:nvSpPr>
          <p:cNvPr id="17" name="Text 15"/>
          <p:cNvSpPr/>
          <p:nvPr/>
        </p:nvSpPr>
        <p:spPr>
          <a:xfrm>
            <a:off x="6693408" y="4023360"/>
            <a:ext cx="1920240" cy="274320"/>
          </a:xfrm>
          <a:prstGeom prst="rect">
            <a:avLst/>
          </a:prstGeom>
          <a:noFill/>
          <a:ln/>
        </p:spPr>
        <p:txBody>
          <a:bodyPr wrap="square" lIns="0" tIns="0" rIns="0" bIns="0" rtlCol="0" anchor="ctr"/>
          <a:lstStyle/>
          <a:p>
            <a:pPr indent="0" marL="0">
              <a:buNone/>
            </a:pPr>
            <a:r>
              <a:rPr lang="en-US" sz="1050" dirty="0">
                <a:solidFill>
                  <a:srgbClr val="8CA7B8"/>
                </a:solidFill>
                <a:latin typeface="Calibri" pitchFamily="34" charset="0"/>
                <a:ea typeface="Calibri" pitchFamily="34" charset="-122"/>
                <a:cs typeface="Calibri" pitchFamily="34" charset="-120"/>
              </a:rPr>
              <a:t>tests passing</a:t>
            </a:r>
            <a:endParaRPr lang="en-US" sz="1050" dirty="0"/>
          </a:p>
        </p:txBody>
      </p:sp>
      <p:sp>
        <p:nvSpPr>
          <p:cNvPr id="18" name="Text 16"/>
          <p:cNvSpPr/>
          <p:nvPr/>
        </p:nvSpPr>
        <p:spPr>
          <a:xfrm>
            <a:off x="548640" y="4434840"/>
            <a:ext cx="8046720" cy="365760"/>
          </a:xfrm>
          <a:prstGeom prst="rect">
            <a:avLst/>
          </a:prstGeom>
          <a:noFill/>
          <a:ln/>
        </p:spPr>
        <p:txBody>
          <a:bodyPr wrap="square" lIns="0" tIns="0" rIns="0" bIns="0" rtlCol="0" anchor="ctr"/>
          <a:lstStyle/>
          <a:p>
            <a:pPr indent="0" marL="0">
              <a:buNone/>
            </a:pPr>
            <a:r>
              <a:rPr lang="en-US" sz="1250" i="1" dirty="0">
                <a:solidFill>
                  <a:srgbClr val="9FBACB"/>
                </a:solidFill>
                <a:latin typeface="Calibri" pitchFamily="34" charset="0"/>
                <a:ea typeface="Calibri" pitchFamily="34" charset="-122"/>
                <a:cs typeface="Calibri" pitchFamily="34" charset="-120"/>
              </a:rPr>
              <a:t>A compiler you can see through - because the only way to be sure it does what the textbook says is to watch it do it.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 a glass-box compiler</dc:title>
  <dc:subject>PptxGenJS Presentation</dc:subject>
  <dc:creator>Nova compiler project</dc:creator>
  <cp:lastModifiedBy>Nova compiler project</cp:lastModifiedBy>
  <cp:revision>1</cp:revision>
  <dcterms:created xsi:type="dcterms:W3CDTF">2026-07-29T18:18:53Z</dcterms:created>
  <dcterms:modified xsi:type="dcterms:W3CDTF">2026-07-29T18:18:53Z</dcterms:modified>
</cp:coreProperties>
</file>